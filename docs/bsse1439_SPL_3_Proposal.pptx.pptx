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rebuchet MS Bold" charset="1" panose="020B0703020202020204"/>
      <p:regular r:id="rId19"/>
    </p:embeddedFont>
    <p:embeddedFont>
      <p:font typeface="Calibri (MS)" charset="1" panose="020F0502020204030204"/>
      <p:regular r:id="rId20"/>
    </p:embeddedFont>
    <p:embeddedFont>
      <p:font typeface="Calibri (MS) Bold" charset="1" panose="020F0702030404030204"/>
      <p:regular r:id="rId21"/>
    </p:embeddedFont>
    <p:embeddedFont>
      <p:font typeface="Calibri (MS) Italics" charset="1" panose="020F05020202040A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65943" y="-12697"/>
            <a:ext cx="6334763" cy="10312403"/>
            <a:chOff x="0" y="0"/>
            <a:chExt cx="844635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8412481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8412481">
                  <a:moveTo>
                    <a:pt x="0" y="0"/>
                  </a:moveTo>
                  <a:lnTo>
                    <a:pt x="8412481" y="0"/>
                  </a:lnTo>
                  <a:lnTo>
                    <a:pt x="8412481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D1E3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4626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8446262">
                  <a:moveTo>
                    <a:pt x="16891" y="0"/>
                  </a:moveTo>
                  <a:lnTo>
                    <a:pt x="8429372" y="0"/>
                  </a:lnTo>
                  <a:cubicBezTo>
                    <a:pt x="8438769" y="0"/>
                    <a:pt x="8446262" y="7620"/>
                    <a:pt x="8446262" y="16891"/>
                  </a:cubicBezTo>
                  <a:lnTo>
                    <a:pt x="8446262" y="13732890"/>
                  </a:lnTo>
                  <a:cubicBezTo>
                    <a:pt x="8446262" y="13742290"/>
                    <a:pt x="8438642" y="13749782"/>
                    <a:pt x="8429372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8429372" y="13716000"/>
                  </a:lnTo>
                  <a:lnTo>
                    <a:pt x="8429372" y="13732890"/>
                  </a:lnTo>
                  <a:lnTo>
                    <a:pt x="8412480" y="13732890"/>
                  </a:lnTo>
                  <a:lnTo>
                    <a:pt x="8412480" y="16891"/>
                  </a:lnTo>
                  <a:lnTo>
                    <a:pt x="8429372" y="16891"/>
                  </a:lnTo>
                  <a:lnTo>
                    <a:pt x="8429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E3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965943" y="-12697"/>
            <a:ext cx="98555" cy="10312403"/>
            <a:chOff x="0" y="0"/>
            <a:chExt cx="131407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7536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97536">
                  <a:moveTo>
                    <a:pt x="0" y="0"/>
                  </a:moveTo>
                  <a:lnTo>
                    <a:pt x="97536" y="0"/>
                  </a:lnTo>
                  <a:lnTo>
                    <a:pt x="97536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318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3732890"/>
                  </a:lnTo>
                  <a:cubicBezTo>
                    <a:pt x="131318" y="13742290"/>
                    <a:pt x="123698" y="13749782"/>
                    <a:pt x="114427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14427" y="13716000"/>
                  </a:lnTo>
                  <a:lnTo>
                    <a:pt x="114427" y="13732890"/>
                  </a:lnTo>
                  <a:lnTo>
                    <a:pt x="97536" y="13732890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914633" y="810266"/>
            <a:ext cx="153419" cy="153419"/>
            <a:chOff x="0" y="0"/>
            <a:chExt cx="204559" cy="2045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048489" y="810266"/>
            <a:ext cx="153419" cy="153419"/>
            <a:chOff x="0" y="0"/>
            <a:chExt cx="204559" cy="2045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182345" y="810266"/>
            <a:ext cx="153419" cy="153419"/>
            <a:chOff x="0" y="0"/>
            <a:chExt cx="204559" cy="204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316201" y="810266"/>
            <a:ext cx="153419" cy="153419"/>
            <a:chOff x="0" y="0"/>
            <a:chExt cx="204559" cy="2045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914633" y="2547626"/>
            <a:ext cx="153419" cy="153419"/>
            <a:chOff x="0" y="0"/>
            <a:chExt cx="204559" cy="2045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048489" y="2547626"/>
            <a:ext cx="153419" cy="153419"/>
            <a:chOff x="0" y="0"/>
            <a:chExt cx="204559" cy="2045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182345" y="2547626"/>
            <a:ext cx="153419" cy="153419"/>
            <a:chOff x="0" y="0"/>
            <a:chExt cx="204559" cy="2045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6316201" y="2547626"/>
            <a:ext cx="153419" cy="153419"/>
            <a:chOff x="0" y="0"/>
            <a:chExt cx="204559" cy="2045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914633" y="4284986"/>
            <a:ext cx="153419" cy="153419"/>
            <a:chOff x="0" y="0"/>
            <a:chExt cx="204559" cy="2045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4048489" y="4284986"/>
            <a:ext cx="153419" cy="153419"/>
            <a:chOff x="0" y="0"/>
            <a:chExt cx="204559" cy="2045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182345" y="4284986"/>
            <a:ext cx="153419" cy="153419"/>
            <a:chOff x="0" y="0"/>
            <a:chExt cx="204559" cy="2045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316201" y="4284986"/>
            <a:ext cx="153419" cy="153419"/>
            <a:chOff x="0" y="0"/>
            <a:chExt cx="204559" cy="20455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914633" y="6022346"/>
            <a:ext cx="153419" cy="153419"/>
            <a:chOff x="0" y="0"/>
            <a:chExt cx="204559" cy="20455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048489" y="6022346"/>
            <a:ext cx="153419" cy="153419"/>
            <a:chOff x="0" y="0"/>
            <a:chExt cx="204559" cy="20455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182345" y="6022346"/>
            <a:ext cx="153419" cy="153419"/>
            <a:chOff x="0" y="0"/>
            <a:chExt cx="204559" cy="20455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6316201" y="6022346"/>
            <a:ext cx="153419" cy="153419"/>
            <a:chOff x="0" y="0"/>
            <a:chExt cx="204559" cy="20455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914633" y="7759706"/>
            <a:ext cx="153419" cy="153419"/>
            <a:chOff x="0" y="0"/>
            <a:chExt cx="204559" cy="20455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048489" y="7759706"/>
            <a:ext cx="153419" cy="153419"/>
            <a:chOff x="0" y="0"/>
            <a:chExt cx="204559" cy="20455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5182345" y="7759706"/>
            <a:ext cx="153419" cy="153419"/>
            <a:chOff x="0" y="0"/>
            <a:chExt cx="204559" cy="20455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6316201" y="7759706"/>
            <a:ext cx="153419" cy="153419"/>
            <a:chOff x="0" y="0"/>
            <a:chExt cx="204559" cy="20455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477627" y="3341122"/>
            <a:ext cx="3474720" cy="2377440"/>
            <a:chOff x="0" y="0"/>
            <a:chExt cx="4632960" cy="3169920"/>
          </a:xfrm>
        </p:grpSpPr>
        <p:sp>
          <p:nvSpPr>
            <p:cNvPr name="Freeform 69" id="69" descr="preencoded.png"/>
            <p:cNvSpPr/>
            <p:nvPr/>
          </p:nvSpPr>
          <p:spPr>
            <a:xfrm flipH="false" flipV="false" rot="0">
              <a:off x="0" y="0"/>
              <a:ext cx="4632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0"/>
                  </a:lnTo>
                  <a:lnTo>
                    <a:pt x="0" y="3169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78000"/>
              </a:blip>
              <a:stretch>
                <a:fillRect l="0" t="-23076" r="0" b="-23076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50976" y="1554480"/>
            <a:ext cx="10607040" cy="2103120"/>
            <a:chOff x="0" y="0"/>
            <a:chExt cx="14142720" cy="28041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142720" cy="2804160"/>
            </a:xfrm>
            <a:custGeom>
              <a:avLst/>
              <a:gdLst/>
              <a:ahLst/>
              <a:cxnLst/>
              <a:rect r="r" b="b" t="t" l="l"/>
              <a:pathLst>
                <a:path h="280416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272" r="0" b="-4827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14142720" cy="2823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19"/>
                </a:lnSpc>
              </a:pPr>
              <a:r>
                <a:rPr lang="en-US" sz="11600" b="true">
                  <a:solidFill>
                    <a:srgbClr val="00C8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WalkSafe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042416" y="3545205"/>
            <a:ext cx="1042416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7A8FA6"/>
                </a:solidFill>
                <a:latin typeface="Calibri (MS)"/>
                <a:ea typeface="Calibri (MS)"/>
                <a:cs typeface="Calibri (MS)"/>
                <a:sym typeface="Calibri (MS)"/>
              </a:rPr>
              <a:t>Navigation Assistant for Visually Impaired Persons in </a:t>
            </a:r>
          </a:p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7A8FA6"/>
                </a:solidFill>
                <a:latin typeface="Calibri (MS)"/>
                <a:ea typeface="Calibri (MS)"/>
                <a:cs typeface="Calibri (MS)"/>
                <a:sym typeface="Calibri (MS)"/>
              </a:rPr>
              <a:t>Dense Urban Environments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938279" y="5892934"/>
            <a:ext cx="4048763" cy="98555"/>
            <a:chOff x="0" y="0"/>
            <a:chExt cx="5398351" cy="13140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5364480" cy="97536"/>
            </a:xfrm>
            <a:custGeom>
              <a:avLst/>
              <a:gdLst/>
              <a:ahLst/>
              <a:cxnLst/>
              <a:rect r="r" b="b" t="t" l="l"/>
              <a:pathLst>
                <a:path h="9753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98262" cy="131320"/>
            </a:xfrm>
            <a:custGeom>
              <a:avLst/>
              <a:gdLst/>
              <a:ahLst/>
              <a:cxnLst/>
              <a:rect r="r" b="b" t="t" l="l"/>
              <a:pathLst>
                <a:path h="131320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14427"/>
                  </a:lnTo>
                  <a:cubicBezTo>
                    <a:pt x="5398262" y="123825"/>
                    <a:pt x="5390642" y="131318"/>
                    <a:pt x="538137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5381371" y="97536"/>
                  </a:lnTo>
                  <a:lnTo>
                    <a:pt x="5381371" y="114427"/>
                  </a:lnTo>
                  <a:lnTo>
                    <a:pt x="5364480" y="114427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38279" y="6258694"/>
            <a:ext cx="4999739" cy="3272533"/>
            <a:chOff x="0" y="0"/>
            <a:chExt cx="6666319" cy="43633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4299"/>
              <a:ext cx="6632448" cy="4334705"/>
            </a:xfrm>
            <a:custGeom>
              <a:avLst/>
              <a:gdLst/>
              <a:ahLst/>
              <a:cxnLst/>
              <a:rect r="r" b="b" t="t" l="l"/>
              <a:pathLst>
                <a:path h="4334705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4334704"/>
                  </a:lnTo>
                  <a:lnTo>
                    <a:pt x="0" y="4334704"/>
                  </a:lnTo>
                  <a:close/>
                </a:path>
              </a:pathLst>
            </a:custGeom>
            <a:solidFill>
              <a:srgbClr val="132039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666230" cy="4363302"/>
            </a:xfrm>
            <a:custGeom>
              <a:avLst/>
              <a:gdLst/>
              <a:ahLst/>
              <a:cxnLst/>
              <a:rect r="r" b="b" t="t" l="l"/>
              <a:pathLst>
                <a:path h="4363302" w="6666230">
                  <a:moveTo>
                    <a:pt x="16891" y="0"/>
                  </a:moveTo>
                  <a:lnTo>
                    <a:pt x="6649339" y="0"/>
                  </a:lnTo>
                  <a:cubicBezTo>
                    <a:pt x="6658737" y="0"/>
                    <a:pt x="6666230" y="6450"/>
                    <a:pt x="6666230" y="14299"/>
                  </a:cubicBezTo>
                  <a:lnTo>
                    <a:pt x="6666230" y="4349003"/>
                  </a:lnTo>
                  <a:cubicBezTo>
                    <a:pt x="6666230" y="4356959"/>
                    <a:pt x="6658610" y="4363302"/>
                    <a:pt x="6649339" y="4363302"/>
                  </a:cubicBezTo>
                  <a:lnTo>
                    <a:pt x="16891" y="4363302"/>
                  </a:lnTo>
                  <a:cubicBezTo>
                    <a:pt x="7493" y="4363302"/>
                    <a:pt x="0" y="4356852"/>
                    <a:pt x="0" y="4349003"/>
                  </a:cubicBezTo>
                  <a:lnTo>
                    <a:pt x="0" y="14299"/>
                  </a:lnTo>
                  <a:cubicBezTo>
                    <a:pt x="0" y="6450"/>
                    <a:pt x="7620" y="0"/>
                    <a:pt x="16891" y="0"/>
                  </a:cubicBezTo>
                  <a:moveTo>
                    <a:pt x="16891" y="28705"/>
                  </a:moveTo>
                  <a:lnTo>
                    <a:pt x="16891" y="14299"/>
                  </a:lnTo>
                  <a:lnTo>
                    <a:pt x="33909" y="14299"/>
                  </a:lnTo>
                  <a:lnTo>
                    <a:pt x="33909" y="4349003"/>
                  </a:lnTo>
                  <a:lnTo>
                    <a:pt x="16891" y="4349003"/>
                  </a:lnTo>
                  <a:lnTo>
                    <a:pt x="16891" y="4334705"/>
                  </a:lnTo>
                  <a:lnTo>
                    <a:pt x="6649339" y="4334705"/>
                  </a:lnTo>
                  <a:lnTo>
                    <a:pt x="6649339" y="4349003"/>
                  </a:lnTo>
                  <a:lnTo>
                    <a:pt x="6632448" y="4349003"/>
                  </a:lnTo>
                  <a:lnTo>
                    <a:pt x="6632448" y="14299"/>
                  </a:lnTo>
                  <a:lnTo>
                    <a:pt x="6649339" y="14299"/>
                  </a:lnTo>
                  <a:lnTo>
                    <a:pt x="6649339" y="28705"/>
                  </a:lnTo>
                  <a:lnTo>
                    <a:pt x="16891" y="28705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43584" y="6454271"/>
            <a:ext cx="4389120" cy="438912"/>
            <a:chOff x="0" y="0"/>
            <a:chExt cx="5852160" cy="58521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852160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58521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400">
                  <a:solidFill>
                    <a:srgbClr val="00C8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PRESENTED BY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43584" y="6948047"/>
            <a:ext cx="4389120" cy="557138"/>
            <a:chOff x="0" y="0"/>
            <a:chExt cx="5852160" cy="74285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852160" cy="742851"/>
            </a:xfrm>
            <a:custGeom>
              <a:avLst/>
              <a:gdLst/>
              <a:ahLst/>
              <a:cxnLst/>
              <a:rect r="r" b="b" t="t" l="l"/>
              <a:pathLst>
                <a:path h="742851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265" r="0" b="-102739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5852160" cy="790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Shah Alam Abir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43584" y="7533263"/>
            <a:ext cx="4389120" cy="1005840"/>
            <a:chOff x="0" y="0"/>
            <a:chExt cx="5852160" cy="13411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8521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585216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BSSE — 1439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IIT, University of Dhaka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43584" y="8920103"/>
            <a:ext cx="4389120" cy="438912"/>
            <a:chOff x="0" y="0"/>
            <a:chExt cx="5852160" cy="58521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852160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58521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 August</a:t>
              </a:r>
              <a:r>
                <a:rPr lang="en-US" sz="2000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2026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241799" y="6258694"/>
            <a:ext cx="5328923" cy="3272533"/>
            <a:chOff x="0" y="0"/>
            <a:chExt cx="7105231" cy="436337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4299"/>
              <a:ext cx="7071360" cy="4334705"/>
            </a:xfrm>
            <a:custGeom>
              <a:avLst/>
              <a:gdLst/>
              <a:ahLst/>
              <a:cxnLst/>
              <a:rect r="r" b="b" t="t" l="l"/>
              <a:pathLst>
                <a:path h="4334705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334704"/>
                  </a:lnTo>
                  <a:lnTo>
                    <a:pt x="0" y="4334704"/>
                  </a:lnTo>
                  <a:close/>
                </a:path>
              </a:pathLst>
            </a:custGeom>
            <a:solidFill>
              <a:srgbClr val="132039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105142" cy="4363302"/>
            </a:xfrm>
            <a:custGeom>
              <a:avLst/>
              <a:gdLst/>
              <a:ahLst/>
              <a:cxnLst/>
              <a:rect r="r" b="b" t="t" l="l"/>
              <a:pathLst>
                <a:path h="436330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6450"/>
                    <a:pt x="7105142" y="14299"/>
                  </a:cubicBezTo>
                  <a:lnTo>
                    <a:pt x="7105142" y="4349003"/>
                  </a:lnTo>
                  <a:cubicBezTo>
                    <a:pt x="7105142" y="4356959"/>
                    <a:pt x="7097522" y="4363302"/>
                    <a:pt x="7088251" y="4363302"/>
                  </a:cubicBezTo>
                  <a:lnTo>
                    <a:pt x="16891" y="4363302"/>
                  </a:lnTo>
                  <a:cubicBezTo>
                    <a:pt x="7493" y="4363302"/>
                    <a:pt x="0" y="4356852"/>
                    <a:pt x="0" y="4349003"/>
                  </a:cubicBezTo>
                  <a:lnTo>
                    <a:pt x="0" y="14299"/>
                  </a:lnTo>
                  <a:cubicBezTo>
                    <a:pt x="0" y="6450"/>
                    <a:pt x="7620" y="0"/>
                    <a:pt x="16891" y="0"/>
                  </a:cubicBezTo>
                  <a:moveTo>
                    <a:pt x="16891" y="28705"/>
                  </a:moveTo>
                  <a:lnTo>
                    <a:pt x="16891" y="14299"/>
                  </a:lnTo>
                  <a:lnTo>
                    <a:pt x="33909" y="14299"/>
                  </a:lnTo>
                  <a:lnTo>
                    <a:pt x="33909" y="4349003"/>
                  </a:lnTo>
                  <a:lnTo>
                    <a:pt x="16891" y="4349003"/>
                  </a:lnTo>
                  <a:lnTo>
                    <a:pt x="16891" y="4334705"/>
                  </a:lnTo>
                  <a:lnTo>
                    <a:pt x="7088251" y="4334705"/>
                  </a:lnTo>
                  <a:lnTo>
                    <a:pt x="7088251" y="4349003"/>
                  </a:lnTo>
                  <a:lnTo>
                    <a:pt x="7071360" y="4349003"/>
                  </a:lnTo>
                  <a:lnTo>
                    <a:pt x="7071360" y="14299"/>
                  </a:lnTo>
                  <a:lnTo>
                    <a:pt x="7088251" y="14299"/>
                  </a:lnTo>
                  <a:lnTo>
                    <a:pt x="7088251" y="28705"/>
                  </a:lnTo>
                  <a:lnTo>
                    <a:pt x="16891" y="28705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6547104" y="6454271"/>
            <a:ext cx="4754880" cy="438912"/>
            <a:chOff x="0" y="0"/>
            <a:chExt cx="6339840" cy="58521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339840" cy="585216"/>
            </a:xfrm>
            <a:custGeom>
              <a:avLst/>
              <a:gdLst/>
              <a:ahLst/>
              <a:cxnLst/>
              <a:rect r="r" b="b" t="t" l="l"/>
              <a:pathLst>
                <a:path h="585216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633984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400">
                  <a:solidFill>
                    <a:srgbClr val="00C8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SUPERVISED BY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6547104" y="6948047"/>
            <a:ext cx="4754880" cy="548640"/>
            <a:chOff x="0" y="0"/>
            <a:chExt cx="6339840" cy="7315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339840" cy="731520"/>
            </a:xfrm>
            <a:custGeom>
              <a:avLst/>
              <a:gdLst/>
              <a:ahLst/>
              <a:cxnLst/>
              <a:rect r="r" b="b" t="t" l="l"/>
              <a:pathLst>
                <a:path h="7315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57150"/>
              <a:ext cx="63398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Dr. Md. Nurul Ahad Tawhid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6547104" y="7533263"/>
            <a:ext cx="4754880" cy="1316736"/>
            <a:chOff x="0" y="0"/>
            <a:chExt cx="6339840" cy="175564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3398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362" r="0" b="-20362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6339840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Asso</a:t>
              </a:r>
              <a:r>
                <a:rPr lang="en-US" sz="2200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ciate Professor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Institute of Information Technology,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University of Dhaka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7354550" y="810266"/>
            <a:ext cx="153419" cy="153419"/>
            <a:chOff x="0" y="0"/>
            <a:chExt cx="204559" cy="20455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7354550" y="2547626"/>
            <a:ext cx="153419" cy="153419"/>
            <a:chOff x="0" y="0"/>
            <a:chExt cx="204559" cy="20455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7354550" y="4284986"/>
            <a:ext cx="153419" cy="153419"/>
            <a:chOff x="0" y="0"/>
            <a:chExt cx="204559" cy="20455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7354550" y="6022346"/>
            <a:ext cx="153419" cy="153419"/>
            <a:chOff x="0" y="0"/>
            <a:chExt cx="204559" cy="20455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7354550" y="7759706"/>
            <a:ext cx="153419" cy="153419"/>
            <a:chOff x="0" y="0"/>
            <a:chExt cx="204559" cy="204559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2933812" y="9323325"/>
            <a:ext cx="153419" cy="153419"/>
            <a:chOff x="0" y="0"/>
            <a:chExt cx="204559" cy="204559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4067668" y="9323325"/>
            <a:ext cx="153419" cy="153419"/>
            <a:chOff x="0" y="0"/>
            <a:chExt cx="204559" cy="20455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5201524" y="9323325"/>
            <a:ext cx="153419" cy="153419"/>
            <a:chOff x="0" y="0"/>
            <a:chExt cx="204559" cy="204559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6335380" y="9323325"/>
            <a:ext cx="153419" cy="153419"/>
            <a:chOff x="0" y="0"/>
            <a:chExt cx="204559" cy="204559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7373729" y="9323325"/>
            <a:ext cx="153419" cy="153419"/>
            <a:chOff x="0" y="0"/>
            <a:chExt cx="204559" cy="204559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Overview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5350" y="2551745"/>
            <a:ext cx="7919466" cy="733044"/>
            <a:chOff x="0" y="0"/>
            <a:chExt cx="10559288" cy="97739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01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Motivation</a:t>
                </a: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890530" y="4193098"/>
            <a:ext cx="7919466" cy="733044"/>
            <a:chOff x="0" y="0"/>
            <a:chExt cx="10559288" cy="97739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02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Problem Statement</a:t>
                </a: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895350" y="5831017"/>
            <a:ext cx="7919466" cy="733044"/>
            <a:chOff x="0" y="0"/>
            <a:chExt cx="10559288" cy="977392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03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Existing Solutions &amp; Their Gaps</a:t>
                </a: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895350" y="7507036"/>
            <a:ext cx="7919466" cy="733044"/>
            <a:chOff x="0" y="0"/>
            <a:chExt cx="10559288" cy="977392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04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Our Proposed Idea</a:t>
                </a:r>
              </a:p>
            </p:txBody>
          </p:sp>
        </p:grpSp>
      </p:grpSp>
      <p:grpSp>
        <p:nvGrpSpPr>
          <p:cNvPr name="Group 48" id="48"/>
          <p:cNvGrpSpPr/>
          <p:nvPr/>
        </p:nvGrpSpPr>
        <p:grpSpPr>
          <a:xfrm rot="0">
            <a:off x="10094595" y="3116773"/>
            <a:ext cx="7919466" cy="733044"/>
            <a:chOff x="0" y="0"/>
            <a:chExt cx="10559288" cy="977392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52" id="52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05</a:t>
                </a: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How WalkSafe Works</a:t>
                </a:r>
              </a:p>
            </p:txBody>
          </p:sp>
        </p:grpSp>
      </p:grpSp>
      <p:grpSp>
        <p:nvGrpSpPr>
          <p:cNvPr name="Group 58" id="58"/>
          <p:cNvGrpSpPr/>
          <p:nvPr/>
        </p:nvGrpSpPr>
        <p:grpSpPr>
          <a:xfrm rot="0">
            <a:off x="10094595" y="4935667"/>
            <a:ext cx="7919466" cy="733044"/>
            <a:chOff x="0" y="0"/>
            <a:chExt cx="10559288" cy="977392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62" id="62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06</a:t>
                </a: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Key Technologies</a:t>
                </a:r>
              </a:p>
            </p:txBody>
          </p:sp>
        </p:grpSp>
      </p:grpSp>
      <p:grpSp>
        <p:nvGrpSpPr>
          <p:cNvPr name="Group 68" id="68"/>
          <p:cNvGrpSpPr/>
          <p:nvPr/>
        </p:nvGrpSpPr>
        <p:grpSpPr>
          <a:xfrm rot="0">
            <a:off x="10094595" y="6754561"/>
            <a:ext cx="7919466" cy="733044"/>
            <a:chOff x="0" y="0"/>
            <a:chExt cx="10559288" cy="977392"/>
          </a:xfrm>
        </p:grpSpPr>
        <p:grpSp>
          <p:nvGrpSpPr>
            <p:cNvPr name="Group 69" id="69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72" id="72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07</a:t>
                </a:r>
              </a:p>
            </p:txBody>
          </p:sp>
        </p:grpSp>
        <p:grpSp>
          <p:nvGrpSpPr>
            <p:cNvPr name="Group 75" id="75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77" id="77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References</a:t>
                </a:r>
              </a:p>
            </p:txBody>
          </p:sp>
        </p:grpSp>
      </p:grpSp>
      <p:grpSp>
        <p:nvGrpSpPr>
          <p:cNvPr name="Group 78" id="78"/>
          <p:cNvGrpSpPr/>
          <p:nvPr/>
        </p:nvGrpSpPr>
        <p:grpSpPr>
          <a:xfrm rot="0">
            <a:off x="9222743" y="1816103"/>
            <a:ext cx="61979" cy="7980683"/>
            <a:chOff x="0" y="0"/>
            <a:chExt cx="82639" cy="1064091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48768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48768">
                  <a:moveTo>
                    <a:pt x="0" y="0"/>
                  </a:moveTo>
                  <a:lnTo>
                    <a:pt x="48768" y="0"/>
                  </a:lnTo>
                  <a:lnTo>
                    <a:pt x="48768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2550" cy="10640822"/>
            </a:xfrm>
            <a:custGeom>
              <a:avLst/>
              <a:gdLst/>
              <a:ahLst/>
              <a:cxnLst/>
              <a:rect r="r" b="b" t="t" l="l"/>
              <a:pathLst>
                <a:path h="10640822" w="8255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0623931"/>
                  </a:lnTo>
                  <a:cubicBezTo>
                    <a:pt x="82550" y="10633329"/>
                    <a:pt x="74930" y="10640822"/>
                    <a:pt x="65659" y="10640822"/>
                  </a:cubicBezTo>
                  <a:lnTo>
                    <a:pt x="16891" y="10640822"/>
                  </a:lnTo>
                  <a:cubicBezTo>
                    <a:pt x="7493" y="10640822"/>
                    <a:pt x="0" y="10633202"/>
                    <a:pt x="0" y="10623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623931"/>
                  </a:lnTo>
                  <a:lnTo>
                    <a:pt x="16891" y="10623931"/>
                  </a:lnTo>
                  <a:lnTo>
                    <a:pt x="16891" y="10607040"/>
                  </a:lnTo>
                  <a:lnTo>
                    <a:pt x="65659" y="10607040"/>
                  </a:lnTo>
                  <a:lnTo>
                    <a:pt x="65659" y="10623931"/>
                  </a:lnTo>
                  <a:lnTo>
                    <a:pt x="48768" y="10623931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Motivation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5399" y="1907543"/>
            <a:ext cx="8072123" cy="3536699"/>
            <a:chOff x="0" y="0"/>
            <a:chExt cx="10762831" cy="471559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762831" cy="4715599"/>
              <a:chOff x="0" y="0"/>
              <a:chExt cx="10762831" cy="471559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6891"/>
                <a:ext cx="10728960" cy="4681728"/>
              </a:xfrm>
              <a:custGeom>
                <a:avLst/>
                <a:gdLst/>
                <a:ahLst/>
                <a:cxnLst/>
                <a:rect r="r" b="b" t="t" l="l"/>
                <a:pathLst>
                  <a:path h="4681728" w="10728960">
                    <a:moveTo>
                      <a:pt x="0" y="0"/>
                    </a:moveTo>
                    <a:lnTo>
                      <a:pt x="10728960" y="0"/>
                    </a:lnTo>
                    <a:lnTo>
                      <a:pt x="10728960" y="4681728"/>
                    </a:lnTo>
                    <a:lnTo>
                      <a:pt x="0" y="468172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762742" cy="4715510"/>
              </a:xfrm>
              <a:custGeom>
                <a:avLst/>
                <a:gdLst/>
                <a:ahLst/>
                <a:cxnLst/>
                <a:rect r="r" b="b" t="t" l="l"/>
                <a:pathLst>
                  <a:path h="4715510" w="10762742">
                    <a:moveTo>
                      <a:pt x="16891" y="0"/>
                    </a:moveTo>
                    <a:lnTo>
                      <a:pt x="10745851" y="0"/>
                    </a:lnTo>
                    <a:cubicBezTo>
                      <a:pt x="10755249" y="0"/>
                      <a:pt x="10762742" y="7620"/>
                      <a:pt x="10762742" y="16891"/>
                    </a:cubicBezTo>
                    <a:lnTo>
                      <a:pt x="10762742" y="4698619"/>
                    </a:lnTo>
                    <a:cubicBezTo>
                      <a:pt x="10762742" y="4708017"/>
                      <a:pt x="10755122" y="4715510"/>
                      <a:pt x="10745851" y="4715510"/>
                    </a:cubicBezTo>
                    <a:lnTo>
                      <a:pt x="16891" y="4715510"/>
                    </a:lnTo>
                    <a:cubicBezTo>
                      <a:pt x="7493" y="4715510"/>
                      <a:pt x="0" y="4707890"/>
                      <a:pt x="0" y="469861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4698619"/>
                    </a:lnTo>
                    <a:lnTo>
                      <a:pt x="16891" y="4698619"/>
                    </a:lnTo>
                    <a:lnTo>
                      <a:pt x="16891" y="4681728"/>
                    </a:lnTo>
                    <a:lnTo>
                      <a:pt x="10745851" y="4681728"/>
                    </a:lnTo>
                    <a:lnTo>
                      <a:pt x="10745851" y="4698619"/>
                    </a:lnTo>
                    <a:lnTo>
                      <a:pt x="10728960" y="4698619"/>
                    </a:lnTo>
                    <a:lnTo>
                      <a:pt x="10728960" y="16891"/>
                    </a:lnTo>
                    <a:lnTo>
                      <a:pt x="10745851" y="16891"/>
                    </a:lnTo>
                    <a:lnTo>
                      <a:pt x="1074585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438912" y="536448"/>
              <a:ext cx="1253071" cy="1253071"/>
              <a:chOff x="0" y="0"/>
              <a:chExt cx="1253071" cy="125307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6891" y="16891"/>
                <a:ext cx="12192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1219200">
                    <a:moveTo>
                      <a:pt x="0" y="609600"/>
                    </a:moveTo>
                    <a:cubicBezTo>
                      <a:pt x="0" y="272923"/>
                      <a:pt x="272923" y="0"/>
                      <a:pt x="609600" y="0"/>
                    </a:cubicBezTo>
                    <a:cubicBezTo>
                      <a:pt x="946277" y="0"/>
                      <a:pt x="1219200" y="272923"/>
                      <a:pt x="1219200" y="609600"/>
                    </a:cubicBezTo>
                    <a:cubicBezTo>
                      <a:pt x="1219200" y="946277"/>
                      <a:pt x="946277" y="1219200"/>
                      <a:pt x="609600" y="1219200"/>
                    </a:cubicBezTo>
                    <a:cubicBezTo>
                      <a:pt x="272923" y="1219200"/>
                      <a:pt x="0" y="946277"/>
                      <a:pt x="0" y="609600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3109" cy="1252982"/>
              </a:xfrm>
              <a:custGeom>
                <a:avLst/>
                <a:gdLst/>
                <a:ahLst/>
                <a:cxnLst/>
                <a:rect r="r" b="b" t="t" l="l"/>
                <a:pathLst>
                  <a:path h="1252982" w="1253109">
                    <a:moveTo>
                      <a:pt x="0" y="626491"/>
                    </a:moveTo>
                    <a:cubicBezTo>
                      <a:pt x="0" y="280543"/>
                      <a:pt x="280543" y="0"/>
                      <a:pt x="626491" y="0"/>
                    </a:cubicBezTo>
                    <a:lnTo>
                      <a:pt x="626491" y="16891"/>
                    </a:lnTo>
                    <a:lnTo>
                      <a:pt x="626491" y="0"/>
                    </a:lnTo>
                    <a:cubicBezTo>
                      <a:pt x="972566" y="0"/>
                      <a:pt x="1253109" y="280543"/>
                      <a:pt x="1253109" y="626491"/>
                    </a:cubicBezTo>
                    <a:lnTo>
                      <a:pt x="1236091" y="626491"/>
                    </a:lnTo>
                    <a:lnTo>
                      <a:pt x="1252982" y="626491"/>
                    </a:lnTo>
                    <a:cubicBezTo>
                      <a:pt x="1252982" y="972566"/>
                      <a:pt x="972439" y="1252982"/>
                      <a:pt x="626491" y="1252982"/>
                    </a:cubicBezTo>
                    <a:lnTo>
                      <a:pt x="626491" y="1236091"/>
                    </a:lnTo>
                    <a:lnTo>
                      <a:pt x="626491" y="1252982"/>
                    </a:lnTo>
                    <a:cubicBezTo>
                      <a:pt x="280543" y="1253109"/>
                      <a:pt x="0" y="972566"/>
                      <a:pt x="0" y="626491"/>
                    </a:cubicBezTo>
                    <a:lnTo>
                      <a:pt x="16891" y="626491"/>
                    </a:lnTo>
                    <a:lnTo>
                      <a:pt x="33909" y="626491"/>
                    </a:lnTo>
                    <a:lnTo>
                      <a:pt x="16891" y="626491"/>
                    </a:lnTo>
                    <a:lnTo>
                      <a:pt x="0" y="626491"/>
                    </a:lnTo>
                    <a:moveTo>
                      <a:pt x="33909" y="626491"/>
                    </a:moveTo>
                    <a:cubicBezTo>
                      <a:pt x="33909" y="635889"/>
                      <a:pt x="26289" y="643382"/>
                      <a:pt x="17018" y="643382"/>
                    </a:cubicBezTo>
                    <a:cubicBezTo>
                      <a:pt x="7747" y="643382"/>
                      <a:pt x="0" y="635889"/>
                      <a:pt x="0" y="626491"/>
                    </a:cubicBezTo>
                    <a:cubicBezTo>
                      <a:pt x="0" y="617093"/>
                      <a:pt x="7620" y="609600"/>
                      <a:pt x="16891" y="609600"/>
                    </a:cubicBezTo>
                    <a:cubicBezTo>
                      <a:pt x="26162" y="609600"/>
                      <a:pt x="33782" y="617220"/>
                      <a:pt x="33782" y="626491"/>
                    </a:cubicBezTo>
                    <a:cubicBezTo>
                      <a:pt x="33909" y="953897"/>
                      <a:pt x="299212" y="1219200"/>
                      <a:pt x="626491" y="1219200"/>
                    </a:cubicBezTo>
                    <a:cubicBezTo>
                      <a:pt x="953897" y="1219200"/>
                      <a:pt x="1219200" y="953897"/>
                      <a:pt x="1219200" y="626491"/>
                    </a:cubicBezTo>
                    <a:cubicBezTo>
                      <a:pt x="1219200" y="299212"/>
                      <a:pt x="953897" y="33909"/>
                      <a:pt x="626491" y="33909"/>
                    </a:cubicBezTo>
                    <a:lnTo>
                      <a:pt x="626491" y="16891"/>
                    </a:lnTo>
                    <a:lnTo>
                      <a:pt x="626491" y="33909"/>
                    </a:lnTo>
                    <a:cubicBezTo>
                      <a:pt x="299212" y="33909"/>
                      <a:pt x="33909" y="299212"/>
                      <a:pt x="33909" y="626491"/>
                    </a:cubicBez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577761" y="675297"/>
              <a:ext cx="975360" cy="975360"/>
              <a:chOff x="0" y="0"/>
              <a:chExt cx="975360" cy="975360"/>
            </a:xfrm>
          </p:grpSpPr>
          <p:sp>
            <p:nvSpPr>
              <p:cNvPr name="Freeform 16" id="16" descr="preencoded.png"/>
              <p:cNvSpPr/>
              <p:nvPr/>
            </p:nvSpPr>
            <p:spPr>
              <a:xfrm flipH="false" flipV="false" rot="0">
                <a:off x="0" y="0"/>
                <a:ext cx="97536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975360">
                    <a:moveTo>
                      <a:pt x="0" y="0"/>
                    </a:moveTo>
                    <a:lnTo>
                      <a:pt x="975360" y="0"/>
                    </a:lnTo>
                    <a:lnTo>
                      <a:pt x="975360" y="975360"/>
                    </a:lnTo>
                    <a:lnTo>
                      <a:pt x="0" y="97536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2016417" y="553377"/>
              <a:ext cx="8412480" cy="1097280"/>
              <a:chOff x="0" y="0"/>
              <a:chExt cx="8412480" cy="109728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41248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8412480">
                    <a:moveTo>
                      <a:pt x="0" y="0"/>
                    </a:moveTo>
                    <a:lnTo>
                      <a:pt x="8412480" y="0"/>
                    </a:lnTo>
                    <a:lnTo>
                      <a:pt x="841248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9385" r="0" b="-99385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9525"/>
                <a:ext cx="8412480" cy="11068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43 Million Blind Worldwide</a:t>
                </a: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55841" y="1968792"/>
              <a:ext cx="9753600" cy="2486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WHO 2023: 43M completely blind, 250M+ severely impaired. Over 80% live in low/middle-income countries.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0" y="0"/>
              <a:ext cx="10762831" cy="180175"/>
              <a:chOff x="0" y="0"/>
              <a:chExt cx="10762831" cy="18017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16891" y="16891"/>
                <a:ext cx="10728960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0728960">
                    <a:moveTo>
                      <a:pt x="0" y="0"/>
                    </a:moveTo>
                    <a:lnTo>
                      <a:pt x="10728960" y="0"/>
                    </a:lnTo>
                    <a:lnTo>
                      <a:pt x="10728960" y="146304"/>
                    </a:lnTo>
                    <a:lnTo>
                      <a:pt x="0" y="146304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762742" cy="180088"/>
              </a:xfrm>
              <a:custGeom>
                <a:avLst/>
                <a:gdLst/>
                <a:ahLst/>
                <a:cxnLst/>
                <a:rect r="r" b="b" t="t" l="l"/>
                <a:pathLst>
                  <a:path h="180088" w="10762742">
                    <a:moveTo>
                      <a:pt x="16891" y="0"/>
                    </a:moveTo>
                    <a:lnTo>
                      <a:pt x="10745851" y="0"/>
                    </a:lnTo>
                    <a:cubicBezTo>
                      <a:pt x="10755249" y="0"/>
                      <a:pt x="10762742" y="7620"/>
                      <a:pt x="10762742" y="16891"/>
                    </a:cubicBezTo>
                    <a:lnTo>
                      <a:pt x="10762742" y="163195"/>
                    </a:lnTo>
                    <a:cubicBezTo>
                      <a:pt x="10762742" y="172593"/>
                      <a:pt x="10755122" y="180086"/>
                      <a:pt x="10745851" y="180086"/>
                    </a:cubicBezTo>
                    <a:lnTo>
                      <a:pt x="16891" y="180086"/>
                    </a:lnTo>
                    <a:cubicBezTo>
                      <a:pt x="7620" y="180213"/>
                      <a:pt x="0" y="172593"/>
                      <a:pt x="0" y="16319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63195"/>
                    </a:lnTo>
                    <a:lnTo>
                      <a:pt x="16891" y="163195"/>
                    </a:lnTo>
                    <a:lnTo>
                      <a:pt x="16891" y="146304"/>
                    </a:lnTo>
                    <a:lnTo>
                      <a:pt x="10745851" y="146304"/>
                    </a:lnTo>
                    <a:lnTo>
                      <a:pt x="10745851" y="163195"/>
                    </a:lnTo>
                    <a:lnTo>
                      <a:pt x="10728960" y="163195"/>
                    </a:lnTo>
                    <a:lnTo>
                      <a:pt x="10728960" y="16891"/>
                    </a:lnTo>
                    <a:lnTo>
                      <a:pt x="10745851" y="16891"/>
                    </a:lnTo>
                    <a:lnTo>
                      <a:pt x="1074585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</p:grpSp>
      <p:grpSp>
        <p:nvGrpSpPr>
          <p:cNvPr name="Group 24" id="24"/>
          <p:cNvGrpSpPr/>
          <p:nvPr/>
        </p:nvGrpSpPr>
        <p:grpSpPr>
          <a:xfrm rot="0">
            <a:off x="9454896" y="1907543"/>
            <a:ext cx="8072123" cy="3536699"/>
            <a:chOff x="0" y="0"/>
            <a:chExt cx="10762831" cy="4715599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0762831" cy="4715599"/>
              <a:chOff x="0" y="0"/>
              <a:chExt cx="10762831" cy="471559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16891" y="16891"/>
                <a:ext cx="10728960" cy="4681728"/>
              </a:xfrm>
              <a:custGeom>
                <a:avLst/>
                <a:gdLst/>
                <a:ahLst/>
                <a:cxnLst/>
                <a:rect r="r" b="b" t="t" l="l"/>
                <a:pathLst>
                  <a:path h="4681728" w="10728960">
                    <a:moveTo>
                      <a:pt x="0" y="0"/>
                    </a:moveTo>
                    <a:lnTo>
                      <a:pt x="10728960" y="0"/>
                    </a:lnTo>
                    <a:lnTo>
                      <a:pt x="10728960" y="4681728"/>
                    </a:lnTo>
                    <a:lnTo>
                      <a:pt x="0" y="468172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762742" cy="4715510"/>
              </a:xfrm>
              <a:custGeom>
                <a:avLst/>
                <a:gdLst/>
                <a:ahLst/>
                <a:cxnLst/>
                <a:rect r="r" b="b" t="t" l="l"/>
                <a:pathLst>
                  <a:path h="4715510" w="10762742">
                    <a:moveTo>
                      <a:pt x="16891" y="0"/>
                    </a:moveTo>
                    <a:lnTo>
                      <a:pt x="10745851" y="0"/>
                    </a:lnTo>
                    <a:cubicBezTo>
                      <a:pt x="10755249" y="0"/>
                      <a:pt x="10762742" y="7620"/>
                      <a:pt x="10762742" y="16891"/>
                    </a:cubicBezTo>
                    <a:lnTo>
                      <a:pt x="10762742" y="4698619"/>
                    </a:lnTo>
                    <a:cubicBezTo>
                      <a:pt x="10762742" y="4708017"/>
                      <a:pt x="10755122" y="4715510"/>
                      <a:pt x="10745851" y="4715510"/>
                    </a:cubicBezTo>
                    <a:lnTo>
                      <a:pt x="16891" y="4715510"/>
                    </a:lnTo>
                    <a:cubicBezTo>
                      <a:pt x="7493" y="4715510"/>
                      <a:pt x="0" y="4707890"/>
                      <a:pt x="0" y="469861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4698619"/>
                    </a:lnTo>
                    <a:lnTo>
                      <a:pt x="16891" y="4698619"/>
                    </a:lnTo>
                    <a:lnTo>
                      <a:pt x="16891" y="4681728"/>
                    </a:lnTo>
                    <a:lnTo>
                      <a:pt x="10745851" y="4681728"/>
                    </a:lnTo>
                    <a:lnTo>
                      <a:pt x="10745851" y="4698619"/>
                    </a:lnTo>
                    <a:lnTo>
                      <a:pt x="10728960" y="4698619"/>
                    </a:lnTo>
                    <a:lnTo>
                      <a:pt x="10728960" y="16891"/>
                    </a:lnTo>
                    <a:lnTo>
                      <a:pt x="10745851" y="16891"/>
                    </a:lnTo>
                    <a:lnTo>
                      <a:pt x="1074585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10762831" cy="180175"/>
              <a:chOff x="0" y="0"/>
              <a:chExt cx="10762831" cy="18017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16891" y="16891"/>
                <a:ext cx="10728960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0728960">
                    <a:moveTo>
                      <a:pt x="0" y="0"/>
                    </a:moveTo>
                    <a:lnTo>
                      <a:pt x="10728960" y="0"/>
                    </a:lnTo>
                    <a:lnTo>
                      <a:pt x="10728960" y="146304"/>
                    </a:lnTo>
                    <a:lnTo>
                      <a:pt x="0" y="146304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762742" cy="180088"/>
              </a:xfrm>
              <a:custGeom>
                <a:avLst/>
                <a:gdLst/>
                <a:ahLst/>
                <a:cxnLst/>
                <a:rect r="r" b="b" t="t" l="l"/>
                <a:pathLst>
                  <a:path h="180088" w="10762742">
                    <a:moveTo>
                      <a:pt x="16891" y="0"/>
                    </a:moveTo>
                    <a:lnTo>
                      <a:pt x="10745851" y="0"/>
                    </a:lnTo>
                    <a:cubicBezTo>
                      <a:pt x="10755249" y="0"/>
                      <a:pt x="10762742" y="7620"/>
                      <a:pt x="10762742" y="16891"/>
                    </a:cubicBezTo>
                    <a:lnTo>
                      <a:pt x="10762742" y="163195"/>
                    </a:lnTo>
                    <a:cubicBezTo>
                      <a:pt x="10762742" y="172593"/>
                      <a:pt x="10755122" y="180086"/>
                      <a:pt x="10745851" y="180086"/>
                    </a:cubicBezTo>
                    <a:lnTo>
                      <a:pt x="16891" y="180086"/>
                    </a:lnTo>
                    <a:cubicBezTo>
                      <a:pt x="7620" y="180213"/>
                      <a:pt x="0" y="172593"/>
                      <a:pt x="0" y="16319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63195"/>
                    </a:lnTo>
                    <a:lnTo>
                      <a:pt x="16891" y="163195"/>
                    </a:lnTo>
                    <a:lnTo>
                      <a:pt x="16891" y="146304"/>
                    </a:lnTo>
                    <a:lnTo>
                      <a:pt x="10745851" y="146304"/>
                    </a:lnTo>
                    <a:lnTo>
                      <a:pt x="10745851" y="163195"/>
                    </a:lnTo>
                    <a:lnTo>
                      <a:pt x="10728960" y="163195"/>
                    </a:lnTo>
                    <a:lnTo>
                      <a:pt x="10728960" y="16891"/>
                    </a:lnTo>
                    <a:lnTo>
                      <a:pt x="10745851" y="16891"/>
                    </a:lnTo>
                    <a:lnTo>
                      <a:pt x="1074585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438912" y="536448"/>
              <a:ext cx="1253071" cy="1253071"/>
              <a:chOff x="0" y="0"/>
              <a:chExt cx="1253071" cy="1253071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16891" y="16891"/>
                <a:ext cx="12192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1219200">
                    <a:moveTo>
                      <a:pt x="0" y="609600"/>
                    </a:moveTo>
                    <a:cubicBezTo>
                      <a:pt x="0" y="272923"/>
                      <a:pt x="272923" y="0"/>
                      <a:pt x="609600" y="0"/>
                    </a:cubicBezTo>
                    <a:cubicBezTo>
                      <a:pt x="946277" y="0"/>
                      <a:pt x="1219200" y="272923"/>
                      <a:pt x="1219200" y="609600"/>
                    </a:cubicBezTo>
                    <a:cubicBezTo>
                      <a:pt x="1219200" y="946277"/>
                      <a:pt x="946277" y="1219200"/>
                      <a:pt x="609600" y="1219200"/>
                    </a:cubicBezTo>
                    <a:cubicBezTo>
                      <a:pt x="272923" y="1219200"/>
                      <a:pt x="0" y="946277"/>
                      <a:pt x="0" y="609600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253109" cy="1252982"/>
              </a:xfrm>
              <a:custGeom>
                <a:avLst/>
                <a:gdLst/>
                <a:ahLst/>
                <a:cxnLst/>
                <a:rect r="r" b="b" t="t" l="l"/>
                <a:pathLst>
                  <a:path h="1252982" w="1253109">
                    <a:moveTo>
                      <a:pt x="0" y="626491"/>
                    </a:moveTo>
                    <a:cubicBezTo>
                      <a:pt x="0" y="280543"/>
                      <a:pt x="280543" y="0"/>
                      <a:pt x="626491" y="0"/>
                    </a:cubicBezTo>
                    <a:lnTo>
                      <a:pt x="626491" y="16891"/>
                    </a:lnTo>
                    <a:lnTo>
                      <a:pt x="626491" y="0"/>
                    </a:lnTo>
                    <a:cubicBezTo>
                      <a:pt x="972566" y="0"/>
                      <a:pt x="1253109" y="280543"/>
                      <a:pt x="1253109" y="626491"/>
                    </a:cubicBezTo>
                    <a:lnTo>
                      <a:pt x="1236091" y="626491"/>
                    </a:lnTo>
                    <a:lnTo>
                      <a:pt x="1252982" y="626491"/>
                    </a:lnTo>
                    <a:cubicBezTo>
                      <a:pt x="1252982" y="972566"/>
                      <a:pt x="972439" y="1252982"/>
                      <a:pt x="626491" y="1252982"/>
                    </a:cubicBezTo>
                    <a:lnTo>
                      <a:pt x="626491" y="1236091"/>
                    </a:lnTo>
                    <a:lnTo>
                      <a:pt x="626491" y="1252982"/>
                    </a:lnTo>
                    <a:cubicBezTo>
                      <a:pt x="280543" y="1253109"/>
                      <a:pt x="0" y="972566"/>
                      <a:pt x="0" y="626491"/>
                    </a:cubicBezTo>
                    <a:lnTo>
                      <a:pt x="16891" y="626491"/>
                    </a:lnTo>
                    <a:lnTo>
                      <a:pt x="33909" y="626491"/>
                    </a:lnTo>
                    <a:lnTo>
                      <a:pt x="16891" y="626491"/>
                    </a:lnTo>
                    <a:lnTo>
                      <a:pt x="0" y="626491"/>
                    </a:lnTo>
                    <a:moveTo>
                      <a:pt x="33909" y="626491"/>
                    </a:moveTo>
                    <a:cubicBezTo>
                      <a:pt x="33909" y="635889"/>
                      <a:pt x="26289" y="643382"/>
                      <a:pt x="17018" y="643382"/>
                    </a:cubicBezTo>
                    <a:cubicBezTo>
                      <a:pt x="7747" y="643382"/>
                      <a:pt x="0" y="635889"/>
                      <a:pt x="0" y="626491"/>
                    </a:cubicBezTo>
                    <a:cubicBezTo>
                      <a:pt x="0" y="617093"/>
                      <a:pt x="7620" y="609600"/>
                      <a:pt x="16891" y="609600"/>
                    </a:cubicBezTo>
                    <a:cubicBezTo>
                      <a:pt x="26162" y="609600"/>
                      <a:pt x="33782" y="617220"/>
                      <a:pt x="33782" y="626491"/>
                    </a:cubicBezTo>
                    <a:cubicBezTo>
                      <a:pt x="33909" y="953897"/>
                      <a:pt x="299212" y="1219200"/>
                      <a:pt x="626491" y="1219200"/>
                    </a:cubicBezTo>
                    <a:cubicBezTo>
                      <a:pt x="953897" y="1219200"/>
                      <a:pt x="1219200" y="953897"/>
                      <a:pt x="1219200" y="626491"/>
                    </a:cubicBezTo>
                    <a:cubicBezTo>
                      <a:pt x="1219200" y="299212"/>
                      <a:pt x="953897" y="33909"/>
                      <a:pt x="626491" y="33909"/>
                    </a:cubicBezTo>
                    <a:lnTo>
                      <a:pt x="626491" y="16891"/>
                    </a:lnTo>
                    <a:lnTo>
                      <a:pt x="626491" y="33909"/>
                    </a:lnTo>
                    <a:cubicBezTo>
                      <a:pt x="299212" y="33909"/>
                      <a:pt x="33909" y="299212"/>
                      <a:pt x="33909" y="626491"/>
                    </a:cubicBez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577761" y="675297"/>
              <a:ext cx="975360" cy="975360"/>
              <a:chOff x="0" y="0"/>
              <a:chExt cx="975360" cy="975360"/>
            </a:xfrm>
          </p:grpSpPr>
          <p:sp>
            <p:nvSpPr>
              <p:cNvPr name="Freeform 35" id="35" descr="preencoded.png"/>
              <p:cNvSpPr/>
              <p:nvPr/>
            </p:nvSpPr>
            <p:spPr>
              <a:xfrm flipH="false" flipV="false" rot="0">
                <a:off x="0" y="0"/>
                <a:ext cx="97536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975360">
                    <a:moveTo>
                      <a:pt x="0" y="0"/>
                    </a:moveTo>
                    <a:lnTo>
                      <a:pt x="975360" y="0"/>
                    </a:lnTo>
                    <a:lnTo>
                      <a:pt x="975360" y="975360"/>
                    </a:lnTo>
                    <a:lnTo>
                      <a:pt x="0" y="97536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0" b="0"/>
                </a:stretch>
              </a:blip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2016417" y="553377"/>
              <a:ext cx="8412480" cy="1097280"/>
              <a:chOff x="0" y="0"/>
              <a:chExt cx="8412480" cy="109728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41248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8412480">
                    <a:moveTo>
                      <a:pt x="0" y="0"/>
                    </a:moveTo>
                    <a:lnTo>
                      <a:pt x="8412480" y="0"/>
                    </a:lnTo>
                    <a:lnTo>
                      <a:pt x="841248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9385" r="0" b="-99385"/>
                </a:stretch>
              </a:blip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9525"/>
                <a:ext cx="8412480" cy="11068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Cities Are Getting Denser</a:t>
                </a: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455841" y="1968792"/>
              <a:ext cx="9753600" cy="2486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Rapid urbanisation creates chaotic, crowded streets. Unplanned footpaths are dangerous for VI persons every day.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55399" y="5930903"/>
            <a:ext cx="16777211" cy="3865883"/>
            <a:chOff x="0" y="0"/>
            <a:chExt cx="22369615" cy="5154511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22369615" cy="5154511"/>
              <a:chOff x="0" y="0"/>
              <a:chExt cx="22369615" cy="5154511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16891" y="16891"/>
                <a:ext cx="22335745" cy="5120640"/>
              </a:xfrm>
              <a:custGeom>
                <a:avLst/>
                <a:gdLst/>
                <a:ahLst/>
                <a:cxnLst/>
                <a:rect r="r" b="b" t="t" l="l"/>
                <a:pathLst>
                  <a:path h="5120640" w="22335745">
                    <a:moveTo>
                      <a:pt x="0" y="0"/>
                    </a:moveTo>
                    <a:lnTo>
                      <a:pt x="22335745" y="0"/>
                    </a:lnTo>
                    <a:lnTo>
                      <a:pt x="22335745" y="5120640"/>
                    </a:lnTo>
                    <a:lnTo>
                      <a:pt x="0" y="5120640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2369526" cy="5154422"/>
              </a:xfrm>
              <a:custGeom>
                <a:avLst/>
                <a:gdLst/>
                <a:ahLst/>
                <a:cxnLst/>
                <a:rect r="r" b="b" t="t" l="l"/>
                <a:pathLst>
                  <a:path h="5154422" w="22369526">
                    <a:moveTo>
                      <a:pt x="16891" y="0"/>
                    </a:moveTo>
                    <a:lnTo>
                      <a:pt x="22352636" y="0"/>
                    </a:lnTo>
                    <a:cubicBezTo>
                      <a:pt x="22362033" y="0"/>
                      <a:pt x="22369526" y="7620"/>
                      <a:pt x="22369526" y="16891"/>
                    </a:cubicBezTo>
                    <a:lnTo>
                      <a:pt x="22369526" y="5137531"/>
                    </a:lnTo>
                    <a:cubicBezTo>
                      <a:pt x="22369526" y="5146929"/>
                      <a:pt x="22361906" y="5154422"/>
                      <a:pt x="22352636" y="5154422"/>
                    </a:cubicBezTo>
                    <a:lnTo>
                      <a:pt x="16891" y="5154422"/>
                    </a:lnTo>
                    <a:cubicBezTo>
                      <a:pt x="7493" y="5154422"/>
                      <a:pt x="0" y="5146802"/>
                      <a:pt x="0" y="513753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5137531"/>
                    </a:lnTo>
                    <a:lnTo>
                      <a:pt x="16891" y="5137531"/>
                    </a:lnTo>
                    <a:lnTo>
                      <a:pt x="16891" y="5120640"/>
                    </a:lnTo>
                    <a:lnTo>
                      <a:pt x="22352636" y="5120640"/>
                    </a:lnTo>
                    <a:lnTo>
                      <a:pt x="22352636" y="5137531"/>
                    </a:lnTo>
                    <a:lnTo>
                      <a:pt x="22335745" y="5137531"/>
                    </a:lnTo>
                    <a:lnTo>
                      <a:pt x="22335745" y="16891"/>
                    </a:lnTo>
                    <a:lnTo>
                      <a:pt x="22352636" y="16891"/>
                    </a:lnTo>
                    <a:lnTo>
                      <a:pt x="22352636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0"/>
              <a:ext cx="180175" cy="5154511"/>
              <a:chOff x="0" y="0"/>
              <a:chExt cx="180175" cy="5154511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16891" y="16891"/>
                <a:ext cx="146304" cy="5120640"/>
              </a:xfrm>
              <a:custGeom>
                <a:avLst/>
                <a:gdLst/>
                <a:ahLst/>
                <a:cxnLst/>
                <a:rect r="r" b="b" t="t" l="l"/>
                <a:pathLst>
                  <a:path h="5120640" w="146304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5120640"/>
                    </a:lnTo>
                    <a:lnTo>
                      <a:pt x="0" y="5120640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80086" cy="5154422"/>
              </a:xfrm>
              <a:custGeom>
                <a:avLst/>
                <a:gdLst/>
                <a:ahLst/>
                <a:cxnLst/>
                <a:rect r="r" b="b" t="t" l="l"/>
                <a:pathLst>
                  <a:path h="5154422" w="180086">
                    <a:moveTo>
                      <a:pt x="16891" y="0"/>
                    </a:moveTo>
                    <a:lnTo>
                      <a:pt x="163195" y="0"/>
                    </a:lnTo>
                    <a:cubicBezTo>
                      <a:pt x="172593" y="0"/>
                      <a:pt x="180086" y="7620"/>
                      <a:pt x="180086" y="16891"/>
                    </a:cubicBezTo>
                    <a:lnTo>
                      <a:pt x="180086" y="5137531"/>
                    </a:lnTo>
                    <a:cubicBezTo>
                      <a:pt x="180086" y="5146929"/>
                      <a:pt x="172466" y="5154422"/>
                      <a:pt x="163195" y="5154422"/>
                    </a:cubicBezTo>
                    <a:lnTo>
                      <a:pt x="16891" y="5154422"/>
                    </a:lnTo>
                    <a:cubicBezTo>
                      <a:pt x="7493" y="5154422"/>
                      <a:pt x="0" y="5146802"/>
                      <a:pt x="0" y="513753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5137531"/>
                    </a:lnTo>
                    <a:lnTo>
                      <a:pt x="16891" y="5137531"/>
                    </a:lnTo>
                    <a:lnTo>
                      <a:pt x="16891" y="5120640"/>
                    </a:lnTo>
                    <a:lnTo>
                      <a:pt x="163195" y="5120640"/>
                    </a:lnTo>
                    <a:lnTo>
                      <a:pt x="163195" y="5137531"/>
                    </a:lnTo>
                    <a:lnTo>
                      <a:pt x="146304" y="5137531"/>
                    </a:lnTo>
                    <a:lnTo>
                      <a:pt x="146304" y="16891"/>
                    </a:lnTo>
                    <a:lnTo>
                      <a:pt x="163195" y="16891"/>
                    </a:lnTo>
                    <a:lnTo>
                      <a:pt x="163195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7" id="47"/>
            <p:cNvGrpSpPr/>
            <p:nvPr/>
          </p:nvGrpSpPr>
          <p:grpSpPr>
            <a:xfrm rot="0">
              <a:off x="504609" y="260769"/>
              <a:ext cx="21214080" cy="853440"/>
              <a:chOff x="0" y="0"/>
              <a:chExt cx="21214080" cy="85344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2121408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21214080">
                    <a:moveTo>
                      <a:pt x="0" y="0"/>
                    </a:moveTo>
                    <a:lnTo>
                      <a:pt x="21214080" y="0"/>
                    </a:lnTo>
                    <a:lnTo>
                      <a:pt x="2121408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34342" r="0" b="-434342"/>
                </a:stretch>
              </a:blip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9525"/>
                <a:ext cx="21214080" cy="8629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Who Faces the Highest Risk</a:t>
                </a: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487680" y="1463040"/>
              <a:ext cx="277711" cy="277711"/>
              <a:chOff x="0" y="0"/>
              <a:chExt cx="277711" cy="277711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16891" y="16891"/>
                <a:ext cx="243840" cy="243840"/>
              </a:xfrm>
              <a:custGeom>
                <a:avLst/>
                <a:gdLst/>
                <a:ahLst/>
                <a:cxnLst/>
                <a:rect r="r" b="b" t="t" l="l"/>
                <a:pathLst>
                  <a:path h="243840" w="243840">
                    <a:moveTo>
                      <a:pt x="0" y="121920"/>
                    </a:moveTo>
                    <a:cubicBezTo>
                      <a:pt x="0" y="54610"/>
                      <a:pt x="54610" y="0"/>
                      <a:pt x="121920" y="0"/>
                    </a:cubicBezTo>
                    <a:cubicBezTo>
                      <a:pt x="189230" y="0"/>
                      <a:pt x="243840" y="54610"/>
                      <a:pt x="243840" y="121920"/>
                    </a:cubicBezTo>
                    <a:cubicBezTo>
                      <a:pt x="243840" y="189230"/>
                      <a:pt x="189230" y="243840"/>
                      <a:pt x="121920" y="243840"/>
                    </a:cubicBezTo>
                    <a:cubicBezTo>
                      <a:pt x="54610" y="243840"/>
                      <a:pt x="0" y="189230"/>
                      <a:pt x="0" y="121920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277622" cy="277622"/>
              </a:xfrm>
              <a:custGeom>
                <a:avLst/>
                <a:gdLst/>
                <a:ahLst/>
                <a:cxnLst/>
                <a:rect r="r" b="b" t="t" l="l"/>
                <a:pathLst>
                  <a:path h="277622" w="277622">
                    <a:moveTo>
                      <a:pt x="0" y="138811"/>
                    </a:moveTo>
                    <a:cubicBezTo>
                      <a:pt x="0" y="62230"/>
                      <a:pt x="62230" y="0"/>
                      <a:pt x="138811" y="0"/>
                    </a:cubicBezTo>
                    <a:lnTo>
                      <a:pt x="138811" y="16891"/>
                    </a:lnTo>
                    <a:lnTo>
                      <a:pt x="138811" y="0"/>
                    </a:lnTo>
                    <a:cubicBezTo>
                      <a:pt x="215519" y="0"/>
                      <a:pt x="277622" y="62230"/>
                      <a:pt x="277622" y="138811"/>
                    </a:cubicBezTo>
                    <a:lnTo>
                      <a:pt x="260731" y="138811"/>
                    </a:lnTo>
                    <a:lnTo>
                      <a:pt x="277622" y="138811"/>
                    </a:lnTo>
                    <a:cubicBezTo>
                      <a:pt x="277622" y="215519"/>
                      <a:pt x="215392" y="277622"/>
                      <a:pt x="138811" y="277622"/>
                    </a:cubicBezTo>
                    <a:lnTo>
                      <a:pt x="138811" y="260731"/>
                    </a:lnTo>
                    <a:lnTo>
                      <a:pt x="138811" y="277622"/>
                    </a:lnTo>
                    <a:cubicBezTo>
                      <a:pt x="62230" y="277749"/>
                      <a:pt x="0" y="215519"/>
                      <a:pt x="0" y="138811"/>
                    </a:cubicBezTo>
                    <a:lnTo>
                      <a:pt x="16891" y="138811"/>
                    </a:lnTo>
                    <a:lnTo>
                      <a:pt x="33909" y="138811"/>
                    </a:lnTo>
                    <a:lnTo>
                      <a:pt x="16891" y="138811"/>
                    </a:lnTo>
                    <a:lnTo>
                      <a:pt x="0" y="138811"/>
                    </a:lnTo>
                    <a:moveTo>
                      <a:pt x="33909" y="138811"/>
                    </a:moveTo>
                    <a:cubicBezTo>
                      <a:pt x="33909" y="148209"/>
                      <a:pt x="26289" y="155702"/>
                      <a:pt x="17018" y="155702"/>
                    </a:cubicBezTo>
                    <a:cubicBezTo>
                      <a:pt x="7747" y="155702"/>
                      <a:pt x="0" y="148209"/>
                      <a:pt x="0" y="138811"/>
                    </a:cubicBezTo>
                    <a:cubicBezTo>
                      <a:pt x="0" y="129413"/>
                      <a:pt x="7620" y="121920"/>
                      <a:pt x="16891" y="121920"/>
                    </a:cubicBezTo>
                    <a:cubicBezTo>
                      <a:pt x="26162" y="121920"/>
                      <a:pt x="33782" y="129540"/>
                      <a:pt x="33782" y="138811"/>
                    </a:cubicBezTo>
                    <a:cubicBezTo>
                      <a:pt x="33782" y="196850"/>
                      <a:pt x="80772" y="243840"/>
                      <a:pt x="138811" y="243840"/>
                    </a:cubicBezTo>
                    <a:cubicBezTo>
                      <a:pt x="196850" y="243840"/>
                      <a:pt x="243840" y="196850"/>
                      <a:pt x="243840" y="138811"/>
                    </a:cubicBezTo>
                    <a:cubicBezTo>
                      <a:pt x="243840" y="80772"/>
                      <a:pt x="196850" y="33782"/>
                      <a:pt x="138811" y="33782"/>
                    </a:cubicBezTo>
                    <a:lnTo>
                      <a:pt x="138811" y="16891"/>
                    </a:lnTo>
                    <a:lnTo>
                      <a:pt x="138811" y="33909"/>
                    </a:lnTo>
                    <a:cubicBezTo>
                      <a:pt x="80772" y="33909"/>
                      <a:pt x="33782" y="80899"/>
                      <a:pt x="33782" y="138938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53" id="53"/>
            <p:cNvGrpSpPr/>
            <p:nvPr/>
          </p:nvGrpSpPr>
          <p:grpSpPr>
            <a:xfrm rot="0">
              <a:off x="1041057" y="1333665"/>
              <a:ext cx="20970240" cy="780288"/>
              <a:chOff x="0" y="0"/>
              <a:chExt cx="20970240" cy="780288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20970239" cy="780288"/>
              </a:xfrm>
              <a:custGeom>
                <a:avLst/>
                <a:gdLst/>
                <a:ahLst/>
                <a:cxnLst/>
                <a:rect r="r" b="b" t="t" l="l"/>
                <a:pathLst>
                  <a:path h="780288" w="20970239">
                    <a:moveTo>
                      <a:pt x="0" y="0"/>
                    </a:moveTo>
                    <a:lnTo>
                      <a:pt x="20970239" y="0"/>
                    </a:lnTo>
                    <a:lnTo>
                      <a:pt x="20970239" y="780288"/>
                    </a:lnTo>
                    <a:lnTo>
                      <a:pt x="0" y="78028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73660" r="0" b="-473660"/>
                </a:stretch>
              </a:blip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38100"/>
                <a:ext cx="20970240" cy="81838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Those navigating without a companion in dense public spaces on a daily basis</a:t>
                </a: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487680" y="2438400"/>
              <a:ext cx="277711" cy="277711"/>
              <a:chOff x="0" y="0"/>
              <a:chExt cx="277711" cy="277711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16891" y="16891"/>
                <a:ext cx="243840" cy="243840"/>
              </a:xfrm>
              <a:custGeom>
                <a:avLst/>
                <a:gdLst/>
                <a:ahLst/>
                <a:cxnLst/>
                <a:rect r="r" b="b" t="t" l="l"/>
                <a:pathLst>
                  <a:path h="243840" w="243840">
                    <a:moveTo>
                      <a:pt x="0" y="121920"/>
                    </a:moveTo>
                    <a:cubicBezTo>
                      <a:pt x="0" y="54610"/>
                      <a:pt x="54610" y="0"/>
                      <a:pt x="121920" y="0"/>
                    </a:cubicBezTo>
                    <a:cubicBezTo>
                      <a:pt x="189230" y="0"/>
                      <a:pt x="243840" y="54610"/>
                      <a:pt x="243840" y="121920"/>
                    </a:cubicBezTo>
                    <a:cubicBezTo>
                      <a:pt x="243840" y="189230"/>
                      <a:pt x="189230" y="243840"/>
                      <a:pt x="121920" y="243840"/>
                    </a:cubicBezTo>
                    <a:cubicBezTo>
                      <a:pt x="54610" y="243840"/>
                      <a:pt x="0" y="189230"/>
                      <a:pt x="0" y="121920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277622" cy="277622"/>
              </a:xfrm>
              <a:custGeom>
                <a:avLst/>
                <a:gdLst/>
                <a:ahLst/>
                <a:cxnLst/>
                <a:rect r="r" b="b" t="t" l="l"/>
                <a:pathLst>
                  <a:path h="277622" w="277622">
                    <a:moveTo>
                      <a:pt x="0" y="138811"/>
                    </a:moveTo>
                    <a:cubicBezTo>
                      <a:pt x="0" y="62230"/>
                      <a:pt x="62230" y="0"/>
                      <a:pt x="138811" y="0"/>
                    </a:cubicBezTo>
                    <a:lnTo>
                      <a:pt x="138811" y="16891"/>
                    </a:lnTo>
                    <a:lnTo>
                      <a:pt x="138811" y="0"/>
                    </a:lnTo>
                    <a:cubicBezTo>
                      <a:pt x="215519" y="0"/>
                      <a:pt x="277622" y="62230"/>
                      <a:pt x="277622" y="138811"/>
                    </a:cubicBezTo>
                    <a:lnTo>
                      <a:pt x="260731" y="138811"/>
                    </a:lnTo>
                    <a:lnTo>
                      <a:pt x="277622" y="138811"/>
                    </a:lnTo>
                    <a:cubicBezTo>
                      <a:pt x="277622" y="215519"/>
                      <a:pt x="215392" y="277622"/>
                      <a:pt x="138811" y="277622"/>
                    </a:cubicBezTo>
                    <a:lnTo>
                      <a:pt x="138811" y="260731"/>
                    </a:lnTo>
                    <a:lnTo>
                      <a:pt x="138811" y="277622"/>
                    </a:lnTo>
                    <a:cubicBezTo>
                      <a:pt x="62230" y="277749"/>
                      <a:pt x="0" y="215519"/>
                      <a:pt x="0" y="138811"/>
                    </a:cubicBezTo>
                    <a:lnTo>
                      <a:pt x="16891" y="138811"/>
                    </a:lnTo>
                    <a:lnTo>
                      <a:pt x="33909" y="138811"/>
                    </a:lnTo>
                    <a:lnTo>
                      <a:pt x="16891" y="138811"/>
                    </a:lnTo>
                    <a:lnTo>
                      <a:pt x="0" y="138811"/>
                    </a:lnTo>
                    <a:moveTo>
                      <a:pt x="33909" y="138811"/>
                    </a:moveTo>
                    <a:cubicBezTo>
                      <a:pt x="33909" y="148209"/>
                      <a:pt x="26289" y="155702"/>
                      <a:pt x="17018" y="155702"/>
                    </a:cubicBezTo>
                    <a:cubicBezTo>
                      <a:pt x="7747" y="155702"/>
                      <a:pt x="0" y="148209"/>
                      <a:pt x="0" y="138811"/>
                    </a:cubicBezTo>
                    <a:cubicBezTo>
                      <a:pt x="0" y="129413"/>
                      <a:pt x="7620" y="121920"/>
                      <a:pt x="16891" y="121920"/>
                    </a:cubicBezTo>
                    <a:cubicBezTo>
                      <a:pt x="26162" y="121920"/>
                      <a:pt x="33782" y="129540"/>
                      <a:pt x="33782" y="138811"/>
                    </a:cubicBezTo>
                    <a:cubicBezTo>
                      <a:pt x="33782" y="196850"/>
                      <a:pt x="80772" y="243840"/>
                      <a:pt x="138811" y="243840"/>
                    </a:cubicBezTo>
                    <a:cubicBezTo>
                      <a:pt x="196850" y="243840"/>
                      <a:pt x="243840" y="196850"/>
                      <a:pt x="243840" y="138811"/>
                    </a:cubicBezTo>
                    <a:cubicBezTo>
                      <a:pt x="243840" y="80772"/>
                      <a:pt x="196850" y="33782"/>
                      <a:pt x="138811" y="33782"/>
                    </a:cubicBezTo>
                    <a:lnTo>
                      <a:pt x="138811" y="16891"/>
                    </a:lnTo>
                    <a:lnTo>
                      <a:pt x="138811" y="33909"/>
                    </a:lnTo>
                    <a:cubicBezTo>
                      <a:pt x="80772" y="33909"/>
                      <a:pt x="33782" y="80899"/>
                      <a:pt x="33782" y="138938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59" id="59"/>
            <p:cNvGrpSpPr/>
            <p:nvPr/>
          </p:nvGrpSpPr>
          <p:grpSpPr>
            <a:xfrm rot="0">
              <a:off x="1041057" y="2309025"/>
              <a:ext cx="20970240" cy="780288"/>
              <a:chOff x="0" y="0"/>
              <a:chExt cx="20970240" cy="780288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20970239" cy="780288"/>
              </a:xfrm>
              <a:custGeom>
                <a:avLst/>
                <a:gdLst/>
                <a:ahLst/>
                <a:cxnLst/>
                <a:rect r="r" b="b" t="t" l="l"/>
                <a:pathLst>
                  <a:path h="780288" w="20970239">
                    <a:moveTo>
                      <a:pt x="0" y="0"/>
                    </a:moveTo>
                    <a:lnTo>
                      <a:pt x="20970239" y="0"/>
                    </a:lnTo>
                    <a:lnTo>
                      <a:pt x="20970239" y="780288"/>
                    </a:lnTo>
                    <a:lnTo>
                      <a:pt x="0" y="78028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73660" r="0" b="-473660"/>
                </a:stretch>
              </a:blip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38100"/>
                <a:ext cx="20970240" cy="81838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Those in unplanned urban areas — no tactile pavements, no accessible pedestrian crossings</a:t>
                </a: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487680" y="3413760"/>
              <a:ext cx="277711" cy="277711"/>
              <a:chOff x="0" y="0"/>
              <a:chExt cx="277711" cy="277711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16891" y="16891"/>
                <a:ext cx="243840" cy="243840"/>
              </a:xfrm>
              <a:custGeom>
                <a:avLst/>
                <a:gdLst/>
                <a:ahLst/>
                <a:cxnLst/>
                <a:rect r="r" b="b" t="t" l="l"/>
                <a:pathLst>
                  <a:path h="243840" w="243840">
                    <a:moveTo>
                      <a:pt x="0" y="121920"/>
                    </a:moveTo>
                    <a:cubicBezTo>
                      <a:pt x="0" y="54610"/>
                      <a:pt x="54610" y="0"/>
                      <a:pt x="121920" y="0"/>
                    </a:cubicBezTo>
                    <a:cubicBezTo>
                      <a:pt x="189230" y="0"/>
                      <a:pt x="243840" y="54610"/>
                      <a:pt x="243840" y="121920"/>
                    </a:cubicBezTo>
                    <a:cubicBezTo>
                      <a:pt x="243840" y="189230"/>
                      <a:pt x="189230" y="243840"/>
                      <a:pt x="121920" y="243840"/>
                    </a:cubicBezTo>
                    <a:cubicBezTo>
                      <a:pt x="54610" y="243840"/>
                      <a:pt x="0" y="189230"/>
                      <a:pt x="0" y="121920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277622" cy="277622"/>
              </a:xfrm>
              <a:custGeom>
                <a:avLst/>
                <a:gdLst/>
                <a:ahLst/>
                <a:cxnLst/>
                <a:rect r="r" b="b" t="t" l="l"/>
                <a:pathLst>
                  <a:path h="277622" w="277622">
                    <a:moveTo>
                      <a:pt x="0" y="138811"/>
                    </a:moveTo>
                    <a:cubicBezTo>
                      <a:pt x="0" y="62230"/>
                      <a:pt x="62230" y="0"/>
                      <a:pt x="138811" y="0"/>
                    </a:cubicBezTo>
                    <a:lnTo>
                      <a:pt x="138811" y="16891"/>
                    </a:lnTo>
                    <a:lnTo>
                      <a:pt x="138811" y="0"/>
                    </a:lnTo>
                    <a:cubicBezTo>
                      <a:pt x="215519" y="0"/>
                      <a:pt x="277622" y="62230"/>
                      <a:pt x="277622" y="138811"/>
                    </a:cubicBezTo>
                    <a:lnTo>
                      <a:pt x="260731" y="138811"/>
                    </a:lnTo>
                    <a:lnTo>
                      <a:pt x="277622" y="138811"/>
                    </a:lnTo>
                    <a:cubicBezTo>
                      <a:pt x="277622" y="215519"/>
                      <a:pt x="215392" y="277622"/>
                      <a:pt x="138811" y="277622"/>
                    </a:cubicBezTo>
                    <a:lnTo>
                      <a:pt x="138811" y="260731"/>
                    </a:lnTo>
                    <a:lnTo>
                      <a:pt x="138811" y="277622"/>
                    </a:lnTo>
                    <a:cubicBezTo>
                      <a:pt x="62230" y="277749"/>
                      <a:pt x="0" y="215519"/>
                      <a:pt x="0" y="138811"/>
                    </a:cubicBezTo>
                    <a:lnTo>
                      <a:pt x="16891" y="138811"/>
                    </a:lnTo>
                    <a:lnTo>
                      <a:pt x="33909" y="138811"/>
                    </a:lnTo>
                    <a:lnTo>
                      <a:pt x="16891" y="138811"/>
                    </a:lnTo>
                    <a:lnTo>
                      <a:pt x="0" y="138811"/>
                    </a:lnTo>
                    <a:moveTo>
                      <a:pt x="33909" y="138811"/>
                    </a:moveTo>
                    <a:cubicBezTo>
                      <a:pt x="33909" y="148209"/>
                      <a:pt x="26289" y="155702"/>
                      <a:pt x="17018" y="155702"/>
                    </a:cubicBezTo>
                    <a:cubicBezTo>
                      <a:pt x="7747" y="155702"/>
                      <a:pt x="0" y="148209"/>
                      <a:pt x="0" y="138811"/>
                    </a:cubicBezTo>
                    <a:cubicBezTo>
                      <a:pt x="0" y="129413"/>
                      <a:pt x="7620" y="121920"/>
                      <a:pt x="16891" y="121920"/>
                    </a:cubicBezTo>
                    <a:cubicBezTo>
                      <a:pt x="26162" y="121920"/>
                      <a:pt x="33782" y="129540"/>
                      <a:pt x="33782" y="138811"/>
                    </a:cubicBezTo>
                    <a:cubicBezTo>
                      <a:pt x="33782" y="196850"/>
                      <a:pt x="80772" y="243840"/>
                      <a:pt x="138811" y="243840"/>
                    </a:cubicBezTo>
                    <a:cubicBezTo>
                      <a:pt x="196850" y="243840"/>
                      <a:pt x="243840" y="196850"/>
                      <a:pt x="243840" y="138811"/>
                    </a:cubicBezTo>
                    <a:cubicBezTo>
                      <a:pt x="243840" y="80772"/>
                      <a:pt x="196850" y="33782"/>
                      <a:pt x="138811" y="33782"/>
                    </a:cubicBezTo>
                    <a:lnTo>
                      <a:pt x="138811" y="16891"/>
                    </a:lnTo>
                    <a:lnTo>
                      <a:pt x="138811" y="33909"/>
                    </a:lnTo>
                    <a:cubicBezTo>
                      <a:pt x="80772" y="33909"/>
                      <a:pt x="33782" y="80899"/>
                      <a:pt x="33782" y="138938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65" id="65"/>
            <p:cNvGrpSpPr/>
            <p:nvPr/>
          </p:nvGrpSpPr>
          <p:grpSpPr>
            <a:xfrm rot="0">
              <a:off x="1041057" y="3284385"/>
              <a:ext cx="20970240" cy="780288"/>
              <a:chOff x="0" y="0"/>
              <a:chExt cx="20970240" cy="780288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20970239" cy="780288"/>
              </a:xfrm>
              <a:custGeom>
                <a:avLst/>
                <a:gdLst/>
                <a:ahLst/>
                <a:cxnLst/>
                <a:rect r="r" b="b" t="t" l="l"/>
                <a:pathLst>
                  <a:path h="780288" w="20970239">
                    <a:moveTo>
                      <a:pt x="0" y="0"/>
                    </a:moveTo>
                    <a:lnTo>
                      <a:pt x="20970239" y="0"/>
                    </a:lnTo>
                    <a:lnTo>
                      <a:pt x="20970239" y="780288"/>
                    </a:lnTo>
                    <a:lnTo>
                      <a:pt x="0" y="78028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73660" r="0" b="-473660"/>
                </a:stretch>
              </a:blip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38100"/>
                <a:ext cx="20970240" cy="81838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Those who cannot afford guide dogs, LiDAR wearables, or professional rehabilitation services</a:t>
                </a:r>
              </a:p>
            </p:txBody>
          </p:sp>
        </p:grpSp>
      </p:grp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Problem Statement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5399" y="1816103"/>
            <a:ext cx="16777211" cy="2000507"/>
            <a:chOff x="0" y="0"/>
            <a:chExt cx="22369615" cy="266734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2369615" cy="2667343"/>
              <a:chOff x="0" y="0"/>
              <a:chExt cx="22369615" cy="266734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6891"/>
                <a:ext cx="22335745" cy="2633472"/>
              </a:xfrm>
              <a:custGeom>
                <a:avLst/>
                <a:gdLst/>
                <a:ahLst/>
                <a:cxnLst/>
                <a:rect r="r" b="b" t="t" l="l"/>
                <a:pathLst>
                  <a:path h="2633472" w="22335745">
                    <a:moveTo>
                      <a:pt x="0" y="0"/>
                    </a:moveTo>
                    <a:lnTo>
                      <a:pt x="22335745" y="0"/>
                    </a:lnTo>
                    <a:lnTo>
                      <a:pt x="22335745" y="2633472"/>
                    </a:lnTo>
                    <a:lnTo>
                      <a:pt x="0" y="2633472"/>
                    </a:lnTo>
                    <a:close/>
                  </a:path>
                </a:pathLst>
              </a:custGeom>
              <a:solidFill>
                <a:srgbClr val="0D2240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2369526" cy="2667254"/>
              </a:xfrm>
              <a:custGeom>
                <a:avLst/>
                <a:gdLst/>
                <a:ahLst/>
                <a:cxnLst/>
                <a:rect r="r" b="b" t="t" l="l"/>
                <a:pathLst>
                  <a:path h="2667254" w="22369526">
                    <a:moveTo>
                      <a:pt x="16891" y="0"/>
                    </a:moveTo>
                    <a:lnTo>
                      <a:pt x="22352636" y="0"/>
                    </a:lnTo>
                    <a:cubicBezTo>
                      <a:pt x="22362033" y="0"/>
                      <a:pt x="22369526" y="7620"/>
                      <a:pt x="22369526" y="16891"/>
                    </a:cubicBezTo>
                    <a:lnTo>
                      <a:pt x="22369526" y="2650363"/>
                    </a:lnTo>
                    <a:cubicBezTo>
                      <a:pt x="22369526" y="2659761"/>
                      <a:pt x="22361906" y="2667254"/>
                      <a:pt x="22352636" y="2667254"/>
                    </a:cubicBezTo>
                    <a:lnTo>
                      <a:pt x="16891" y="2667254"/>
                    </a:lnTo>
                    <a:cubicBezTo>
                      <a:pt x="7493" y="2667254"/>
                      <a:pt x="0" y="2659634"/>
                      <a:pt x="0" y="265036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650363"/>
                    </a:lnTo>
                    <a:lnTo>
                      <a:pt x="16891" y="2650363"/>
                    </a:lnTo>
                    <a:lnTo>
                      <a:pt x="16891" y="2633472"/>
                    </a:lnTo>
                    <a:lnTo>
                      <a:pt x="22352636" y="2633472"/>
                    </a:lnTo>
                    <a:lnTo>
                      <a:pt x="22352636" y="2650363"/>
                    </a:lnTo>
                    <a:lnTo>
                      <a:pt x="22335745" y="2650363"/>
                    </a:lnTo>
                    <a:lnTo>
                      <a:pt x="22335745" y="16891"/>
                    </a:lnTo>
                    <a:lnTo>
                      <a:pt x="22352636" y="16891"/>
                    </a:lnTo>
                    <a:lnTo>
                      <a:pt x="22352636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180175" cy="2667343"/>
              <a:chOff x="0" y="0"/>
              <a:chExt cx="180175" cy="266734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6891" y="16891"/>
                <a:ext cx="146304" cy="2633472"/>
              </a:xfrm>
              <a:custGeom>
                <a:avLst/>
                <a:gdLst/>
                <a:ahLst/>
                <a:cxnLst/>
                <a:rect r="r" b="b" t="t" l="l"/>
                <a:pathLst>
                  <a:path h="2633472" w="146304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2633472"/>
                    </a:lnTo>
                    <a:lnTo>
                      <a:pt x="0" y="2633472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80086" cy="2667254"/>
              </a:xfrm>
              <a:custGeom>
                <a:avLst/>
                <a:gdLst/>
                <a:ahLst/>
                <a:cxnLst/>
                <a:rect r="r" b="b" t="t" l="l"/>
                <a:pathLst>
                  <a:path h="2667254" w="180086">
                    <a:moveTo>
                      <a:pt x="16891" y="0"/>
                    </a:moveTo>
                    <a:lnTo>
                      <a:pt x="163195" y="0"/>
                    </a:lnTo>
                    <a:cubicBezTo>
                      <a:pt x="172593" y="0"/>
                      <a:pt x="180086" y="7620"/>
                      <a:pt x="180086" y="16891"/>
                    </a:cubicBezTo>
                    <a:lnTo>
                      <a:pt x="180086" y="2650363"/>
                    </a:lnTo>
                    <a:cubicBezTo>
                      <a:pt x="180086" y="2659761"/>
                      <a:pt x="172466" y="2667254"/>
                      <a:pt x="163195" y="2667254"/>
                    </a:cubicBezTo>
                    <a:lnTo>
                      <a:pt x="16891" y="2667254"/>
                    </a:lnTo>
                    <a:cubicBezTo>
                      <a:pt x="7493" y="2667254"/>
                      <a:pt x="0" y="2659634"/>
                      <a:pt x="0" y="265036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650363"/>
                    </a:lnTo>
                    <a:lnTo>
                      <a:pt x="16891" y="2650363"/>
                    </a:lnTo>
                    <a:lnTo>
                      <a:pt x="16891" y="2633472"/>
                    </a:lnTo>
                    <a:lnTo>
                      <a:pt x="163195" y="2633472"/>
                    </a:lnTo>
                    <a:lnTo>
                      <a:pt x="163195" y="2650363"/>
                    </a:lnTo>
                    <a:lnTo>
                      <a:pt x="146304" y="2650363"/>
                    </a:lnTo>
                    <a:lnTo>
                      <a:pt x="146304" y="16891"/>
                    </a:lnTo>
                    <a:lnTo>
                      <a:pt x="163195" y="16891"/>
                    </a:lnTo>
                    <a:lnTo>
                      <a:pt x="163195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504609" y="138849"/>
              <a:ext cx="21457920" cy="2389632"/>
              <a:chOff x="0" y="0"/>
              <a:chExt cx="21457920" cy="238963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1457920" cy="2389632"/>
              </a:xfrm>
              <a:custGeom>
                <a:avLst/>
                <a:gdLst/>
                <a:ahLst/>
                <a:cxnLst/>
                <a:rect r="r" b="b" t="t" l="l"/>
                <a:pathLst>
                  <a:path h="2389632" w="21457920">
                    <a:moveTo>
                      <a:pt x="0" y="0"/>
                    </a:moveTo>
                    <a:lnTo>
                      <a:pt x="21457920" y="0"/>
                    </a:lnTo>
                    <a:lnTo>
                      <a:pt x="21457920" y="2389632"/>
                    </a:lnTo>
                    <a:lnTo>
                      <a:pt x="0" y="23896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24967" r="0" b="-124967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57150"/>
                <a:ext cx="21457920" cy="244678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i="true">
                    <a:solidFill>
                      <a:srgbClr val="FFFFFF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“Visually impaired people in dense urban environments face moment-to-moment dangers that no current assistive tool is designed to handle completely.”</a:t>
                </a: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755399" y="4102103"/>
            <a:ext cx="5328923" cy="5694683"/>
            <a:chOff x="0" y="0"/>
            <a:chExt cx="7105231" cy="7592911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105231" cy="7592911"/>
              <a:chOff x="0" y="0"/>
              <a:chExt cx="7105231" cy="759291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16891" y="16891"/>
                <a:ext cx="7071360" cy="7559040"/>
              </a:xfrm>
              <a:custGeom>
                <a:avLst/>
                <a:gdLst/>
                <a:ahLst/>
                <a:cxnLst/>
                <a:rect r="r" b="b" t="t" l="l"/>
                <a:pathLst>
                  <a:path h="7559040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7559040"/>
                    </a:lnTo>
                    <a:lnTo>
                      <a:pt x="0" y="7559040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105142" cy="7592822"/>
              </a:xfrm>
              <a:custGeom>
                <a:avLst/>
                <a:gdLst/>
                <a:ahLst/>
                <a:cxnLst/>
                <a:rect r="r" b="b" t="t" l="l"/>
                <a:pathLst>
                  <a:path h="7592822" w="7105142">
                    <a:moveTo>
                      <a:pt x="16891" y="0"/>
                    </a:moveTo>
                    <a:lnTo>
                      <a:pt x="7088251" y="0"/>
                    </a:lnTo>
                    <a:cubicBezTo>
                      <a:pt x="7097649" y="0"/>
                      <a:pt x="7105142" y="7620"/>
                      <a:pt x="7105142" y="16891"/>
                    </a:cubicBezTo>
                    <a:lnTo>
                      <a:pt x="7105142" y="7575931"/>
                    </a:lnTo>
                    <a:cubicBezTo>
                      <a:pt x="7105142" y="7585329"/>
                      <a:pt x="7097522" y="7592822"/>
                      <a:pt x="7088251" y="7592822"/>
                    </a:cubicBezTo>
                    <a:lnTo>
                      <a:pt x="16891" y="7592822"/>
                    </a:lnTo>
                    <a:cubicBezTo>
                      <a:pt x="7493" y="7592822"/>
                      <a:pt x="0" y="7585202"/>
                      <a:pt x="0" y="757593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7575931"/>
                    </a:lnTo>
                    <a:lnTo>
                      <a:pt x="16891" y="7575931"/>
                    </a:lnTo>
                    <a:lnTo>
                      <a:pt x="16891" y="7559040"/>
                    </a:lnTo>
                    <a:lnTo>
                      <a:pt x="7088251" y="7559040"/>
                    </a:lnTo>
                    <a:lnTo>
                      <a:pt x="7088251" y="7575931"/>
                    </a:lnTo>
                    <a:lnTo>
                      <a:pt x="7071360" y="7575931"/>
                    </a:lnTo>
                    <a:lnTo>
                      <a:pt x="7071360" y="16891"/>
                    </a:lnTo>
                    <a:lnTo>
                      <a:pt x="7088251" y="16891"/>
                    </a:lnTo>
                    <a:lnTo>
                      <a:pt x="708825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01</a:t>
                </a: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58311" y="2077394"/>
              <a:ext cx="6388608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The Environment Problem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58311" y="3156166"/>
              <a:ext cx="6388608" cy="4436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Streets in Dhaka are unplanned and unpredictable. Tactile paving, wide pavements, and clear pedestrian zones do not exist in most areas.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516119" y="4102103"/>
            <a:ext cx="5328923" cy="5771429"/>
            <a:chOff x="0" y="0"/>
            <a:chExt cx="7105231" cy="7695239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7105231" cy="7592911"/>
              <a:chOff x="0" y="0"/>
              <a:chExt cx="7105231" cy="7592911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16891" y="16891"/>
                <a:ext cx="7071360" cy="7559040"/>
              </a:xfrm>
              <a:custGeom>
                <a:avLst/>
                <a:gdLst/>
                <a:ahLst/>
                <a:cxnLst/>
                <a:rect r="r" b="b" t="t" l="l"/>
                <a:pathLst>
                  <a:path h="7559040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7559040"/>
                    </a:lnTo>
                    <a:lnTo>
                      <a:pt x="0" y="7559040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7105142" cy="7592822"/>
              </a:xfrm>
              <a:custGeom>
                <a:avLst/>
                <a:gdLst/>
                <a:ahLst/>
                <a:cxnLst/>
                <a:rect r="r" b="b" t="t" l="l"/>
                <a:pathLst>
                  <a:path h="7592822" w="7105142">
                    <a:moveTo>
                      <a:pt x="16891" y="0"/>
                    </a:moveTo>
                    <a:lnTo>
                      <a:pt x="7088251" y="0"/>
                    </a:lnTo>
                    <a:cubicBezTo>
                      <a:pt x="7097649" y="0"/>
                      <a:pt x="7105142" y="7620"/>
                      <a:pt x="7105142" y="16891"/>
                    </a:cubicBezTo>
                    <a:lnTo>
                      <a:pt x="7105142" y="7575931"/>
                    </a:lnTo>
                    <a:cubicBezTo>
                      <a:pt x="7105142" y="7585329"/>
                      <a:pt x="7097522" y="7592822"/>
                      <a:pt x="7088251" y="7592822"/>
                    </a:cubicBezTo>
                    <a:lnTo>
                      <a:pt x="16891" y="7592822"/>
                    </a:lnTo>
                    <a:cubicBezTo>
                      <a:pt x="7493" y="7592822"/>
                      <a:pt x="0" y="7585202"/>
                      <a:pt x="0" y="757593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7575931"/>
                    </a:lnTo>
                    <a:lnTo>
                      <a:pt x="16891" y="7575931"/>
                    </a:lnTo>
                    <a:lnTo>
                      <a:pt x="16891" y="7559040"/>
                    </a:lnTo>
                    <a:lnTo>
                      <a:pt x="7088251" y="7559040"/>
                    </a:lnTo>
                    <a:lnTo>
                      <a:pt x="7088251" y="7575931"/>
                    </a:lnTo>
                    <a:lnTo>
                      <a:pt x="7071360" y="7575931"/>
                    </a:lnTo>
                    <a:lnTo>
                      <a:pt x="7071360" y="16891"/>
                    </a:lnTo>
                    <a:lnTo>
                      <a:pt x="7088251" y="16891"/>
                    </a:lnTo>
                    <a:lnTo>
                      <a:pt x="708825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02</a:t>
                </a: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58311" y="2077394"/>
              <a:ext cx="6388608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The Tool Problem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58311" y="3258494"/>
              <a:ext cx="6388608" cy="4436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Existing tools were designed for structured environments. They fail when obstacles are moving, unpredictable, and approaching from all directions.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276839" y="4102103"/>
            <a:ext cx="5328923" cy="5694683"/>
            <a:chOff x="0" y="0"/>
            <a:chExt cx="7105231" cy="7592911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7105231" cy="7592911"/>
              <a:chOff x="0" y="0"/>
              <a:chExt cx="7105231" cy="7592911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16891" y="16891"/>
                <a:ext cx="7071360" cy="7559040"/>
              </a:xfrm>
              <a:custGeom>
                <a:avLst/>
                <a:gdLst/>
                <a:ahLst/>
                <a:cxnLst/>
                <a:rect r="r" b="b" t="t" l="l"/>
                <a:pathLst>
                  <a:path h="7559040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7559040"/>
                    </a:lnTo>
                    <a:lnTo>
                      <a:pt x="0" y="7559040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7105142" cy="7592822"/>
              </a:xfrm>
              <a:custGeom>
                <a:avLst/>
                <a:gdLst/>
                <a:ahLst/>
                <a:cxnLst/>
                <a:rect r="r" b="b" t="t" l="l"/>
                <a:pathLst>
                  <a:path h="7592822" w="7105142">
                    <a:moveTo>
                      <a:pt x="16891" y="0"/>
                    </a:moveTo>
                    <a:lnTo>
                      <a:pt x="7088251" y="0"/>
                    </a:lnTo>
                    <a:cubicBezTo>
                      <a:pt x="7097649" y="0"/>
                      <a:pt x="7105142" y="7620"/>
                      <a:pt x="7105142" y="16891"/>
                    </a:cubicBezTo>
                    <a:lnTo>
                      <a:pt x="7105142" y="7575931"/>
                    </a:lnTo>
                    <a:cubicBezTo>
                      <a:pt x="7105142" y="7585329"/>
                      <a:pt x="7097522" y="7592822"/>
                      <a:pt x="7088251" y="7592822"/>
                    </a:cubicBezTo>
                    <a:lnTo>
                      <a:pt x="16891" y="7592822"/>
                    </a:lnTo>
                    <a:cubicBezTo>
                      <a:pt x="7493" y="7592822"/>
                      <a:pt x="0" y="7585202"/>
                      <a:pt x="0" y="757593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7575931"/>
                    </a:lnTo>
                    <a:lnTo>
                      <a:pt x="16891" y="7575931"/>
                    </a:lnTo>
                    <a:lnTo>
                      <a:pt x="16891" y="7559040"/>
                    </a:lnTo>
                    <a:lnTo>
                      <a:pt x="7088251" y="7559040"/>
                    </a:lnTo>
                    <a:lnTo>
                      <a:pt x="7088251" y="7575931"/>
                    </a:lnTo>
                    <a:lnTo>
                      <a:pt x="7071360" y="7575931"/>
                    </a:lnTo>
                    <a:lnTo>
                      <a:pt x="7071360" y="16891"/>
                    </a:lnTo>
                    <a:lnTo>
                      <a:pt x="7088251" y="16891"/>
                    </a:lnTo>
                    <a:lnTo>
                      <a:pt x="708825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03</a:t>
                </a: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382689" y="2077394"/>
              <a:ext cx="6388608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The Speed Problem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382689" y="3156166"/>
              <a:ext cx="6388608" cy="4436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Any system taking more than 0.5 seconds is too slow. A pedestrian at normal pace covers 1 metre every 1.4 seconds — there is no margin.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Existing Solutions &amp; Their Limitations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774700" y="3194373"/>
          <a:ext cx="16738600" cy="5487761"/>
        </p:xfrm>
        <a:graphic>
          <a:graphicData uri="http://schemas.openxmlformats.org/drawingml/2006/table">
            <a:tbl>
              <a:tblPr/>
              <a:tblGrid>
                <a:gridCol w="3663432"/>
                <a:gridCol w="5482516"/>
                <a:gridCol w="7592652"/>
              </a:tblGrid>
              <a:tr h="96541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0C8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Tool / Approach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0C8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What It Does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0C8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Why It Falls Short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</a:tr>
              <a:tr h="9726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White Cane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7A8FA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Detects ground-level obstacles within arm's reach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7A8FA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awareness of moving people, overhead objects, or fast-approaching agents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</a:tr>
              <a:tr h="63891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Guide Dog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7A8FA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Dynamically avoids obstacles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7A8FA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Expensive, not scalable, culturally uncommon in Bangladesh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96541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GPS Navigation Apps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7A8FA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Turn-by-turn route directions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7A8FA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Works at city scale — useless at footpath and crowd scale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</a:tr>
              <a:tr h="9726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LiDAR Wearables</a:t>
                      </a:r>
                      <a:endParaRPr lang="en-US" sz="1100"/>
                    </a:p>
                    <a:p>
                      <a:pPr algn="l">
                        <a:lnSpc>
                          <a:spcPts val="2640"/>
                        </a:lnSpc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/Smart Cane</a:t>
                      </a:r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7A8FA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Precise 3D obstacle mapping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7A8FA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Costs $400–$600+; impractical for everyday use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9726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AI Camera Assistants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7A8FA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Describes scenes using vision-language models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7A8FA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Response takes 2–5 seconds — far too slow for active walking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Our Proposed Idea — WalkSafe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1816103"/>
            <a:ext cx="4963163" cy="3683003"/>
            <a:chOff x="0" y="0"/>
            <a:chExt cx="6617551" cy="491067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617551" cy="4910671"/>
              <a:chOff x="0" y="0"/>
              <a:chExt cx="6617551" cy="491067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6891"/>
                <a:ext cx="6583681" cy="4876800"/>
              </a:xfrm>
              <a:custGeom>
                <a:avLst/>
                <a:gdLst/>
                <a:ahLst/>
                <a:cxnLst/>
                <a:rect r="r" b="b" t="t" l="l"/>
                <a:pathLst>
                  <a:path h="4876800" w="6583681">
                    <a:moveTo>
                      <a:pt x="0" y="0"/>
                    </a:moveTo>
                    <a:lnTo>
                      <a:pt x="6583681" y="0"/>
                    </a:lnTo>
                    <a:lnTo>
                      <a:pt x="658368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617462" cy="4910582"/>
              </a:xfrm>
              <a:custGeom>
                <a:avLst/>
                <a:gdLst/>
                <a:ahLst/>
                <a:cxnLst/>
                <a:rect r="r" b="b" t="t" l="l"/>
                <a:pathLst>
                  <a:path h="4910582" w="6617462">
                    <a:moveTo>
                      <a:pt x="16891" y="0"/>
                    </a:moveTo>
                    <a:lnTo>
                      <a:pt x="6600572" y="0"/>
                    </a:lnTo>
                    <a:cubicBezTo>
                      <a:pt x="6609969" y="0"/>
                      <a:pt x="6617462" y="7620"/>
                      <a:pt x="6617462" y="16891"/>
                    </a:cubicBezTo>
                    <a:lnTo>
                      <a:pt x="6617462" y="4893691"/>
                    </a:lnTo>
                    <a:cubicBezTo>
                      <a:pt x="6617462" y="4903089"/>
                      <a:pt x="6609842" y="4910582"/>
                      <a:pt x="6600572" y="4910582"/>
                    </a:cubicBezTo>
                    <a:lnTo>
                      <a:pt x="16891" y="4910582"/>
                    </a:lnTo>
                    <a:cubicBezTo>
                      <a:pt x="7493" y="4910582"/>
                      <a:pt x="0" y="4902962"/>
                      <a:pt x="0" y="489369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4893691"/>
                    </a:lnTo>
                    <a:lnTo>
                      <a:pt x="16891" y="4893691"/>
                    </a:lnTo>
                    <a:lnTo>
                      <a:pt x="16891" y="4876800"/>
                    </a:lnTo>
                    <a:lnTo>
                      <a:pt x="6600572" y="4876800"/>
                    </a:lnTo>
                    <a:lnTo>
                      <a:pt x="6600572" y="4893691"/>
                    </a:lnTo>
                    <a:lnTo>
                      <a:pt x="6583680" y="4893691"/>
                    </a:lnTo>
                    <a:lnTo>
                      <a:pt x="6583680" y="16891"/>
                    </a:lnTo>
                    <a:lnTo>
                      <a:pt x="6600572" y="16891"/>
                    </a:lnTo>
                    <a:lnTo>
                      <a:pt x="6600572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2455329" y="455841"/>
              <a:ext cx="1755648" cy="1755648"/>
              <a:chOff x="0" y="0"/>
              <a:chExt cx="1755648" cy="1755648"/>
            </a:xfrm>
          </p:grpSpPr>
          <p:sp>
            <p:nvSpPr>
              <p:cNvPr name="Freeform 13" id="13" descr="preencoded.png"/>
              <p:cNvSpPr/>
              <p:nvPr/>
            </p:nvSpPr>
            <p:spPr>
              <a:xfrm flipH="false" flipV="false" rot="0">
                <a:off x="0" y="0"/>
                <a:ext cx="1755648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755648">
                    <a:moveTo>
                      <a:pt x="0" y="0"/>
                    </a:moveTo>
                    <a:lnTo>
                      <a:pt x="1755648" y="0"/>
                    </a:lnTo>
                    <a:lnTo>
                      <a:pt x="1755648" y="1755648"/>
                    </a:lnTo>
                    <a:lnTo>
                      <a:pt x="0" y="175564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260769" y="2333409"/>
              <a:ext cx="6096000" cy="780288"/>
              <a:chOff x="0" y="0"/>
              <a:chExt cx="6096000" cy="78028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096000" cy="780288"/>
              </a:xfrm>
              <a:custGeom>
                <a:avLst/>
                <a:gdLst/>
                <a:ahLst/>
                <a:cxnLst/>
                <a:rect r="r" b="b" t="t" l="l"/>
                <a:pathLst>
                  <a:path h="780288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780288"/>
                    </a:lnTo>
                    <a:lnTo>
                      <a:pt x="0" y="78028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2226" r="0" b="-102226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9525"/>
                <a:ext cx="6096000" cy="78981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Standard Camera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60769" y="3113697"/>
              <a:ext cx="6096000" cy="633984"/>
              <a:chOff x="0" y="0"/>
              <a:chExt cx="6096000" cy="63398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09600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7356" r="0" b="-137356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6096000" cy="68160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Live video feed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6617551" cy="180175"/>
              <a:chOff x="0" y="0"/>
              <a:chExt cx="6617551" cy="18017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16891" y="16891"/>
                <a:ext cx="6583681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6583681">
                    <a:moveTo>
                      <a:pt x="0" y="0"/>
                    </a:moveTo>
                    <a:lnTo>
                      <a:pt x="6583681" y="0"/>
                    </a:lnTo>
                    <a:lnTo>
                      <a:pt x="6583681" y="146304"/>
                    </a:lnTo>
                    <a:lnTo>
                      <a:pt x="0" y="146304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617462" cy="180088"/>
              </a:xfrm>
              <a:custGeom>
                <a:avLst/>
                <a:gdLst/>
                <a:ahLst/>
                <a:cxnLst/>
                <a:rect r="r" b="b" t="t" l="l"/>
                <a:pathLst>
                  <a:path h="180088" w="6617462">
                    <a:moveTo>
                      <a:pt x="16891" y="0"/>
                    </a:moveTo>
                    <a:lnTo>
                      <a:pt x="6600572" y="0"/>
                    </a:lnTo>
                    <a:cubicBezTo>
                      <a:pt x="6609969" y="0"/>
                      <a:pt x="6617462" y="7620"/>
                      <a:pt x="6617462" y="16891"/>
                    </a:cubicBezTo>
                    <a:lnTo>
                      <a:pt x="6617462" y="163195"/>
                    </a:lnTo>
                    <a:cubicBezTo>
                      <a:pt x="6617462" y="172593"/>
                      <a:pt x="6609842" y="180086"/>
                      <a:pt x="6600572" y="180086"/>
                    </a:cubicBezTo>
                    <a:lnTo>
                      <a:pt x="16891" y="180086"/>
                    </a:lnTo>
                    <a:cubicBezTo>
                      <a:pt x="7620" y="180213"/>
                      <a:pt x="0" y="172593"/>
                      <a:pt x="0" y="16319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63195"/>
                    </a:lnTo>
                    <a:lnTo>
                      <a:pt x="16891" y="163195"/>
                    </a:lnTo>
                    <a:lnTo>
                      <a:pt x="16891" y="146304"/>
                    </a:lnTo>
                    <a:lnTo>
                      <a:pt x="6600572" y="146304"/>
                    </a:lnTo>
                    <a:lnTo>
                      <a:pt x="6600572" y="163195"/>
                    </a:lnTo>
                    <a:lnTo>
                      <a:pt x="6583680" y="163195"/>
                    </a:lnTo>
                    <a:lnTo>
                      <a:pt x="6583680" y="16891"/>
                    </a:lnTo>
                    <a:lnTo>
                      <a:pt x="6600572" y="16891"/>
                    </a:lnTo>
                    <a:lnTo>
                      <a:pt x="6600572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</p:grpSp>
      <p:grpSp>
        <p:nvGrpSpPr>
          <p:cNvPr name="Group 23" id="23"/>
          <p:cNvGrpSpPr/>
          <p:nvPr/>
        </p:nvGrpSpPr>
        <p:grpSpPr>
          <a:xfrm rot="0">
            <a:off x="5961888" y="3255264"/>
            <a:ext cx="694944" cy="694944"/>
            <a:chOff x="0" y="0"/>
            <a:chExt cx="926592" cy="926592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790439" y="1816103"/>
            <a:ext cx="4963163" cy="3683003"/>
            <a:chOff x="0" y="0"/>
            <a:chExt cx="6617551" cy="4910671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617551" cy="4910671"/>
              <a:chOff x="0" y="0"/>
              <a:chExt cx="6617551" cy="4910671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16891" y="16891"/>
                <a:ext cx="6583681" cy="4876800"/>
              </a:xfrm>
              <a:custGeom>
                <a:avLst/>
                <a:gdLst/>
                <a:ahLst/>
                <a:cxnLst/>
                <a:rect r="r" b="b" t="t" l="l"/>
                <a:pathLst>
                  <a:path h="4876800" w="6583681">
                    <a:moveTo>
                      <a:pt x="0" y="0"/>
                    </a:moveTo>
                    <a:lnTo>
                      <a:pt x="6583681" y="0"/>
                    </a:lnTo>
                    <a:lnTo>
                      <a:pt x="658368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617462" cy="4910582"/>
              </a:xfrm>
              <a:custGeom>
                <a:avLst/>
                <a:gdLst/>
                <a:ahLst/>
                <a:cxnLst/>
                <a:rect r="r" b="b" t="t" l="l"/>
                <a:pathLst>
                  <a:path h="4910582" w="6617462">
                    <a:moveTo>
                      <a:pt x="16891" y="0"/>
                    </a:moveTo>
                    <a:lnTo>
                      <a:pt x="6600572" y="0"/>
                    </a:lnTo>
                    <a:cubicBezTo>
                      <a:pt x="6609969" y="0"/>
                      <a:pt x="6617462" y="7620"/>
                      <a:pt x="6617462" y="16891"/>
                    </a:cubicBezTo>
                    <a:lnTo>
                      <a:pt x="6617462" y="4893691"/>
                    </a:lnTo>
                    <a:cubicBezTo>
                      <a:pt x="6617462" y="4903089"/>
                      <a:pt x="6609842" y="4910582"/>
                      <a:pt x="6600572" y="4910582"/>
                    </a:cubicBezTo>
                    <a:lnTo>
                      <a:pt x="16891" y="4910582"/>
                    </a:lnTo>
                    <a:cubicBezTo>
                      <a:pt x="7493" y="4910582"/>
                      <a:pt x="0" y="4902962"/>
                      <a:pt x="0" y="489369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4893691"/>
                    </a:lnTo>
                    <a:lnTo>
                      <a:pt x="16891" y="4893691"/>
                    </a:lnTo>
                    <a:lnTo>
                      <a:pt x="16891" y="4876800"/>
                    </a:lnTo>
                    <a:lnTo>
                      <a:pt x="6600572" y="4876800"/>
                    </a:lnTo>
                    <a:lnTo>
                      <a:pt x="6600572" y="4893691"/>
                    </a:lnTo>
                    <a:lnTo>
                      <a:pt x="6583680" y="4893691"/>
                    </a:lnTo>
                    <a:lnTo>
                      <a:pt x="6583680" y="16891"/>
                    </a:lnTo>
                    <a:lnTo>
                      <a:pt x="6600572" y="16891"/>
                    </a:lnTo>
                    <a:lnTo>
                      <a:pt x="6600572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0"/>
              <a:ext cx="6617551" cy="180175"/>
              <a:chOff x="0" y="0"/>
              <a:chExt cx="6617551" cy="180175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16891" y="16891"/>
                <a:ext cx="6583681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6583681">
                    <a:moveTo>
                      <a:pt x="0" y="0"/>
                    </a:moveTo>
                    <a:lnTo>
                      <a:pt x="6583681" y="0"/>
                    </a:lnTo>
                    <a:lnTo>
                      <a:pt x="6583681" y="146304"/>
                    </a:lnTo>
                    <a:lnTo>
                      <a:pt x="0" y="146304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617462" cy="180088"/>
              </a:xfrm>
              <a:custGeom>
                <a:avLst/>
                <a:gdLst/>
                <a:ahLst/>
                <a:cxnLst/>
                <a:rect r="r" b="b" t="t" l="l"/>
                <a:pathLst>
                  <a:path h="180088" w="6617462">
                    <a:moveTo>
                      <a:pt x="16891" y="0"/>
                    </a:moveTo>
                    <a:lnTo>
                      <a:pt x="6600572" y="0"/>
                    </a:lnTo>
                    <a:cubicBezTo>
                      <a:pt x="6609969" y="0"/>
                      <a:pt x="6617462" y="7620"/>
                      <a:pt x="6617462" y="16891"/>
                    </a:cubicBezTo>
                    <a:lnTo>
                      <a:pt x="6617462" y="163195"/>
                    </a:lnTo>
                    <a:cubicBezTo>
                      <a:pt x="6617462" y="172593"/>
                      <a:pt x="6609842" y="180086"/>
                      <a:pt x="6600572" y="180086"/>
                    </a:cubicBezTo>
                    <a:lnTo>
                      <a:pt x="16891" y="180086"/>
                    </a:lnTo>
                    <a:cubicBezTo>
                      <a:pt x="7620" y="180213"/>
                      <a:pt x="0" y="172593"/>
                      <a:pt x="0" y="16319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63195"/>
                    </a:lnTo>
                    <a:lnTo>
                      <a:pt x="16891" y="163195"/>
                    </a:lnTo>
                    <a:lnTo>
                      <a:pt x="16891" y="146304"/>
                    </a:lnTo>
                    <a:lnTo>
                      <a:pt x="6600572" y="146304"/>
                    </a:lnTo>
                    <a:lnTo>
                      <a:pt x="6600572" y="163195"/>
                    </a:lnTo>
                    <a:lnTo>
                      <a:pt x="6583680" y="163195"/>
                    </a:lnTo>
                    <a:lnTo>
                      <a:pt x="6583680" y="16891"/>
                    </a:lnTo>
                    <a:lnTo>
                      <a:pt x="6600572" y="16891"/>
                    </a:lnTo>
                    <a:lnTo>
                      <a:pt x="6600572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2455329" y="455841"/>
              <a:ext cx="1755648" cy="1755648"/>
              <a:chOff x="0" y="0"/>
              <a:chExt cx="1755648" cy="1755648"/>
            </a:xfrm>
          </p:grpSpPr>
          <p:sp>
            <p:nvSpPr>
              <p:cNvPr name="Freeform 33" id="33" descr="preencoded.png"/>
              <p:cNvSpPr/>
              <p:nvPr/>
            </p:nvSpPr>
            <p:spPr>
              <a:xfrm flipH="false" flipV="false" rot="0">
                <a:off x="0" y="0"/>
                <a:ext cx="1755648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755648">
                    <a:moveTo>
                      <a:pt x="0" y="0"/>
                    </a:moveTo>
                    <a:lnTo>
                      <a:pt x="1755648" y="0"/>
                    </a:lnTo>
                    <a:lnTo>
                      <a:pt x="1755648" y="1755648"/>
                    </a:lnTo>
                    <a:lnTo>
                      <a:pt x="0" y="175564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0" r="0" b="0"/>
                </a:stretch>
              </a:blip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260769" y="2333409"/>
              <a:ext cx="6096000" cy="780288"/>
              <a:chOff x="0" y="0"/>
              <a:chExt cx="6096000" cy="780288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096000" cy="780288"/>
              </a:xfrm>
              <a:custGeom>
                <a:avLst/>
                <a:gdLst/>
                <a:ahLst/>
                <a:cxnLst/>
                <a:rect r="r" b="b" t="t" l="l"/>
                <a:pathLst>
                  <a:path h="780288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780288"/>
                    </a:lnTo>
                    <a:lnTo>
                      <a:pt x="0" y="78028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2226" r="0" b="-102226"/>
                </a:stretch>
              </a:blip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9525"/>
                <a:ext cx="6096000" cy="78981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Smart Pipeline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260769" y="3113697"/>
              <a:ext cx="6096000" cy="633984"/>
              <a:chOff x="0" y="0"/>
              <a:chExt cx="6096000" cy="633984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609600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7356" r="0" b="-137356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6096000" cy="68160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Perception + Decision</a:t>
                </a:r>
              </a:p>
            </p:txBody>
          </p:sp>
        </p:grpSp>
      </p:grpSp>
      <p:grpSp>
        <p:nvGrpSpPr>
          <p:cNvPr name="Group 40" id="40"/>
          <p:cNvGrpSpPr/>
          <p:nvPr/>
        </p:nvGrpSpPr>
        <p:grpSpPr>
          <a:xfrm rot="0">
            <a:off x="11850624" y="3255264"/>
            <a:ext cx="694944" cy="694944"/>
            <a:chOff x="0" y="0"/>
            <a:chExt cx="926592" cy="926592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679175" y="1816103"/>
            <a:ext cx="4963163" cy="3683003"/>
            <a:chOff x="0" y="0"/>
            <a:chExt cx="6617551" cy="4910671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6617551" cy="4910671"/>
              <a:chOff x="0" y="0"/>
              <a:chExt cx="6617551" cy="4910671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16891" y="16891"/>
                <a:ext cx="6583681" cy="4876800"/>
              </a:xfrm>
              <a:custGeom>
                <a:avLst/>
                <a:gdLst/>
                <a:ahLst/>
                <a:cxnLst/>
                <a:rect r="r" b="b" t="t" l="l"/>
                <a:pathLst>
                  <a:path h="4876800" w="6583681">
                    <a:moveTo>
                      <a:pt x="0" y="0"/>
                    </a:moveTo>
                    <a:lnTo>
                      <a:pt x="6583681" y="0"/>
                    </a:lnTo>
                    <a:lnTo>
                      <a:pt x="658368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6617462" cy="4910582"/>
              </a:xfrm>
              <a:custGeom>
                <a:avLst/>
                <a:gdLst/>
                <a:ahLst/>
                <a:cxnLst/>
                <a:rect r="r" b="b" t="t" l="l"/>
                <a:pathLst>
                  <a:path h="4910582" w="6617462">
                    <a:moveTo>
                      <a:pt x="16891" y="0"/>
                    </a:moveTo>
                    <a:lnTo>
                      <a:pt x="6600572" y="0"/>
                    </a:lnTo>
                    <a:cubicBezTo>
                      <a:pt x="6609969" y="0"/>
                      <a:pt x="6617462" y="7620"/>
                      <a:pt x="6617462" y="16891"/>
                    </a:cubicBezTo>
                    <a:lnTo>
                      <a:pt x="6617462" y="4893691"/>
                    </a:lnTo>
                    <a:cubicBezTo>
                      <a:pt x="6617462" y="4903089"/>
                      <a:pt x="6609842" y="4910582"/>
                      <a:pt x="6600572" y="4910582"/>
                    </a:cubicBezTo>
                    <a:lnTo>
                      <a:pt x="16891" y="4910582"/>
                    </a:lnTo>
                    <a:cubicBezTo>
                      <a:pt x="7493" y="4910582"/>
                      <a:pt x="0" y="4902962"/>
                      <a:pt x="0" y="489369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4893691"/>
                    </a:lnTo>
                    <a:lnTo>
                      <a:pt x="16891" y="4893691"/>
                    </a:lnTo>
                    <a:lnTo>
                      <a:pt x="16891" y="4876800"/>
                    </a:lnTo>
                    <a:lnTo>
                      <a:pt x="6600572" y="4876800"/>
                    </a:lnTo>
                    <a:lnTo>
                      <a:pt x="6600572" y="4893691"/>
                    </a:lnTo>
                    <a:lnTo>
                      <a:pt x="6583680" y="4893691"/>
                    </a:lnTo>
                    <a:lnTo>
                      <a:pt x="6583680" y="16891"/>
                    </a:lnTo>
                    <a:lnTo>
                      <a:pt x="6600572" y="16891"/>
                    </a:lnTo>
                    <a:lnTo>
                      <a:pt x="6600572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0"/>
              <a:ext cx="6617551" cy="180175"/>
              <a:chOff x="0" y="0"/>
              <a:chExt cx="6617551" cy="180175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16891" y="16891"/>
                <a:ext cx="6583681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6583681">
                    <a:moveTo>
                      <a:pt x="0" y="0"/>
                    </a:moveTo>
                    <a:lnTo>
                      <a:pt x="6583681" y="0"/>
                    </a:lnTo>
                    <a:lnTo>
                      <a:pt x="6583681" y="146304"/>
                    </a:lnTo>
                    <a:lnTo>
                      <a:pt x="0" y="146304"/>
                    </a:ln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6617462" cy="180088"/>
              </a:xfrm>
              <a:custGeom>
                <a:avLst/>
                <a:gdLst/>
                <a:ahLst/>
                <a:cxnLst/>
                <a:rect r="r" b="b" t="t" l="l"/>
                <a:pathLst>
                  <a:path h="180088" w="6617462">
                    <a:moveTo>
                      <a:pt x="16891" y="0"/>
                    </a:moveTo>
                    <a:lnTo>
                      <a:pt x="6600572" y="0"/>
                    </a:lnTo>
                    <a:cubicBezTo>
                      <a:pt x="6609969" y="0"/>
                      <a:pt x="6617462" y="7620"/>
                      <a:pt x="6617462" y="16891"/>
                    </a:cubicBezTo>
                    <a:lnTo>
                      <a:pt x="6617462" y="163195"/>
                    </a:lnTo>
                    <a:cubicBezTo>
                      <a:pt x="6617462" y="172593"/>
                      <a:pt x="6609842" y="180086"/>
                      <a:pt x="6600572" y="180086"/>
                    </a:cubicBezTo>
                    <a:lnTo>
                      <a:pt x="16891" y="180086"/>
                    </a:lnTo>
                    <a:cubicBezTo>
                      <a:pt x="7620" y="180213"/>
                      <a:pt x="0" y="172593"/>
                      <a:pt x="0" y="16319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63195"/>
                    </a:lnTo>
                    <a:lnTo>
                      <a:pt x="16891" y="163195"/>
                    </a:lnTo>
                    <a:lnTo>
                      <a:pt x="16891" y="146304"/>
                    </a:lnTo>
                    <a:lnTo>
                      <a:pt x="6600572" y="146304"/>
                    </a:lnTo>
                    <a:lnTo>
                      <a:pt x="6600572" y="163195"/>
                    </a:lnTo>
                    <a:lnTo>
                      <a:pt x="6583680" y="163195"/>
                    </a:lnTo>
                    <a:lnTo>
                      <a:pt x="6583680" y="16891"/>
                    </a:lnTo>
                    <a:lnTo>
                      <a:pt x="6600572" y="16891"/>
                    </a:lnTo>
                    <a:lnTo>
                      <a:pt x="6600572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2455329" y="455841"/>
              <a:ext cx="1755648" cy="1755648"/>
              <a:chOff x="0" y="0"/>
              <a:chExt cx="1755648" cy="1755648"/>
            </a:xfrm>
          </p:grpSpPr>
          <p:sp>
            <p:nvSpPr>
              <p:cNvPr name="Freeform 50" id="50" descr="preencoded.png"/>
              <p:cNvSpPr/>
              <p:nvPr/>
            </p:nvSpPr>
            <p:spPr>
              <a:xfrm flipH="false" flipV="false" rot="0">
                <a:off x="0" y="0"/>
                <a:ext cx="1755648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755648">
                    <a:moveTo>
                      <a:pt x="0" y="0"/>
                    </a:moveTo>
                    <a:lnTo>
                      <a:pt x="1755648" y="0"/>
                    </a:lnTo>
                    <a:lnTo>
                      <a:pt x="1755648" y="1755648"/>
                    </a:lnTo>
                    <a:lnTo>
                      <a:pt x="0" y="175564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0" r="0" b="0"/>
                </a:stretch>
              </a:blip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260769" y="2333409"/>
              <a:ext cx="6096000" cy="780288"/>
              <a:chOff x="0" y="0"/>
              <a:chExt cx="6096000" cy="78028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6096000" cy="780288"/>
              </a:xfrm>
              <a:custGeom>
                <a:avLst/>
                <a:gdLst/>
                <a:ahLst/>
                <a:cxnLst/>
                <a:rect r="r" b="b" t="t" l="l"/>
                <a:pathLst>
                  <a:path h="780288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780288"/>
                    </a:lnTo>
                    <a:lnTo>
                      <a:pt x="0" y="78028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2226" r="0" b="-102226"/>
                </a:stretch>
              </a:blip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9525"/>
                <a:ext cx="6096000" cy="78981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Spoken Guidance</a:t>
                </a: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260769" y="3113697"/>
              <a:ext cx="6096000" cy="633984"/>
              <a:chOff x="0" y="0"/>
              <a:chExt cx="6096000" cy="633984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609600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7356" r="0" b="-137356"/>
                </a:stretch>
              </a:blip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47625"/>
                <a:ext cx="6096000" cy="68160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Via earphone</a:t>
                </a:r>
              </a:p>
            </p:txBody>
          </p:sp>
        </p:grpSp>
      </p:grpSp>
      <p:grpSp>
        <p:nvGrpSpPr>
          <p:cNvPr name="Group 57" id="57"/>
          <p:cNvGrpSpPr/>
          <p:nvPr/>
        </p:nvGrpSpPr>
        <p:grpSpPr>
          <a:xfrm rot="0">
            <a:off x="914400" y="5815584"/>
            <a:ext cx="16459200" cy="621792"/>
            <a:chOff x="0" y="0"/>
            <a:chExt cx="21945600" cy="8290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45600" cy="829056"/>
            </a:xfrm>
            <a:custGeom>
              <a:avLst/>
              <a:gdLst/>
              <a:ahLst/>
              <a:cxnLst/>
              <a:rect r="r" b="b" t="t" l="l"/>
              <a:pathLst>
                <a:path h="82905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780" r="0" b="-46578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21945600" cy="838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C8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What the user hears: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55399" y="6607559"/>
            <a:ext cx="8255003" cy="1067819"/>
            <a:chOff x="0" y="0"/>
            <a:chExt cx="11006671" cy="1423759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11006671" cy="1423759"/>
              <a:chOff x="0" y="0"/>
              <a:chExt cx="11006671" cy="1423759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16891" y="16891"/>
                <a:ext cx="10972800" cy="1389888"/>
              </a:xfrm>
              <a:custGeom>
                <a:avLst/>
                <a:gdLst/>
                <a:ahLst/>
                <a:cxnLst/>
                <a:rect r="r" b="b" t="t" l="l"/>
                <a:pathLst>
                  <a:path h="1389888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1389888"/>
                    </a:lnTo>
                    <a:lnTo>
                      <a:pt x="0" y="1389888"/>
                    </a:lnTo>
                    <a:close/>
                  </a:path>
                </a:pathLst>
              </a:custGeom>
              <a:solidFill>
                <a:srgbClr val="0D2240"/>
              </a:solidFill>
            </p:spPr>
          </p:sp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11006582" cy="1423670"/>
              </a:xfrm>
              <a:custGeom>
                <a:avLst/>
                <a:gdLst/>
                <a:ahLst/>
                <a:cxnLst/>
                <a:rect r="r" b="b" t="t" l="l"/>
                <a:pathLst>
                  <a:path h="1423670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7620"/>
                      <a:pt x="11006582" y="16891"/>
                    </a:cubicBezTo>
                    <a:lnTo>
                      <a:pt x="11006582" y="1406779"/>
                    </a:lnTo>
                    <a:cubicBezTo>
                      <a:pt x="11006582" y="1416177"/>
                      <a:pt x="10998962" y="1423670"/>
                      <a:pt x="10989691" y="1423670"/>
                    </a:cubicBezTo>
                    <a:lnTo>
                      <a:pt x="16891" y="1423670"/>
                    </a:lnTo>
                    <a:cubicBezTo>
                      <a:pt x="7493" y="1423670"/>
                      <a:pt x="0" y="1416050"/>
                      <a:pt x="0" y="14067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06779"/>
                    </a:lnTo>
                    <a:lnTo>
                      <a:pt x="16891" y="1406779"/>
                    </a:lnTo>
                    <a:lnTo>
                      <a:pt x="16891" y="1389888"/>
                    </a:lnTo>
                    <a:lnTo>
                      <a:pt x="10989691" y="1389888"/>
                    </a:lnTo>
                    <a:lnTo>
                      <a:pt x="10989691" y="1406779"/>
                    </a:lnTo>
                    <a:lnTo>
                      <a:pt x="10972800" y="1406779"/>
                    </a:lnTo>
                    <a:lnTo>
                      <a:pt x="10972800" y="16891"/>
                    </a:lnTo>
                    <a:lnTo>
                      <a:pt x="10989691" y="16891"/>
                    </a:lnTo>
                    <a:lnTo>
                      <a:pt x="10989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  <p:grpSp>
          <p:nvGrpSpPr>
            <p:cNvPr name="Group 64" id="64"/>
            <p:cNvGrpSpPr/>
            <p:nvPr/>
          </p:nvGrpSpPr>
          <p:grpSpPr>
            <a:xfrm rot="0">
              <a:off x="341376" y="487680"/>
              <a:ext cx="472783" cy="472783"/>
              <a:chOff x="0" y="0"/>
              <a:chExt cx="472783" cy="472783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  <p:grpSp>
          <p:nvGrpSpPr>
            <p:cNvPr name="Group 67" id="67"/>
            <p:cNvGrpSpPr/>
            <p:nvPr/>
          </p:nvGrpSpPr>
          <p:grpSpPr>
            <a:xfrm rot="0">
              <a:off x="1089825" y="236385"/>
              <a:ext cx="9631680" cy="975360"/>
              <a:chOff x="0" y="0"/>
              <a:chExt cx="9631680" cy="97536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963168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9631680">
                    <a:moveTo>
                      <a:pt x="0" y="0"/>
                    </a:moveTo>
                    <a:lnTo>
                      <a:pt x="9631680" y="0"/>
                    </a:lnTo>
                    <a:lnTo>
                      <a:pt x="963168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2414" r="0" b="-142414"/>
                </a:stretch>
              </a:blip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38100"/>
                <a:ext cx="9631680" cy="101346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i="true">
                    <a:solidFill>
                      <a:srgbClr val="FFFFFF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Move forward </a:t>
                </a:r>
                <a:r>
                  <a:rPr lang="en-US" sz="2400" i="true">
                    <a:solidFill>
                      <a:srgbClr val="FFFFFF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— path clear”</a:t>
                </a:r>
              </a:p>
            </p:txBody>
          </p:sp>
        </p:grpSp>
      </p:grpSp>
      <p:grpSp>
        <p:nvGrpSpPr>
          <p:cNvPr name="Group 70" id="70"/>
          <p:cNvGrpSpPr/>
          <p:nvPr/>
        </p:nvGrpSpPr>
        <p:grpSpPr>
          <a:xfrm rot="0">
            <a:off x="9533639" y="6607559"/>
            <a:ext cx="8255003" cy="1067819"/>
            <a:chOff x="0" y="0"/>
            <a:chExt cx="11006671" cy="1423759"/>
          </a:xfrm>
        </p:grpSpPr>
        <p:grpSp>
          <p:nvGrpSpPr>
            <p:cNvPr name="Group 71" id="71"/>
            <p:cNvGrpSpPr/>
            <p:nvPr/>
          </p:nvGrpSpPr>
          <p:grpSpPr>
            <a:xfrm rot="0">
              <a:off x="0" y="0"/>
              <a:ext cx="11006671" cy="1423759"/>
              <a:chOff x="0" y="0"/>
              <a:chExt cx="11006671" cy="1423759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16891" y="16891"/>
                <a:ext cx="10972800" cy="1389888"/>
              </a:xfrm>
              <a:custGeom>
                <a:avLst/>
                <a:gdLst/>
                <a:ahLst/>
                <a:cxnLst/>
                <a:rect r="r" b="b" t="t" l="l"/>
                <a:pathLst>
                  <a:path h="1389888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1389888"/>
                    </a:lnTo>
                    <a:lnTo>
                      <a:pt x="0" y="1389888"/>
                    </a:lnTo>
                    <a:close/>
                  </a:path>
                </a:pathLst>
              </a:custGeom>
              <a:solidFill>
                <a:srgbClr val="0D2240"/>
              </a:solidFill>
            </p:spPr>
          </p:sp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11006582" cy="1423670"/>
              </a:xfrm>
              <a:custGeom>
                <a:avLst/>
                <a:gdLst/>
                <a:ahLst/>
                <a:cxnLst/>
                <a:rect r="r" b="b" t="t" l="l"/>
                <a:pathLst>
                  <a:path h="1423670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7620"/>
                      <a:pt x="11006582" y="16891"/>
                    </a:cubicBezTo>
                    <a:lnTo>
                      <a:pt x="11006582" y="1406779"/>
                    </a:lnTo>
                    <a:cubicBezTo>
                      <a:pt x="11006582" y="1416177"/>
                      <a:pt x="10998962" y="1423670"/>
                      <a:pt x="10989691" y="1423670"/>
                    </a:cubicBezTo>
                    <a:lnTo>
                      <a:pt x="16891" y="1423670"/>
                    </a:lnTo>
                    <a:cubicBezTo>
                      <a:pt x="7493" y="1423670"/>
                      <a:pt x="0" y="1416050"/>
                      <a:pt x="0" y="14067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06779"/>
                    </a:lnTo>
                    <a:lnTo>
                      <a:pt x="16891" y="1406779"/>
                    </a:lnTo>
                    <a:lnTo>
                      <a:pt x="16891" y="1389888"/>
                    </a:lnTo>
                    <a:lnTo>
                      <a:pt x="10989691" y="1389888"/>
                    </a:lnTo>
                    <a:lnTo>
                      <a:pt x="10989691" y="1406779"/>
                    </a:lnTo>
                    <a:lnTo>
                      <a:pt x="10972800" y="1406779"/>
                    </a:lnTo>
                    <a:lnTo>
                      <a:pt x="10972800" y="16891"/>
                    </a:lnTo>
                    <a:lnTo>
                      <a:pt x="10989691" y="16891"/>
                    </a:lnTo>
                    <a:lnTo>
                      <a:pt x="10989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74" id="74"/>
            <p:cNvGrpSpPr/>
            <p:nvPr/>
          </p:nvGrpSpPr>
          <p:grpSpPr>
            <a:xfrm rot="0">
              <a:off x="341376" y="487680"/>
              <a:ext cx="472783" cy="472783"/>
              <a:chOff x="0" y="0"/>
              <a:chExt cx="472783" cy="472783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FF6B6B"/>
              </a:solidFill>
            </p:spPr>
          </p:sp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77" id="77"/>
            <p:cNvGrpSpPr/>
            <p:nvPr/>
          </p:nvGrpSpPr>
          <p:grpSpPr>
            <a:xfrm rot="0">
              <a:off x="1089825" y="236385"/>
              <a:ext cx="9631680" cy="975360"/>
              <a:chOff x="0" y="0"/>
              <a:chExt cx="9631680" cy="975360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963168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9631680">
                    <a:moveTo>
                      <a:pt x="0" y="0"/>
                    </a:moveTo>
                    <a:lnTo>
                      <a:pt x="9631680" y="0"/>
                    </a:lnTo>
                    <a:lnTo>
                      <a:pt x="963168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2414" r="0" b="-142414"/>
                </a:stretch>
              </a:blipFill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0" y="-38100"/>
                <a:ext cx="9631680" cy="101346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i="true">
                    <a:solidFill>
                      <a:srgbClr val="FFFFFF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“Stop — person approaching from your right”</a:t>
                </a:r>
              </a:p>
            </p:txBody>
          </p:sp>
        </p:grpSp>
      </p:grpSp>
      <p:grpSp>
        <p:nvGrpSpPr>
          <p:cNvPr name="Group 80" id="80"/>
          <p:cNvGrpSpPr/>
          <p:nvPr/>
        </p:nvGrpSpPr>
        <p:grpSpPr>
          <a:xfrm rot="0">
            <a:off x="755399" y="7960871"/>
            <a:ext cx="8255003" cy="1067819"/>
            <a:chOff x="0" y="0"/>
            <a:chExt cx="11006671" cy="1423759"/>
          </a:xfrm>
        </p:grpSpPr>
        <p:grpSp>
          <p:nvGrpSpPr>
            <p:cNvPr name="Group 81" id="81"/>
            <p:cNvGrpSpPr/>
            <p:nvPr/>
          </p:nvGrpSpPr>
          <p:grpSpPr>
            <a:xfrm rot="0">
              <a:off x="0" y="0"/>
              <a:ext cx="11006671" cy="1423759"/>
              <a:chOff x="0" y="0"/>
              <a:chExt cx="11006671" cy="1423759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16891" y="16891"/>
                <a:ext cx="10972800" cy="1389888"/>
              </a:xfrm>
              <a:custGeom>
                <a:avLst/>
                <a:gdLst/>
                <a:ahLst/>
                <a:cxnLst/>
                <a:rect r="r" b="b" t="t" l="l"/>
                <a:pathLst>
                  <a:path h="1389888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1389888"/>
                    </a:lnTo>
                    <a:lnTo>
                      <a:pt x="0" y="1389888"/>
                    </a:lnTo>
                    <a:close/>
                  </a:path>
                </a:pathLst>
              </a:custGeom>
              <a:solidFill>
                <a:srgbClr val="0D2240"/>
              </a:solidFill>
            </p:spPr>
          </p:sp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11006582" cy="1423670"/>
              </a:xfrm>
              <a:custGeom>
                <a:avLst/>
                <a:gdLst/>
                <a:ahLst/>
                <a:cxnLst/>
                <a:rect r="r" b="b" t="t" l="l"/>
                <a:pathLst>
                  <a:path h="1423670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7620"/>
                      <a:pt x="11006582" y="16891"/>
                    </a:cubicBezTo>
                    <a:lnTo>
                      <a:pt x="11006582" y="1406779"/>
                    </a:lnTo>
                    <a:cubicBezTo>
                      <a:pt x="11006582" y="1416177"/>
                      <a:pt x="10998962" y="1423670"/>
                      <a:pt x="10989691" y="1423670"/>
                    </a:cubicBezTo>
                    <a:lnTo>
                      <a:pt x="16891" y="1423670"/>
                    </a:lnTo>
                    <a:cubicBezTo>
                      <a:pt x="7493" y="1423670"/>
                      <a:pt x="0" y="1416050"/>
                      <a:pt x="0" y="14067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06779"/>
                    </a:lnTo>
                    <a:lnTo>
                      <a:pt x="16891" y="1406779"/>
                    </a:lnTo>
                    <a:lnTo>
                      <a:pt x="16891" y="1389888"/>
                    </a:lnTo>
                    <a:lnTo>
                      <a:pt x="10989691" y="1389888"/>
                    </a:lnTo>
                    <a:lnTo>
                      <a:pt x="10989691" y="1406779"/>
                    </a:lnTo>
                    <a:lnTo>
                      <a:pt x="10972800" y="1406779"/>
                    </a:lnTo>
                    <a:lnTo>
                      <a:pt x="10972800" y="16891"/>
                    </a:lnTo>
                    <a:lnTo>
                      <a:pt x="10989691" y="16891"/>
                    </a:lnTo>
                    <a:lnTo>
                      <a:pt x="10989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84" id="84"/>
            <p:cNvGrpSpPr/>
            <p:nvPr/>
          </p:nvGrpSpPr>
          <p:grpSpPr>
            <a:xfrm rot="0">
              <a:off x="341376" y="487680"/>
              <a:ext cx="472783" cy="472783"/>
              <a:chOff x="0" y="0"/>
              <a:chExt cx="472783" cy="472783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FFD166"/>
              </a:solidFill>
            </p:spPr>
          </p:sp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87" id="87"/>
            <p:cNvGrpSpPr/>
            <p:nvPr/>
          </p:nvGrpSpPr>
          <p:grpSpPr>
            <a:xfrm rot="0">
              <a:off x="1089825" y="236385"/>
              <a:ext cx="9631680" cy="975360"/>
              <a:chOff x="0" y="0"/>
              <a:chExt cx="9631680" cy="975360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963168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9631680">
                    <a:moveTo>
                      <a:pt x="0" y="0"/>
                    </a:moveTo>
                    <a:lnTo>
                      <a:pt x="9631680" y="0"/>
                    </a:lnTo>
                    <a:lnTo>
                      <a:pt x="963168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2414" r="0" b="-142414"/>
                </a:stretch>
              </a:blipFill>
            </p:spPr>
          </p:sp>
          <p:sp>
            <p:nvSpPr>
              <p:cNvPr name="TextBox 89" id="89"/>
              <p:cNvSpPr txBox="true"/>
              <p:nvPr/>
            </p:nvSpPr>
            <p:spPr>
              <a:xfrm>
                <a:off x="0" y="-38100"/>
                <a:ext cx="9631680" cy="101346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i="true">
                    <a:solidFill>
                      <a:srgbClr val="FFFFFF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“Step left — obstacle ahead at 1 metre”</a:t>
                </a:r>
              </a:p>
            </p:txBody>
          </p:sp>
        </p:grpSp>
      </p:grpSp>
      <p:grpSp>
        <p:nvGrpSpPr>
          <p:cNvPr name="Group 90" id="90"/>
          <p:cNvGrpSpPr/>
          <p:nvPr/>
        </p:nvGrpSpPr>
        <p:grpSpPr>
          <a:xfrm rot="0">
            <a:off x="9533639" y="7960871"/>
            <a:ext cx="8255003" cy="1067819"/>
            <a:chOff x="0" y="0"/>
            <a:chExt cx="11006671" cy="1423759"/>
          </a:xfrm>
        </p:grpSpPr>
        <p:grpSp>
          <p:nvGrpSpPr>
            <p:cNvPr name="Group 91" id="91"/>
            <p:cNvGrpSpPr/>
            <p:nvPr/>
          </p:nvGrpSpPr>
          <p:grpSpPr>
            <a:xfrm rot="0">
              <a:off x="0" y="0"/>
              <a:ext cx="11006671" cy="1423759"/>
              <a:chOff x="0" y="0"/>
              <a:chExt cx="11006671" cy="1423759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16891" y="16891"/>
                <a:ext cx="10972800" cy="1389888"/>
              </a:xfrm>
              <a:custGeom>
                <a:avLst/>
                <a:gdLst/>
                <a:ahLst/>
                <a:cxnLst/>
                <a:rect r="r" b="b" t="t" l="l"/>
                <a:pathLst>
                  <a:path h="1389888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1389888"/>
                    </a:lnTo>
                    <a:lnTo>
                      <a:pt x="0" y="1389888"/>
                    </a:lnTo>
                    <a:close/>
                  </a:path>
                </a:pathLst>
              </a:custGeom>
              <a:solidFill>
                <a:srgbClr val="0D2240"/>
              </a:solidFill>
            </p:spPr>
          </p:sp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11006582" cy="1423670"/>
              </a:xfrm>
              <a:custGeom>
                <a:avLst/>
                <a:gdLst/>
                <a:ahLst/>
                <a:cxnLst/>
                <a:rect r="r" b="b" t="t" l="l"/>
                <a:pathLst>
                  <a:path h="1423670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7620"/>
                      <a:pt x="11006582" y="16891"/>
                    </a:cubicBezTo>
                    <a:lnTo>
                      <a:pt x="11006582" y="1406779"/>
                    </a:lnTo>
                    <a:cubicBezTo>
                      <a:pt x="11006582" y="1416177"/>
                      <a:pt x="10998962" y="1423670"/>
                      <a:pt x="10989691" y="1423670"/>
                    </a:cubicBezTo>
                    <a:lnTo>
                      <a:pt x="16891" y="1423670"/>
                    </a:lnTo>
                    <a:cubicBezTo>
                      <a:pt x="7493" y="1423670"/>
                      <a:pt x="0" y="1416050"/>
                      <a:pt x="0" y="14067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06779"/>
                    </a:lnTo>
                    <a:lnTo>
                      <a:pt x="16891" y="1406779"/>
                    </a:lnTo>
                    <a:lnTo>
                      <a:pt x="16891" y="1389888"/>
                    </a:lnTo>
                    <a:lnTo>
                      <a:pt x="10989691" y="1389888"/>
                    </a:lnTo>
                    <a:lnTo>
                      <a:pt x="10989691" y="1406779"/>
                    </a:lnTo>
                    <a:lnTo>
                      <a:pt x="10972800" y="1406779"/>
                    </a:lnTo>
                    <a:lnTo>
                      <a:pt x="10972800" y="16891"/>
                    </a:lnTo>
                    <a:lnTo>
                      <a:pt x="10989691" y="16891"/>
                    </a:lnTo>
                    <a:lnTo>
                      <a:pt x="10989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94" id="94"/>
            <p:cNvGrpSpPr/>
            <p:nvPr/>
          </p:nvGrpSpPr>
          <p:grpSpPr>
            <a:xfrm rot="0">
              <a:off x="341376" y="487680"/>
              <a:ext cx="472783" cy="472783"/>
              <a:chOff x="0" y="0"/>
              <a:chExt cx="472783" cy="47278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7B61FF"/>
              </a:solidFill>
            </p:spPr>
          </p:sp>
          <p:sp>
            <p:nvSpPr>
              <p:cNvPr name="Freeform 96" id="96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97" id="97"/>
            <p:cNvGrpSpPr/>
            <p:nvPr/>
          </p:nvGrpSpPr>
          <p:grpSpPr>
            <a:xfrm rot="0">
              <a:off x="1089825" y="236385"/>
              <a:ext cx="9631680" cy="975360"/>
              <a:chOff x="0" y="0"/>
              <a:chExt cx="9631680" cy="975360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963168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9631680">
                    <a:moveTo>
                      <a:pt x="0" y="0"/>
                    </a:moveTo>
                    <a:lnTo>
                      <a:pt x="9631680" y="0"/>
                    </a:lnTo>
                    <a:lnTo>
                      <a:pt x="963168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2414" r="0" b="-142414"/>
                </a:stretch>
              </a:blip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-38100"/>
                <a:ext cx="9631680" cy="101346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i="true">
                    <a:solidFill>
                      <a:srgbClr val="FFFFFF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“Caution — low object above, slow down”</a:t>
                </a:r>
              </a:p>
            </p:txBody>
          </p:sp>
        </p:grpSp>
      </p:grp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How WalkSafe Works?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70382" y="3587998"/>
            <a:ext cx="16747236" cy="4144941"/>
          </a:xfrm>
          <a:custGeom>
            <a:avLst/>
            <a:gdLst/>
            <a:ahLst/>
            <a:cxnLst/>
            <a:rect r="r" b="b" t="t" l="l"/>
            <a:pathLst>
              <a:path h="4144941" w="16747236">
                <a:moveTo>
                  <a:pt x="0" y="0"/>
                </a:moveTo>
                <a:lnTo>
                  <a:pt x="16747236" y="0"/>
                </a:lnTo>
                <a:lnTo>
                  <a:pt x="16747236" y="4144941"/>
                </a:lnTo>
                <a:lnTo>
                  <a:pt x="0" y="41449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Key Technologies &amp; Tools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5399" y="1907543"/>
            <a:ext cx="8145275" cy="1342139"/>
            <a:chOff x="0" y="0"/>
            <a:chExt cx="10860367" cy="178951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Language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Python</a:t>
                </a: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755399" y="3480311"/>
            <a:ext cx="8145275" cy="1342139"/>
            <a:chOff x="0" y="0"/>
            <a:chExt cx="10860367" cy="1789519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0F1A2E"/>
              </a:solid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Object Detection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YOLOv8n  (Ultralytics)</a:t>
                </a: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755399" y="5053079"/>
            <a:ext cx="8145275" cy="1342139"/>
            <a:chOff x="0" y="0"/>
            <a:chExt cx="10860367" cy="1789519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Multi-Object Tracking</a:t>
                </a: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ByteTrack</a:t>
                </a: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755399" y="6625847"/>
            <a:ext cx="8145275" cy="1342139"/>
            <a:chOff x="0" y="0"/>
            <a:chExt cx="10860367" cy="1789519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0F1A2E"/>
              </a:solidFill>
            </p:spPr>
          </p:sp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7B61FF"/>
              </a:solidFill>
            </p:spPr>
          </p:sp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54" id="54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Depth Estimation</a:t>
                </a: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Apple Depth Pro</a:t>
                </a:r>
              </a:p>
            </p:txBody>
          </p:sp>
        </p:grpSp>
      </p:grpSp>
      <p:grpSp>
        <p:nvGrpSpPr>
          <p:cNvPr name="Group 60" id="60"/>
          <p:cNvGrpSpPr/>
          <p:nvPr/>
        </p:nvGrpSpPr>
        <p:grpSpPr>
          <a:xfrm rot="0">
            <a:off x="755399" y="8198615"/>
            <a:ext cx="8145275" cy="1342139"/>
            <a:chOff x="0" y="0"/>
            <a:chExt cx="10860367" cy="1789519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64" id="64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7B61FF"/>
              </a:solidFill>
            </p:spPr>
          </p:sp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67" id="67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Motion Analysis</a:t>
                </a:r>
              </a:p>
            </p:txBody>
          </p:sp>
        </p:grpSp>
        <p:grpSp>
          <p:nvGrpSpPr>
            <p:cNvPr name="Group 70" id="70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RAFT-Small  (Optical Flow)</a:t>
                </a:r>
              </a:p>
            </p:txBody>
          </p:sp>
        </p:grpSp>
      </p:grpSp>
      <p:grpSp>
        <p:nvGrpSpPr>
          <p:cNvPr name="Group 73" id="73"/>
          <p:cNvGrpSpPr/>
          <p:nvPr/>
        </p:nvGrpSpPr>
        <p:grpSpPr>
          <a:xfrm rot="0">
            <a:off x="9460487" y="1907543"/>
            <a:ext cx="8145275" cy="1342139"/>
            <a:chOff x="0" y="0"/>
            <a:chExt cx="10860367" cy="1789519"/>
          </a:xfrm>
        </p:grpSpPr>
        <p:grpSp>
          <p:nvGrpSpPr>
            <p:cNvPr name="Group 74" id="74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77" id="77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  <p:grpSp>
          <p:nvGrpSpPr>
            <p:cNvPr name="Group 80" id="80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Text-to-Speech</a:t>
                </a:r>
              </a:p>
            </p:txBody>
          </p:sp>
        </p:grpSp>
        <p:grpSp>
          <p:nvGrpSpPr>
            <p:cNvPr name="Group 83" id="83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85" id="85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edge-tts  (fully offline)</a:t>
                </a:r>
              </a:p>
            </p:txBody>
          </p:sp>
        </p:grpSp>
      </p:grpSp>
      <p:grpSp>
        <p:nvGrpSpPr>
          <p:cNvPr name="Group 86" id="86"/>
          <p:cNvGrpSpPr/>
          <p:nvPr/>
        </p:nvGrpSpPr>
        <p:grpSpPr>
          <a:xfrm rot="0">
            <a:off x="9460487" y="3480311"/>
            <a:ext cx="8145275" cy="1342139"/>
            <a:chOff x="0" y="0"/>
            <a:chExt cx="10860367" cy="1789519"/>
          </a:xfrm>
        </p:grpSpPr>
        <p:grpSp>
          <p:nvGrpSpPr>
            <p:cNvPr name="Group 87" id="87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0F1A2E"/>
              </a:solidFill>
            </p:spPr>
          </p:sp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90" id="90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  <p:grpSp>
          <p:nvGrpSpPr>
            <p:cNvPr name="Group 93" id="93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95" id="95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Camera Interface</a:t>
                </a:r>
              </a:p>
            </p:txBody>
          </p:sp>
        </p:grpSp>
        <p:grpSp>
          <p:nvGrpSpPr>
            <p:cNvPr name="Group 96" id="96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98" id="98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OpenCV</a:t>
                </a:r>
              </a:p>
            </p:txBody>
          </p:sp>
        </p:grpSp>
      </p:grpSp>
      <p:grpSp>
        <p:nvGrpSpPr>
          <p:cNvPr name="Group 99" id="99"/>
          <p:cNvGrpSpPr/>
          <p:nvPr/>
        </p:nvGrpSpPr>
        <p:grpSpPr>
          <a:xfrm rot="0">
            <a:off x="9460487" y="5053079"/>
            <a:ext cx="8145275" cy="1342139"/>
            <a:chOff x="0" y="0"/>
            <a:chExt cx="10860367" cy="1789519"/>
          </a:xfrm>
        </p:grpSpPr>
        <p:grpSp>
          <p:nvGrpSpPr>
            <p:cNvPr name="Group 100" id="100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02" id="102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FFD166"/>
              </a:solidFill>
            </p:spPr>
          </p:sp>
          <p:sp>
            <p:nvSpPr>
              <p:cNvPr name="Freeform 105" id="105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Deep Learning</a:t>
                </a: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PyTorch</a:t>
                </a:r>
              </a:p>
            </p:txBody>
          </p:sp>
        </p:grpSp>
      </p:grpSp>
      <p:grpSp>
        <p:nvGrpSpPr>
          <p:cNvPr name="Group 112" id="112"/>
          <p:cNvGrpSpPr/>
          <p:nvPr/>
        </p:nvGrpSpPr>
        <p:grpSpPr>
          <a:xfrm rot="0">
            <a:off x="9460487" y="6625847"/>
            <a:ext cx="8145275" cy="1342139"/>
            <a:chOff x="0" y="0"/>
            <a:chExt cx="10860367" cy="1789519"/>
          </a:xfrm>
        </p:grpSpPr>
        <p:grpSp>
          <p:nvGrpSpPr>
            <p:cNvPr name="Group 113" id="113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114" id="114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0F1A2E"/>
              </a:solidFill>
            </p:spPr>
          </p:sp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16" id="116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117" id="117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7A8FA6"/>
              </a:solidFill>
            </p:spPr>
          </p:sp>
          <p:sp>
            <p:nvSpPr>
              <p:cNvPr name="Freeform 118" id="118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7A8FA6"/>
              </a:solidFill>
            </p:spPr>
          </p:sp>
        </p:grpSp>
        <p:grpSp>
          <p:nvGrpSpPr>
            <p:cNvPr name="Group 119" id="119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120" id="120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121" id="121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Version Control</a:t>
                </a:r>
              </a:p>
            </p:txBody>
          </p:sp>
        </p:grpSp>
        <p:grpSp>
          <p:nvGrpSpPr>
            <p:cNvPr name="Group 122" id="122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123" id="123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124" id="124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Git, GitHub</a:t>
                </a:r>
              </a:p>
            </p:txBody>
          </p:sp>
        </p:grpSp>
      </p:grpSp>
      <p:grpSp>
        <p:nvGrpSpPr>
          <p:cNvPr name="Group 125" id="125"/>
          <p:cNvGrpSpPr/>
          <p:nvPr/>
        </p:nvGrpSpPr>
        <p:grpSpPr>
          <a:xfrm rot="0">
            <a:off x="9460487" y="8198615"/>
            <a:ext cx="8145275" cy="1342139"/>
            <a:chOff x="0" y="0"/>
            <a:chExt cx="10860367" cy="1789519"/>
          </a:xfrm>
        </p:grpSpPr>
        <p:grpSp>
          <p:nvGrpSpPr>
            <p:cNvPr name="Group 126" id="126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127" id="127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28" id="128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29" id="129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130" id="130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7A8FA6"/>
              </a:solidFill>
            </p:spPr>
          </p:sp>
          <p:sp>
            <p:nvSpPr>
              <p:cNvPr name="Freeform 131" id="131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7A8FA6"/>
              </a:solidFill>
            </p:spPr>
          </p:sp>
        </p:grpSp>
        <p:grpSp>
          <p:nvGrpSpPr>
            <p:cNvPr name="Group 132" id="132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134" id="134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Demo Platform</a:t>
                </a:r>
              </a:p>
            </p:txBody>
          </p:sp>
        </p:grpSp>
        <p:grpSp>
          <p:nvGrpSpPr>
            <p:cNvPr name="Group 135" id="135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136" id="136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137" id="137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Standard laptop webcam / USB</a:t>
                </a:r>
              </a:p>
            </p:txBody>
          </p:sp>
        </p:grpSp>
      </p:grp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References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5399" y="2632205"/>
            <a:ext cx="16855945" cy="945385"/>
            <a:chOff x="0" y="0"/>
            <a:chExt cx="22474593" cy="126051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31407" cy="1155535"/>
              <a:chOff x="0" y="0"/>
              <a:chExt cx="131407" cy="115553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6891"/>
                <a:ext cx="97536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1318" cy="1155448"/>
              </a:xfrm>
              <a:custGeom>
                <a:avLst/>
                <a:gdLst/>
                <a:ahLst/>
                <a:cxnLst/>
                <a:rect r="r" b="b" t="t" l="l"/>
                <a:pathLst>
                  <a:path h="1155448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138555"/>
                    </a:lnTo>
                    <a:cubicBezTo>
                      <a:pt x="131318" y="1147953"/>
                      <a:pt x="123698" y="1155446"/>
                      <a:pt x="114427" y="1155446"/>
                    </a:cubicBezTo>
                    <a:lnTo>
                      <a:pt x="16891" y="1155446"/>
                    </a:lnTo>
                    <a:cubicBezTo>
                      <a:pt x="7620" y="1155573"/>
                      <a:pt x="0" y="1147953"/>
                      <a:pt x="0" y="113855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38555"/>
                    </a:lnTo>
                    <a:lnTo>
                      <a:pt x="16891" y="1138555"/>
                    </a:lnTo>
                    <a:lnTo>
                      <a:pt x="16891" y="1121664"/>
                    </a:lnTo>
                    <a:lnTo>
                      <a:pt x="114427" y="1121664"/>
                    </a:lnTo>
                    <a:lnTo>
                      <a:pt x="114427" y="1138555"/>
                    </a:lnTo>
                    <a:lnTo>
                      <a:pt x="97536" y="1138555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407073" y="90081"/>
              <a:ext cx="22067520" cy="1170432"/>
              <a:chOff x="0" y="0"/>
              <a:chExt cx="22067520" cy="117043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206752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22067520">
                    <a:moveTo>
                      <a:pt x="0" y="0"/>
                    </a:moveTo>
                    <a:lnTo>
                      <a:pt x="22067520" y="0"/>
                    </a:lnTo>
                    <a:lnTo>
                      <a:pt x="220675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7374" r="0" b="-317374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22067520" cy="121805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[1]  Z. Teed and J. Deng, “RAFT: Recurrent All-Pairs Field Transforms for Optical Flow,” ECCV 2020.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755399" y="3802637"/>
            <a:ext cx="16855945" cy="945385"/>
            <a:chOff x="0" y="0"/>
            <a:chExt cx="22474593" cy="126051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31407" cy="1155535"/>
              <a:chOff x="0" y="0"/>
              <a:chExt cx="131407" cy="115553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16891" y="16891"/>
                <a:ext cx="97536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1318" cy="1155448"/>
              </a:xfrm>
              <a:custGeom>
                <a:avLst/>
                <a:gdLst/>
                <a:ahLst/>
                <a:cxnLst/>
                <a:rect r="r" b="b" t="t" l="l"/>
                <a:pathLst>
                  <a:path h="1155448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138555"/>
                    </a:lnTo>
                    <a:cubicBezTo>
                      <a:pt x="131318" y="1147953"/>
                      <a:pt x="123698" y="1155446"/>
                      <a:pt x="114427" y="1155446"/>
                    </a:cubicBezTo>
                    <a:lnTo>
                      <a:pt x="16891" y="1155446"/>
                    </a:lnTo>
                    <a:cubicBezTo>
                      <a:pt x="7620" y="1155573"/>
                      <a:pt x="0" y="1147953"/>
                      <a:pt x="0" y="113855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38555"/>
                    </a:lnTo>
                    <a:lnTo>
                      <a:pt x="16891" y="1138555"/>
                    </a:lnTo>
                    <a:lnTo>
                      <a:pt x="16891" y="1121664"/>
                    </a:lnTo>
                    <a:lnTo>
                      <a:pt x="114427" y="1121664"/>
                    </a:lnTo>
                    <a:lnTo>
                      <a:pt x="114427" y="1138555"/>
                    </a:lnTo>
                    <a:lnTo>
                      <a:pt x="97536" y="1138555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407073" y="90081"/>
              <a:ext cx="22067520" cy="1170432"/>
              <a:chOff x="0" y="0"/>
              <a:chExt cx="22067520" cy="117043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206752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22067520">
                    <a:moveTo>
                      <a:pt x="0" y="0"/>
                    </a:moveTo>
                    <a:lnTo>
                      <a:pt x="22067520" y="0"/>
                    </a:lnTo>
                    <a:lnTo>
                      <a:pt x="220675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7374" r="0" b="-317374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22067520" cy="121805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[2]  L. Zhang et al., “ByteTrack: Multi-Object Tracking by Associating Every Detection Box,” ECCV 2022.</a:t>
                </a: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755399" y="4973069"/>
            <a:ext cx="16855945" cy="945385"/>
            <a:chOff x="0" y="0"/>
            <a:chExt cx="22474593" cy="1260513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31407" cy="1155535"/>
              <a:chOff x="0" y="0"/>
              <a:chExt cx="131407" cy="115553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16891" y="16891"/>
                <a:ext cx="97536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31318" cy="1155448"/>
              </a:xfrm>
              <a:custGeom>
                <a:avLst/>
                <a:gdLst/>
                <a:ahLst/>
                <a:cxnLst/>
                <a:rect r="r" b="b" t="t" l="l"/>
                <a:pathLst>
                  <a:path h="1155448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138555"/>
                    </a:lnTo>
                    <a:cubicBezTo>
                      <a:pt x="131318" y="1147953"/>
                      <a:pt x="123698" y="1155446"/>
                      <a:pt x="114427" y="1155446"/>
                    </a:cubicBezTo>
                    <a:lnTo>
                      <a:pt x="16891" y="1155446"/>
                    </a:lnTo>
                    <a:cubicBezTo>
                      <a:pt x="7620" y="1155573"/>
                      <a:pt x="0" y="1147953"/>
                      <a:pt x="0" y="113855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38555"/>
                    </a:lnTo>
                    <a:lnTo>
                      <a:pt x="16891" y="1138555"/>
                    </a:lnTo>
                    <a:lnTo>
                      <a:pt x="16891" y="1121664"/>
                    </a:lnTo>
                    <a:lnTo>
                      <a:pt x="114427" y="1121664"/>
                    </a:lnTo>
                    <a:lnTo>
                      <a:pt x="114427" y="1138555"/>
                    </a:lnTo>
                    <a:lnTo>
                      <a:pt x="97536" y="1138555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407073" y="90081"/>
              <a:ext cx="22067520" cy="1170432"/>
              <a:chOff x="0" y="0"/>
              <a:chExt cx="22067520" cy="117043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206752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22067520">
                    <a:moveTo>
                      <a:pt x="0" y="0"/>
                    </a:moveTo>
                    <a:lnTo>
                      <a:pt x="22067520" y="0"/>
                    </a:lnTo>
                    <a:lnTo>
                      <a:pt x="220675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7374" r="0" b="-317374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22067520" cy="121805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[3]  Apple ML Research, “Depth Pro: Sharp Monocular Metric Depth in Less Than a Second,” arXiv:2410.02073, 2024.</a:t>
                </a:r>
              </a:p>
            </p:txBody>
          </p:sp>
        </p:grpSp>
      </p:grpSp>
      <p:grpSp>
        <p:nvGrpSpPr>
          <p:cNvPr name="Group 29" id="29"/>
          <p:cNvGrpSpPr/>
          <p:nvPr/>
        </p:nvGrpSpPr>
        <p:grpSpPr>
          <a:xfrm rot="0">
            <a:off x="755399" y="6143501"/>
            <a:ext cx="16855945" cy="945385"/>
            <a:chOff x="0" y="0"/>
            <a:chExt cx="22474593" cy="1260513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31407" cy="1155535"/>
              <a:chOff x="0" y="0"/>
              <a:chExt cx="131407" cy="115553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16891" y="16891"/>
                <a:ext cx="97536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31318" cy="1155448"/>
              </a:xfrm>
              <a:custGeom>
                <a:avLst/>
                <a:gdLst/>
                <a:ahLst/>
                <a:cxnLst/>
                <a:rect r="r" b="b" t="t" l="l"/>
                <a:pathLst>
                  <a:path h="1155448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138555"/>
                    </a:lnTo>
                    <a:cubicBezTo>
                      <a:pt x="131318" y="1147953"/>
                      <a:pt x="123698" y="1155446"/>
                      <a:pt x="114427" y="1155446"/>
                    </a:cubicBezTo>
                    <a:lnTo>
                      <a:pt x="16891" y="1155446"/>
                    </a:lnTo>
                    <a:cubicBezTo>
                      <a:pt x="7620" y="1155573"/>
                      <a:pt x="0" y="1147953"/>
                      <a:pt x="0" y="113855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38555"/>
                    </a:lnTo>
                    <a:lnTo>
                      <a:pt x="16891" y="1138555"/>
                    </a:lnTo>
                    <a:lnTo>
                      <a:pt x="16891" y="1121664"/>
                    </a:lnTo>
                    <a:lnTo>
                      <a:pt x="114427" y="1121664"/>
                    </a:lnTo>
                    <a:lnTo>
                      <a:pt x="114427" y="1138555"/>
                    </a:lnTo>
                    <a:lnTo>
                      <a:pt x="97536" y="1138555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407073" y="90081"/>
              <a:ext cx="22067520" cy="1170432"/>
              <a:chOff x="0" y="0"/>
              <a:chExt cx="22067520" cy="1170432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206752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22067520">
                    <a:moveTo>
                      <a:pt x="0" y="0"/>
                    </a:moveTo>
                    <a:lnTo>
                      <a:pt x="22067520" y="0"/>
                    </a:lnTo>
                    <a:lnTo>
                      <a:pt x="220675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7374" r="0" b="-317374"/>
                </a:stretch>
              </a:blip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47625"/>
                <a:ext cx="22067520" cy="121805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[4]  G. Jocher et al., “Ultralytics YOLOv8,” GitHub Repository, 2023.</a:t>
                </a: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755399" y="7313933"/>
            <a:ext cx="16855945" cy="945385"/>
            <a:chOff x="0" y="0"/>
            <a:chExt cx="22474593" cy="1260513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131407" cy="1155535"/>
              <a:chOff x="0" y="0"/>
              <a:chExt cx="131407" cy="1155535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16891" y="16891"/>
                <a:ext cx="97536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31318" cy="1155448"/>
              </a:xfrm>
              <a:custGeom>
                <a:avLst/>
                <a:gdLst/>
                <a:ahLst/>
                <a:cxnLst/>
                <a:rect r="r" b="b" t="t" l="l"/>
                <a:pathLst>
                  <a:path h="1155448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138555"/>
                    </a:lnTo>
                    <a:cubicBezTo>
                      <a:pt x="131318" y="1147953"/>
                      <a:pt x="123698" y="1155446"/>
                      <a:pt x="114427" y="1155446"/>
                    </a:cubicBezTo>
                    <a:lnTo>
                      <a:pt x="16891" y="1155446"/>
                    </a:lnTo>
                    <a:cubicBezTo>
                      <a:pt x="7620" y="1155573"/>
                      <a:pt x="0" y="1147953"/>
                      <a:pt x="0" y="113855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38555"/>
                    </a:lnTo>
                    <a:lnTo>
                      <a:pt x="16891" y="1138555"/>
                    </a:lnTo>
                    <a:lnTo>
                      <a:pt x="16891" y="1121664"/>
                    </a:lnTo>
                    <a:lnTo>
                      <a:pt x="114427" y="1121664"/>
                    </a:lnTo>
                    <a:lnTo>
                      <a:pt x="114427" y="1138555"/>
                    </a:lnTo>
                    <a:lnTo>
                      <a:pt x="97536" y="1138555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407073" y="90081"/>
              <a:ext cx="22067520" cy="1170432"/>
              <a:chOff x="0" y="0"/>
              <a:chExt cx="22067520" cy="1170432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206752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22067520">
                    <a:moveTo>
                      <a:pt x="0" y="0"/>
                    </a:moveTo>
                    <a:lnTo>
                      <a:pt x="22067520" y="0"/>
                    </a:lnTo>
                    <a:lnTo>
                      <a:pt x="220675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7374" r="0" b="-317374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47625"/>
                <a:ext cx="22067520" cy="121805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[5]  World Health Organization, “Blindness and Vision Impairment,” WHO Fact Sheet, 2023.</a:t>
                </a: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0">
            <a:off x="755399" y="8484365"/>
            <a:ext cx="16855945" cy="945385"/>
            <a:chOff x="0" y="0"/>
            <a:chExt cx="22474593" cy="1260513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131407" cy="1155535"/>
              <a:chOff x="0" y="0"/>
              <a:chExt cx="131407" cy="1155535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16891" y="16891"/>
                <a:ext cx="97536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31318" cy="1155448"/>
              </a:xfrm>
              <a:custGeom>
                <a:avLst/>
                <a:gdLst/>
                <a:ahLst/>
                <a:cxnLst/>
                <a:rect r="r" b="b" t="t" l="l"/>
                <a:pathLst>
                  <a:path h="1155448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138555"/>
                    </a:lnTo>
                    <a:cubicBezTo>
                      <a:pt x="131318" y="1147953"/>
                      <a:pt x="123698" y="1155446"/>
                      <a:pt x="114427" y="1155446"/>
                    </a:cubicBezTo>
                    <a:lnTo>
                      <a:pt x="16891" y="1155446"/>
                    </a:lnTo>
                    <a:cubicBezTo>
                      <a:pt x="7620" y="1155573"/>
                      <a:pt x="0" y="1147953"/>
                      <a:pt x="0" y="113855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38555"/>
                    </a:lnTo>
                    <a:lnTo>
                      <a:pt x="16891" y="1138555"/>
                    </a:lnTo>
                    <a:lnTo>
                      <a:pt x="16891" y="1121664"/>
                    </a:lnTo>
                    <a:lnTo>
                      <a:pt x="114427" y="1121664"/>
                    </a:lnTo>
                    <a:lnTo>
                      <a:pt x="114427" y="1138555"/>
                    </a:lnTo>
                    <a:lnTo>
                      <a:pt x="97536" y="1138555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47" id="47"/>
            <p:cNvGrpSpPr/>
            <p:nvPr/>
          </p:nvGrpSpPr>
          <p:grpSpPr>
            <a:xfrm rot="0">
              <a:off x="407073" y="90081"/>
              <a:ext cx="22067520" cy="1170432"/>
              <a:chOff x="0" y="0"/>
              <a:chExt cx="22067520" cy="1170432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2206752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22067520">
                    <a:moveTo>
                      <a:pt x="0" y="0"/>
                    </a:moveTo>
                    <a:lnTo>
                      <a:pt x="22067520" y="0"/>
                    </a:lnTo>
                    <a:lnTo>
                      <a:pt x="220675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7374" r="0" b="-317374"/>
                </a:stretch>
              </a:blip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47625"/>
                <a:ext cx="22067520" cy="121805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[6]  H. Ye, Y. Chen and Z. Liu, “Sound of Vision: Natural Soundscape Synthesis for the Visually Impaired,” ICCV 2021.</a:t>
                </a:r>
              </a:p>
            </p:txBody>
          </p:sp>
        </p:grpSp>
      </p:grp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0976" y="2377440"/>
            <a:ext cx="9875520" cy="2377440"/>
            <a:chOff x="0" y="0"/>
            <a:chExt cx="13167360" cy="3169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67361" cy="3169920"/>
            </a:xfrm>
            <a:custGeom>
              <a:avLst/>
              <a:gdLst/>
              <a:ahLst/>
              <a:cxnLst/>
              <a:rect r="r" b="b" t="t" l="l"/>
              <a:pathLst>
                <a:path h="316992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37" r="0" b="-309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3167360" cy="3179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0"/>
                </a:lnSpc>
              </a:pPr>
              <a:r>
                <a:rPr lang="en-US" sz="108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Thank You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8279" y="4925063"/>
            <a:ext cx="3683003" cy="153419"/>
            <a:chOff x="0" y="0"/>
            <a:chExt cx="49106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4876800" cy="170688"/>
            </a:xfrm>
            <a:custGeom>
              <a:avLst/>
              <a:gdLst/>
              <a:ahLst/>
              <a:cxnLst/>
              <a:rect r="r" b="b" t="t" l="l"/>
              <a:pathLst>
                <a:path h="1706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10582" cy="204472"/>
            </a:xfrm>
            <a:custGeom>
              <a:avLst/>
              <a:gdLst/>
              <a:ahLst/>
              <a:cxnLst/>
              <a:rect r="r" b="b" t="t" l="l"/>
              <a:pathLst>
                <a:path h="20447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87579"/>
                  </a:lnTo>
                  <a:cubicBezTo>
                    <a:pt x="4910582" y="196977"/>
                    <a:pt x="4902962" y="204470"/>
                    <a:pt x="48936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4893691" y="170688"/>
                  </a:lnTo>
                  <a:lnTo>
                    <a:pt x="4893691" y="187579"/>
                  </a:lnTo>
                  <a:lnTo>
                    <a:pt x="4876800" y="187579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0976" y="5266944"/>
            <a:ext cx="9875520" cy="950976"/>
            <a:chOff x="0" y="0"/>
            <a:chExt cx="13167360" cy="12679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67361" cy="1267968"/>
            </a:xfrm>
            <a:custGeom>
              <a:avLst/>
              <a:gdLst/>
              <a:ahLst/>
              <a:cxnLst/>
              <a:rect r="r" b="b" t="t" l="l"/>
              <a:pathLst>
                <a:path h="1267968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344" r="0" b="-15234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316736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i="true">
                  <a:solidFill>
                    <a:srgbClr val="7A8FA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Any Questions?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0976" y="6766560"/>
            <a:ext cx="9875520" cy="585216"/>
            <a:chOff x="0" y="0"/>
            <a:chExt cx="13167360" cy="780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67361" cy="780288"/>
            </a:xfrm>
            <a:custGeom>
              <a:avLst/>
              <a:gdLst/>
              <a:ahLst/>
              <a:cxnLst/>
              <a:rect r="r" b="b" t="t" l="l"/>
              <a:pathLst>
                <a:path h="780288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316736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Shah Alam Abir  ·  BSSE-1439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0976" y="7388352"/>
            <a:ext cx="9875520" cy="512064"/>
            <a:chOff x="0" y="0"/>
            <a:chExt cx="1316736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167361" cy="682752"/>
            </a:xfrm>
            <a:custGeom>
              <a:avLst/>
              <a:gdLst/>
              <a:ahLst/>
              <a:cxnLst/>
              <a:rect r="r" b="b" t="t" l="l"/>
              <a:pathLst>
                <a:path h="68275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782" r="0" b="-3257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1673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Supervised by: Dr. Md. Nurul Ahad Tawhid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0976" y="7936992"/>
            <a:ext cx="9875520" cy="512064"/>
            <a:chOff x="0" y="0"/>
            <a:chExt cx="1316736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67361" cy="682752"/>
            </a:xfrm>
            <a:custGeom>
              <a:avLst/>
              <a:gdLst/>
              <a:ahLst/>
              <a:cxnLst/>
              <a:rect r="r" b="b" t="t" l="l"/>
              <a:pathLst>
                <a:path h="68275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782" r="0" b="-32578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31673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4A6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Institute of Information Technology, University of Dhaka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65943" y="-12697"/>
            <a:ext cx="98555" cy="10312403"/>
            <a:chOff x="0" y="0"/>
            <a:chExt cx="131407" cy="137498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97536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97536">
                  <a:moveTo>
                    <a:pt x="0" y="0"/>
                  </a:moveTo>
                  <a:lnTo>
                    <a:pt x="97536" y="0"/>
                  </a:lnTo>
                  <a:lnTo>
                    <a:pt x="97536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1318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3732890"/>
                  </a:lnTo>
                  <a:cubicBezTo>
                    <a:pt x="131318" y="13742290"/>
                    <a:pt x="123698" y="13749782"/>
                    <a:pt x="114427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14427" y="13716000"/>
                  </a:lnTo>
                  <a:lnTo>
                    <a:pt x="114427" y="13732890"/>
                  </a:lnTo>
                  <a:lnTo>
                    <a:pt x="97536" y="13732890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914633" y="810266"/>
            <a:ext cx="153419" cy="153419"/>
            <a:chOff x="0" y="0"/>
            <a:chExt cx="204559" cy="2045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048489" y="810266"/>
            <a:ext cx="153419" cy="153419"/>
            <a:chOff x="0" y="0"/>
            <a:chExt cx="204559" cy="2045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5182345" y="810266"/>
            <a:ext cx="153419" cy="153419"/>
            <a:chOff x="0" y="0"/>
            <a:chExt cx="204559" cy="2045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6316201" y="810266"/>
            <a:ext cx="153419" cy="153419"/>
            <a:chOff x="0" y="0"/>
            <a:chExt cx="204559" cy="2045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914633" y="2547626"/>
            <a:ext cx="153419" cy="153419"/>
            <a:chOff x="0" y="0"/>
            <a:chExt cx="204559" cy="2045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048489" y="2547626"/>
            <a:ext cx="153419" cy="153419"/>
            <a:chOff x="0" y="0"/>
            <a:chExt cx="204559" cy="2045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182345" y="2547626"/>
            <a:ext cx="153419" cy="153419"/>
            <a:chOff x="0" y="0"/>
            <a:chExt cx="204559" cy="20455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6316201" y="2547626"/>
            <a:ext cx="153419" cy="153419"/>
            <a:chOff x="0" y="0"/>
            <a:chExt cx="204559" cy="20455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914633" y="4284986"/>
            <a:ext cx="153419" cy="153419"/>
            <a:chOff x="0" y="0"/>
            <a:chExt cx="204559" cy="20455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048489" y="4284986"/>
            <a:ext cx="153419" cy="153419"/>
            <a:chOff x="0" y="0"/>
            <a:chExt cx="204559" cy="20455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5182345" y="4284986"/>
            <a:ext cx="153419" cy="153419"/>
            <a:chOff x="0" y="0"/>
            <a:chExt cx="204559" cy="20455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6316201" y="4284986"/>
            <a:ext cx="153419" cy="153419"/>
            <a:chOff x="0" y="0"/>
            <a:chExt cx="204559" cy="20455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914633" y="6022346"/>
            <a:ext cx="153419" cy="153419"/>
            <a:chOff x="0" y="0"/>
            <a:chExt cx="204559" cy="20455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4048489" y="6022346"/>
            <a:ext cx="153419" cy="153419"/>
            <a:chOff x="0" y="0"/>
            <a:chExt cx="204559" cy="20455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5182345" y="6022346"/>
            <a:ext cx="153419" cy="153419"/>
            <a:chOff x="0" y="0"/>
            <a:chExt cx="204559" cy="20455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6316201" y="6022346"/>
            <a:ext cx="153419" cy="153419"/>
            <a:chOff x="0" y="0"/>
            <a:chExt cx="204559" cy="20455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914633" y="7759706"/>
            <a:ext cx="153419" cy="153419"/>
            <a:chOff x="0" y="0"/>
            <a:chExt cx="204559" cy="20455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4048489" y="7759706"/>
            <a:ext cx="153419" cy="153419"/>
            <a:chOff x="0" y="0"/>
            <a:chExt cx="204559" cy="20455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5182345" y="7759706"/>
            <a:ext cx="153419" cy="153419"/>
            <a:chOff x="0" y="0"/>
            <a:chExt cx="204559" cy="20455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6316201" y="7759706"/>
            <a:ext cx="153419" cy="153419"/>
            <a:chOff x="0" y="0"/>
            <a:chExt cx="204559" cy="20455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3477627" y="3341122"/>
            <a:ext cx="3474720" cy="2377440"/>
            <a:chOff x="0" y="0"/>
            <a:chExt cx="4632960" cy="3169920"/>
          </a:xfrm>
        </p:grpSpPr>
        <p:sp>
          <p:nvSpPr>
            <p:cNvPr name="Freeform 84" id="84" descr="preencoded.png"/>
            <p:cNvSpPr/>
            <p:nvPr/>
          </p:nvSpPr>
          <p:spPr>
            <a:xfrm flipH="false" flipV="false" rot="0">
              <a:off x="0" y="0"/>
              <a:ext cx="4632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3169920"/>
                  </a:lnTo>
                  <a:lnTo>
                    <a:pt x="0" y="3169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8000"/>
              </a:blip>
              <a:stretch>
                <a:fillRect l="0" t="-23076" r="0" b="-23076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7354550" y="810266"/>
            <a:ext cx="153419" cy="153419"/>
            <a:chOff x="0" y="0"/>
            <a:chExt cx="204559" cy="204559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7354550" y="2547626"/>
            <a:ext cx="153419" cy="153419"/>
            <a:chOff x="0" y="0"/>
            <a:chExt cx="204559" cy="20455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7354550" y="4284986"/>
            <a:ext cx="153419" cy="153419"/>
            <a:chOff x="0" y="0"/>
            <a:chExt cx="204559" cy="20455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7354550" y="6022346"/>
            <a:ext cx="153419" cy="153419"/>
            <a:chOff x="0" y="0"/>
            <a:chExt cx="204559" cy="204559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7354550" y="7759706"/>
            <a:ext cx="153419" cy="153419"/>
            <a:chOff x="0" y="0"/>
            <a:chExt cx="204559" cy="20455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2933812" y="9323325"/>
            <a:ext cx="153419" cy="153419"/>
            <a:chOff x="0" y="0"/>
            <a:chExt cx="204559" cy="20455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4067668" y="9323325"/>
            <a:ext cx="153419" cy="153419"/>
            <a:chOff x="0" y="0"/>
            <a:chExt cx="204559" cy="20455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5201524" y="9323325"/>
            <a:ext cx="153419" cy="153419"/>
            <a:chOff x="0" y="0"/>
            <a:chExt cx="204559" cy="204559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6335380" y="9323325"/>
            <a:ext cx="153419" cy="153419"/>
            <a:chOff x="0" y="0"/>
            <a:chExt cx="204559" cy="204559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7373729" y="9323325"/>
            <a:ext cx="153419" cy="153419"/>
            <a:chOff x="0" y="0"/>
            <a:chExt cx="204559" cy="204559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16891" y="16891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04470" cy="204470"/>
            </a:xfrm>
            <a:custGeom>
              <a:avLst/>
              <a:gdLst/>
              <a:ahLst/>
              <a:cxnLst/>
              <a:rect r="r" b="b" t="t" l="l"/>
              <a:pathLst>
                <a:path h="204470" w="204470">
                  <a:moveTo>
                    <a:pt x="0" y="102235"/>
                  </a:moveTo>
                  <a:cubicBezTo>
                    <a:pt x="0" y="45847"/>
                    <a:pt x="45847" y="0"/>
                    <a:pt x="102235" y="0"/>
                  </a:cubicBezTo>
                  <a:lnTo>
                    <a:pt x="102235" y="16891"/>
                  </a:lnTo>
                  <a:lnTo>
                    <a:pt x="102235" y="0"/>
                  </a:lnTo>
                  <a:cubicBezTo>
                    <a:pt x="158750" y="0"/>
                    <a:pt x="204470" y="45847"/>
                    <a:pt x="204470" y="102235"/>
                  </a:cubicBezTo>
                  <a:cubicBezTo>
                    <a:pt x="204470" y="158750"/>
                    <a:pt x="158623" y="204470"/>
                    <a:pt x="102235" y="204470"/>
                  </a:cubicBezTo>
                  <a:lnTo>
                    <a:pt x="102235" y="187579"/>
                  </a:lnTo>
                  <a:lnTo>
                    <a:pt x="102235" y="204470"/>
                  </a:lnTo>
                  <a:cubicBezTo>
                    <a:pt x="45847" y="204597"/>
                    <a:pt x="0" y="158750"/>
                    <a:pt x="0" y="102235"/>
                  </a:cubicBezTo>
                  <a:lnTo>
                    <a:pt x="16891" y="102235"/>
                  </a:lnTo>
                  <a:lnTo>
                    <a:pt x="31623" y="110490"/>
                  </a:lnTo>
                  <a:cubicBezTo>
                    <a:pt x="27813" y="117221"/>
                    <a:pt x="20066" y="120523"/>
                    <a:pt x="12573" y="118618"/>
                  </a:cubicBezTo>
                  <a:cubicBezTo>
                    <a:pt x="5080" y="116713"/>
                    <a:pt x="0" y="109982"/>
                    <a:pt x="0" y="102235"/>
                  </a:cubicBezTo>
                  <a:moveTo>
                    <a:pt x="33909" y="102235"/>
                  </a:moveTo>
                  <a:lnTo>
                    <a:pt x="16891" y="102235"/>
                  </a:lnTo>
                  <a:lnTo>
                    <a:pt x="2159" y="93980"/>
                  </a:lnTo>
                  <a:cubicBezTo>
                    <a:pt x="5969" y="87249"/>
                    <a:pt x="13716" y="83947"/>
                    <a:pt x="21209" y="85852"/>
                  </a:cubicBezTo>
                  <a:cubicBezTo>
                    <a:pt x="28702" y="87757"/>
                    <a:pt x="33909" y="94488"/>
                    <a:pt x="33909" y="102235"/>
                  </a:cubicBezTo>
                  <a:cubicBezTo>
                    <a:pt x="33909" y="139954"/>
                    <a:pt x="64516" y="170688"/>
                    <a:pt x="102362" y="170688"/>
                  </a:cubicBezTo>
                  <a:cubicBezTo>
                    <a:pt x="140208" y="170688"/>
                    <a:pt x="170815" y="140081"/>
                    <a:pt x="170815" y="102235"/>
                  </a:cubicBezTo>
                  <a:lnTo>
                    <a:pt x="187706" y="102235"/>
                  </a:lnTo>
                  <a:lnTo>
                    <a:pt x="170815" y="102235"/>
                  </a:lnTo>
                  <a:cubicBezTo>
                    <a:pt x="170815" y="64516"/>
                    <a:pt x="140208" y="33782"/>
                    <a:pt x="102362" y="33782"/>
                  </a:cubicBezTo>
                  <a:lnTo>
                    <a:pt x="102362" y="16891"/>
                  </a:lnTo>
                  <a:lnTo>
                    <a:pt x="102362" y="33909"/>
                  </a:lnTo>
                  <a:cubicBezTo>
                    <a:pt x="64643" y="33909"/>
                    <a:pt x="33909" y="64516"/>
                    <a:pt x="33909" y="102362"/>
                  </a:cubicBezTo>
                  <a:close/>
                </a:path>
              </a:pathLst>
            </a:custGeom>
            <a:solidFill>
              <a:srgbClr val="00C8FF">
                <a:alpha val="17255"/>
              </a:srgbClr>
            </a:solidFill>
          </p:spPr>
        </p:sp>
      </p:grp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DAHJ5oCpDjE</dc:identifier>
  <dcterms:modified xsi:type="dcterms:W3CDTF">2011-08-01T06:04:30Z</dcterms:modified>
  <cp:revision>1</cp:revision>
  <dc:title>bsse1439_SPL_3_Proposal.pptx</dc:title>
</cp:coreProperties>
</file>