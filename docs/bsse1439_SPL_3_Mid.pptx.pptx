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Trebuchet MS Bold" charset="1" panose="020B0703020202020204"/>
      <p:regular r:id="rId30"/>
    </p:embeddedFont>
    <p:embeddedFont>
      <p:font typeface="Calibri (MS)" charset="1" panose="020F0502020204030204"/>
      <p:regular r:id="rId31"/>
    </p:embeddedFont>
    <p:embeddedFont>
      <p:font typeface="Calibri (MS) Bold" charset="1" panose="020F0702030404030204"/>
      <p:regular r:id="rId32"/>
    </p:embeddedFont>
    <p:embeddedFont>
      <p:font typeface="Calibri (MS) Italics" charset="1" panose="020F05020202040A0204"/>
      <p:regular r:id="rId35"/>
    </p:embeddedFont>
    <p:embeddedFont>
      <p:font typeface="Trebuchet MS Italics" charset="1" panose="020B0603020202090204"/>
      <p:regular r:id="rId39"/>
    </p:embeddedFont>
    <p:embeddedFont>
      <p:font typeface="Trebuchet MS" charset="1" panose="020B06030202020202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fonts/font42.fntdata" Type="http://schemas.openxmlformats.org/officeDocument/2006/relationships/font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notesSlides/notesSlide11.xml" Type="http://schemas.openxmlformats.org/officeDocument/2006/relationships/notesSlide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6.xml" Type="http://schemas.openxmlformats.org/officeDocument/2006/relationships/notesSlide"/><Relationship Id="rId51" Target="notesSlides/notesSlide17.xml" Type="http://schemas.openxmlformats.org/officeDocument/2006/relationships/notesSlide"/><Relationship Id="rId52" Target="notesSlides/notesSlide18.xml" Type="http://schemas.openxmlformats.org/officeDocument/2006/relationships/notesSlide"/><Relationship Id="rId53" Target="notesSlides/notesSlide19.xml" Type="http://schemas.openxmlformats.org/officeDocument/2006/relationships/notesSlide"/><Relationship Id="rId54" Target="notesSlides/notesSlide20.xml" Type="http://schemas.openxmlformats.org/officeDocument/2006/relationships/notesSlide"/><Relationship Id="rId55" Target="notesSlides/notesSlide21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0976" y="1554480"/>
            <a:ext cx="10607040" cy="2103120"/>
            <a:chOff x="0" y="0"/>
            <a:chExt cx="14142720" cy="2804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27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72" r="0" b="-482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142720" cy="2823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19"/>
                </a:lnSpc>
              </a:pPr>
              <a:r>
                <a:rPr lang="en-US" sz="11600" b="true">
                  <a:solidFill>
                    <a:srgbClr val="00C8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WalkSafe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2416" y="3545205"/>
            <a:ext cx="1042416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7A8FA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 Assistant for Visually Impaired Persons in </a:t>
            </a:r>
          </a:p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7A8FA6"/>
                </a:solidFill>
                <a:latin typeface="Calibri (MS)"/>
                <a:ea typeface="Calibri (MS)"/>
                <a:cs typeface="Calibri (MS)"/>
                <a:sym typeface="Calibri (MS)"/>
              </a:rPr>
              <a:t>Dense Urban Environments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8279" y="5892934"/>
            <a:ext cx="4048763" cy="98555"/>
            <a:chOff x="0" y="0"/>
            <a:chExt cx="539835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5364480" cy="97536"/>
            </a:xfrm>
            <a:custGeom>
              <a:avLst/>
              <a:gdLst/>
              <a:ahLst/>
              <a:cxnLst/>
              <a:rect r="r" b="b" t="t" l="l"/>
              <a:pathLst>
                <a:path h="9753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98262" cy="131320"/>
            </a:xfrm>
            <a:custGeom>
              <a:avLst/>
              <a:gdLst/>
              <a:ahLst/>
              <a:cxnLst/>
              <a:rect r="r" b="b" t="t" l="l"/>
              <a:pathLst>
                <a:path h="131320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14427"/>
                  </a:lnTo>
                  <a:cubicBezTo>
                    <a:pt x="5398262" y="123825"/>
                    <a:pt x="5390642" y="131318"/>
                    <a:pt x="538137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5381371" y="97536"/>
                  </a:lnTo>
                  <a:lnTo>
                    <a:pt x="5381371" y="114427"/>
                  </a:lnTo>
                  <a:lnTo>
                    <a:pt x="5364480" y="114427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8279" y="6258694"/>
            <a:ext cx="4999739" cy="3272533"/>
            <a:chOff x="0" y="0"/>
            <a:chExt cx="6666319" cy="436337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666319" cy="4363377"/>
              <a:chOff x="0" y="0"/>
              <a:chExt cx="6666319" cy="436337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16891" y="14299"/>
                <a:ext cx="6632448" cy="4334705"/>
              </a:xfrm>
              <a:custGeom>
                <a:avLst/>
                <a:gdLst/>
                <a:ahLst/>
                <a:cxnLst/>
                <a:rect r="r" b="b" t="t" l="l"/>
                <a:pathLst>
                  <a:path h="4334705" w="6632448">
                    <a:moveTo>
                      <a:pt x="0" y="0"/>
                    </a:moveTo>
                    <a:lnTo>
                      <a:pt x="6632448" y="0"/>
                    </a:lnTo>
                    <a:lnTo>
                      <a:pt x="6632448" y="4334704"/>
                    </a:lnTo>
                    <a:lnTo>
                      <a:pt x="0" y="4334704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66230" cy="4363302"/>
              </a:xfrm>
              <a:custGeom>
                <a:avLst/>
                <a:gdLst/>
                <a:ahLst/>
                <a:cxnLst/>
                <a:rect r="r" b="b" t="t" l="l"/>
                <a:pathLst>
                  <a:path h="4363302" w="6666230">
                    <a:moveTo>
                      <a:pt x="16891" y="0"/>
                    </a:moveTo>
                    <a:lnTo>
                      <a:pt x="6649339" y="0"/>
                    </a:lnTo>
                    <a:cubicBezTo>
                      <a:pt x="6658737" y="0"/>
                      <a:pt x="6666230" y="6450"/>
                      <a:pt x="6666230" y="14299"/>
                    </a:cubicBezTo>
                    <a:lnTo>
                      <a:pt x="6666230" y="4349003"/>
                    </a:lnTo>
                    <a:cubicBezTo>
                      <a:pt x="6666230" y="4356959"/>
                      <a:pt x="6658610" y="4363302"/>
                      <a:pt x="6649339" y="4363302"/>
                    </a:cubicBezTo>
                    <a:lnTo>
                      <a:pt x="16891" y="4363302"/>
                    </a:lnTo>
                    <a:cubicBezTo>
                      <a:pt x="7493" y="4363302"/>
                      <a:pt x="0" y="4356852"/>
                      <a:pt x="0" y="4349003"/>
                    </a:cubicBezTo>
                    <a:lnTo>
                      <a:pt x="0" y="14299"/>
                    </a:lnTo>
                    <a:cubicBezTo>
                      <a:pt x="0" y="6450"/>
                      <a:pt x="7620" y="0"/>
                      <a:pt x="16891" y="0"/>
                    </a:cubicBezTo>
                    <a:moveTo>
                      <a:pt x="16891" y="28705"/>
                    </a:moveTo>
                    <a:lnTo>
                      <a:pt x="16891" y="14299"/>
                    </a:lnTo>
                    <a:lnTo>
                      <a:pt x="33909" y="14299"/>
                    </a:lnTo>
                    <a:lnTo>
                      <a:pt x="33909" y="4349003"/>
                    </a:lnTo>
                    <a:lnTo>
                      <a:pt x="16891" y="4349003"/>
                    </a:lnTo>
                    <a:lnTo>
                      <a:pt x="16891" y="4334705"/>
                    </a:lnTo>
                    <a:lnTo>
                      <a:pt x="6649339" y="4334705"/>
                    </a:lnTo>
                    <a:lnTo>
                      <a:pt x="6649339" y="4349003"/>
                    </a:lnTo>
                    <a:lnTo>
                      <a:pt x="6632448" y="4349003"/>
                    </a:lnTo>
                    <a:lnTo>
                      <a:pt x="6632448" y="14299"/>
                    </a:lnTo>
                    <a:lnTo>
                      <a:pt x="6649339" y="14299"/>
                    </a:lnTo>
                    <a:lnTo>
                      <a:pt x="6649339" y="28705"/>
                    </a:lnTo>
                    <a:lnTo>
                      <a:pt x="16891" y="28705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07073" y="260769"/>
              <a:ext cx="5852160" cy="585216"/>
              <a:chOff x="0" y="0"/>
              <a:chExt cx="5852160" cy="58521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852160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4850" r="0" b="-144850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5852160" cy="6042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39"/>
                  </a:lnSpc>
                </a:pPr>
                <a:r>
                  <a:rPr lang="en-US" b="true" sz="1700" spc="400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PRESENTED BY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407073" y="919137"/>
              <a:ext cx="5852160" cy="742851"/>
              <a:chOff x="0" y="0"/>
              <a:chExt cx="5852160" cy="74285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852160" cy="742851"/>
              </a:xfrm>
              <a:custGeom>
                <a:avLst/>
                <a:gdLst/>
                <a:ahLst/>
                <a:cxnLst/>
                <a:rect r="r" b="b" t="t" l="l"/>
                <a:pathLst>
                  <a:path h="742851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742851"/>
                    </a:lnTo>
                    <a:lnTo>
                      <a:pt x="0" y="74285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4265" r="0" b="-102739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5852160" cy="79047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Shah Alam Abir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407073" y="1699425"/>
              <a:ext cx="5852160" cy="1341120"/>
              <a:chOff x="0" y="0"/>
              <a:chExt cx="5852160" cy="134112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852160" cy="1341120"/>
              </a:xfrm>
              <a:custGeom>
                <a:avLst/>
                <a:gdLst/>
                <a:ahLst/>
                <a:cxnLst/>
                <a:rect r="r" b="b" t="t" l="l"/>
                <a:pathLst>
                  <a:path h="1341120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341120"/>
                    </a:lnTo>
                    <a:lnTo>
                      <a:pt x="0" y="13411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025" r="0" b="-35025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5852160" cy="13887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BSSE — 1439</a:t>
                </a:r>
              </a:p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IIT, University of Dhaka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407073" y="3548545"/>
              <a:ext cx="5852160" cy="585216"/>
              <a:chOff x="0" y="0"/>
              <a:chExt cx="5852160" cy="58521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852160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4850" r="0" b="-144850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5852160" cy="62331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02 August</a:t>
                </a:r>
                <a:r>
                  <a:rPr lang="en-US" sz="20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2026</a:t>
                </a: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6241799" y="6258694"/>
            <a:ext cx="5328923" cy="3272533"/>
            <a:chOff x="0" y="0"/>
            <a:chExt cx="7105231" cy="436337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105231" cy="4363377"/>
              <a:chOff x="0" y="0"/>
              <a:chExt cx="7105231" cy="436337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16891" y="14299"/>
                <a:ext cx="7071360" cy="4334705"/>
              </a:xfrm>
              <a:custGeom>
                <a:avLst/>
                <a:gdLst/>
                <a:ahLst/>
                <a:cxnLst/>
                <a:rect r="r" b="b" t="t" l="l"/>
                <a:pathLst>
                  <a:path h="4334705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4334704"/>
                    </a:lnTo>
                    <a:lnTo>
                      <a:pt x="0" y="4334704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105142" cy="4363302"/>
              </a:xfrm>
              <a:custGeom>
                <a:avLst/>
                <a:gdLst/>
                <a:ahLst/>
                <a:cxnLst/>
                <a:rect r="r" b="b" t="t" l="l"/>
                <a:pathLst>
                  <a:path h="436330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6450"/>
                      <a:pt x="7105142" y="14299"/>
                    </a:cubicBezTo>
                    <a:lnTo>
                      <a:pt x="7105142" y="4349003"/>
                    </a:lnTo>
                    <a:cubicBezTo>
                      <a:pt x="7105142" y="4356959"/>
                      <a:pt x="7097522" y="4363302"/>
                      <a:pt x="7088251" y="4363302"/>
                    </a:cubicBezTo>
                    <a:lnTo>
                      <a:pt x="16891" y="4363302"/>
                    </a:lnTo>
                    <a:cubicBezTo>
                      <a:pt x="7493" y="4363302"/>
                      <a:pt x="0" y="4356852"/>
                      <a:pt x="0" y="4349003"/>
                    </a:cubicBezTo>
                    <a:lnTo>
                      <a:pt x="0" y="14299"/>
                    </a:lnTo>
                    <a:cubicBezTo>
                      <a:pt x="0" y="6450"/>
                      <a:pt x="7620" y="0"/>
                      <a:pt x="16891" y="0"/>
                    </a:cubicBezTo>
                    <a:moveTo>
                      <a:pt x="16891" y="28705"/>
                    </a:moveTo>
                    <a:lnTo>
                      <a:pt x="16891" y="14299"/>
                    </a:lnTo>
                    <a:lnTo>
                      <a:pt x="33909" y="14299"/>
                    </a:lnTo>
                    <a:lnTo>
                      <a:pt x="33909" y="4349003"/>
                    </a:lnTo>
                    <a:lnTo>
                      <a:pt x="16891" y="4349003"/>
                    </a:lnTo>
                    <a:lnTo>
                      <a:pt x="16891" y="4334705"/>
                    </a:lnTo>
                    <a:lnTo>
                      <a:pt x="7088251" y="4334705"/>
                    </a:lnTo>
                    <a:lnTo>
                      <a:pt x="7088251" y="4349003"/>
                    </a:lnTo>
                    <a:lnTo>
                      <a:pt x="7071360" y="4349003"/>
                    </a:lnTo>
                    <a:lnTo>
                      <a:pt x="7071360" y="14299"/>
                    </a:lnTo>
                    <a:lnTo>
                      <a:pt x="7088251" y="14299"/>
                    </a:lnTo>
                    <a:lnTo>
                      <a:pt x="7088251" y="28705"/>
                    </a:lnTo>
                    <a:lnTo>
                      <a:pt x="16891" y="28705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407073" y="260769"/>
              <a:ext cx="6339840" cy="585216"/>
              <a:chOff x="0" y="0"/>
              <a:chExt cx="6339840" cy="58521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339840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087" r="0" b="-161087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9050"/>
                <a:ext cx="6339840" cy="6042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39"/>
                  </a:lnSpc>
                </a:pPr>
                <a:r>
                  <a:rPr lang="en-US" b="true" sz="1700" spc="400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SUPERVISED BY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407073" y="919137"/>
              <a:ext cx="6339840" cy="731520"/>
              <a:chOff x="0" y="0"/>
              <a:chExt cx="6339840" cy="73152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33984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8870" r="0" b="-118870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6339840" cy="7886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7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Dr. Md. Nurul Ahad Tawhid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407073" y="1699425"/>
              <a:ext cx="6339840" cy="1755648"/>
              <a:chOff x="0" y="0"/>
              <a:chExt cx="6339840" cy="1755648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339840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362" r="0" b="-20362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6339840" cy="18032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Asso</a:t>
                </a: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ciate Professor</a:t>
                </a:r>
              </a:p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Institute of Information Technology,</a:t>
                </a:r>
              </a:p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University of Dhaka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11965943" y="-12697"/>
            <a:ext cx="6334763" cy="10312403"/>
            <a:chOff x="0" y="0"/>
            <a:chExt cx="8446351" cy="13749871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8446351" cy="13749871"/>
              <a:chOff x="0" y="0"/>
              <a:chExt cx="8446351" cy="1374987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6891" y="16891"/>
                <a:ext cx="8412481" cy="13715999"/>
              </a:xfrm>
              <a:custGeom>
                <a:avLst/>
                <a:gdLst/>
                <a:ahLst/>
                <a:cxnLst/>
                <a:rect r="r" b="b" t="t" l="l"/>
                <a:pathLst>
                  <a:path h="13715999" w="8412481">
                    <a:moveTo>
                      <a:pt x="0" y="0"/>
                    </a:moveTo>
                    <a:lnTo>
                      <a:pt x="8412481" y="0"/>
                    </a:lnTo>
                    <a:lnTo>
                      <a:pt x="8412481" y="13715999"/>
                    </a:lnTo>
                    <a:lnTo>
                      <a:pt x="0" y="13715999"/>
                    </a:lnTo>
                    <a:close/>
                  </a:path>
                </a:pathLst>
              </a:custGeom>
              <a:solidFill>
                <a:srgbClr val="0D1E35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446262" cy="13749782"/>
              </a:xfrm>
              <a:custGeom>
                <a:avLst/>
                <a:gdLst/>
                <a:ahLst/>
                <a:cxnLst/>
                <a:rect r="r" b="b" t="t" l="l"/>
                <a:pathLst>
                  <a:path h="13749782" w="8446262">
                    <a:moveTo>
                      <a:pt x="16891" y="0"/>
                    </a:moveTo>
                    <a:lnTo>
                      <a:pt x="8429372" y="0"/>
                    </a:lnTo>
                    <a:cubicBezTo>
                      <a:pt x="8438769" y="0"/>
                      <a:pt x="8446262" y="7620"/>
                      <a:pt x="8446262" y="16891"/>
                    </a:cubicBezTo>
                    <a:lnTo>
                      <a:pt x="8446262" y="13732890"/>
                    </a:lnTo>
                    <a:cubicBezTo>
                      <a:pt x="8446262" y="13742290"/>
                      <a:pt x="8438642" y="13749782"/>
                      <a:pt x="8429372" y="13749782"/>
                    </a:cubicBezTo>
                    <a:lnTo>
                      <a:pt x="16891" y="13749782"/>
                    </a:lnTo>
                    <a:cubicBezTo>
                      <a:pt x="7493" y="13749782"/>
                      <a:pt x="0" y="13742163"/>
                      <a:pt x="0" y="13732890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3732890"/>
                    </a:lnTo>
                    <a:lnTo>
                      <a:pt x="16891" y="13732890"/>
                    </a:lnTo>
                    <a:lnTo>
                      <a:pt x="16891" y="13716000"/>
                    </a:lnTo>
                    <a:lnTo>
                      <a:pt x="8429372" y="13716000"/>
                    </a:lnTo>
                    <a:lnTo>
                      <a:pt x="8429372" y="13732890"/>
                    </a:lnTo>
                    <a:lnTo>
                      <a:pt x="8412480" y="13732890"/>
                    </a:lnTo>
                    <a:lnTo>
                      <a:pt x="8412480" y="16891"/>
                    </a:lnTo>
                    <a:lnTo>
                      <a:pt x="8429372" y="16891"/>
                    </a:lnTo>
                    <a:lnTo>
                      <a:pt x="84293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1E35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131407" cy="13749871"/>
              <a:chOff x="0" y="0"/>
              <a:chExt cx="131407" cy="13749871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6891" y="16891"/>
                <a:ext cx="97536" cy="13715999"/>
              </a:xfrm>
              <a:custGeom>
                <a:avLst/>
                <a:gdLst/>
                <a:ahLst/>
                <a:cxnLst/>
                <a:rect r="r" b="b" t="t" l="l"/>
                <a:pathLst>
                  <a:path h="13715999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3715999"/>
                    </a:lnTo>
                    <a:lnTo>
                      <a:pt x="0" y="1371599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31318" cy="13749782"/>
              </a:xfrm>
              <a:custGeom>
                <a:avLst/>
                <a:gdLst/>
                <a:ahLst/>
                <a:cxnLst/>
                <a:rect r="r" b="b" t="t" l="l"/>
                <a:pathLst>
                  <a:path h="13749782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3732890"/>
                    </a:lnTo>
                    <a:cubicBezTo>
                      <a:pt x="131318" y="13742290"/>
                      <a:pt x="123698" y="13749782"/>
                      <a:pt x="114427" y="13749782"/>
                    </a:cubicBezTo>
                    <a:lnTo>
                      <a:pt x="16891" y="13749782"/>
                    </a:lnTo>
                    <a:cubicBezTo>
                      <a:pt x="7493" y="13749782"/>
                      <a:pt x="0" y="13742163"/>
                      <a:pt x="0" y="13732890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3732890"/>
                    </a:lnTo>
                    <a:lnTo>
                      <a:pt x="16891" y="13732890"/>
                    </a:lnTo>
                    <a:lnTo>
                      <a:pt x="16891" y="13716000"/>
                    </a:lnTo>
                    <a:lnTo>
                      <a:pt x="114427" y="13716000"/>
                    </a:lnTo>
                    <a:lnTo>
                      <a:pt x="114427" y="13732890"/>
                    </a:lnTo>
                    <a:lnTo>
                      <a:pt x="97536" y="13732890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1264920" y="1097283"/>
              <a:ext cx="204559" cy="204559"/>
              <a:chOff x="0" y="0"/>
              <a:chExt cx="204559" cy="20455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2776728" y="1097283"/>
              <a:ext cx="204559" cy="204559"/>
              <a:chOff x="0" y="0"/>
              <a:chExt cx="204559" cy="20455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4288536" y="1097283"/>
              <a:ext cx="204559" cy="204559"/>
              <a:chOff x="0" y="0"/>
              <a:chExt cx="204559" cy="204559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5800344" y="1097283"/>
              <a:ext cx="204559" cy="204559"/>
              <a:chOff x="0" y="0"/>
              <a:chExt cx="204559" cy="20455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1264920" y="3413763"/>
              <a:ext cx="204559" cy="204559"/>
              <a:chOff x="0" y="0"/>
              <a:chExt cx="204559" cy="204559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2776728" y="3413763"/>
              <a:ext cx="204559" cy="204559"/>
              <a:chOff x="0" y="0"/>
              <a:chExt cx="204559" cy="204559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4288536" y="3413763"/>
              <a:ext cx="204559" cy="204559"/>
              <a:chOff x="0" y="0"/>
              <a:chExt cx="204559" cy="204559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6" id="66"/>
            <p:cNvGrpSpPr/>
            <p:nvPr/>
          </p:nvGrpSpPr>
          <p:grpSpPr>
            <a:xfrm rot="0">
              <a:off x="5800344" y="3413763"/>
              <a:ext cx="204559" cy="204559"/>
              <a:chOff x="0" y="0"/>
              <a:chExt cx="204559" cy="204559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1264920" y="5730243"/>
              <a:ext cx="204559" cy="204559"/>
              <a:chOff x="0" y="0"/>
              <a:chExt cx="204559" cy="204559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2776728" y="5730243"/>
              <a:ext cx="204559" cy="204559"/>
              <a:chOff x="0" y="0"/>
              <a:chExt cx="204559" cy="204559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5" id="75"/>
            <p:cNvGrpSpPr/>
            <p:nvPr/>
          </p:nvGrpSpPr>
          <p:grpSpPr>
            <a:xfrm rot="0">
              <a:off x="4288536" y="5730243"/>
              <a:ext cx="204559" cy="204559"/>
              <a:chOff x="0" y="0"/>
              <a:chExt cx="204559" cy="204559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5800344" y="5730243"/>
              <a:ext cx="204559" cy="204559"/>
              <a:chOff x="0" y="0"/>
              <a:chExt cx="204559" cy="204559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1264920" y="8046723"/>
              <a:ext cx="204559" cy="204559"/>
              <a:chOff x="0" y="0"/>
              <a:chExt cx="204559" cy="204559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4" id="84"/>
            <p:cNvGrpSpPr/>
            <p:nvPr/>
          </p:nvGrpSpPr>
          <p:grpSpPr>
            <a:xfrm rot="0">
              <a:off x="2776728" y="8046723"/>
              <a:ext cx="204559" cy="204559"/>
              <a:chOff x="0" y="0"/>
              <a:chExt cx="204559" cy="204559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7" id="87"/>
            <p:cNvGrpSpPr/>
            <p:nvPr/>
          </p:nvGrpSpPr>
          <p:grpSpPr>
            <a:xfrm rot="0">
              <a:off x="4288536" y="8046723"/>
              <a:ext cx="204559" cy="204559"/>
              <a:chOff x="0" y="0"/>
              <a:chExt cx="204559" cy="204559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0" id="90"/>
            <p:cNvGrpSpPr/>
            <p:nvPr/>
          </p:nvGrpSpPr>
          <p:grpSpPr>
            <a:xfrm rot="0">
              <a:off x="5800344" y="8046723"/>
              <a:ext cx="204559" cy="204559"/>
              <a:chOff x="0" y="0"/>
              <a:chExt cx="204559" cy="204559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3" id="93"/>
            <p:cNvGrpSpPr/>
            <p:nvPr/>
          </p:nvGrpSpPr>
          <p:grpSpPr>
            <a:xfrm rot="0">
              <a:off x="1264920" y="10363203"/>
              <a:ext cx="204559" cy="204559"/>
              <a:chOff x="0" y="0"/>
              <a:chExt cx="204559" cy="204559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6" id="96"/>
            <p:cNvGrpSpPr/>
            <p:nvPr/>
          </p:nvGrpSpPr>
          <p:grpSpPr>
            <a:xfrm rot="0">
              <a:off x="2776728" y="10363203"/>
              <a:ext cx="204559" cy="204559"/>
              <a:chOff x="0" y="0"/>
              <a:chExt cx="204559" cy="204559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9" id="99"/>
            <p:cNvGrpSpPr/>
            <p:nvPr/>
          </p:nvGrpSpPr>
          <p:grpSpPr>
            <a:xfrm rot="0">
              <a:off x="4288536" y="10363203"/>
              <a:ext cx="204559" cy="204559"/>
              <a:chOff x="0" y="0"/>
              <a:chExt cx="204559" cy="204559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5800344" y="10363203"/>
              <a:ext cx="204559" cy="204559"/>
              <a:chOff x="0" y="0"/>
              <a:chExt cx="204559" cy="204559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2015579" y="4471759"/>
              <a:ext cx="4632960" cy="3169920"/>
              <a:chOff x="0" y="0"/>
              <a:chExt cx="4632960" cy="3169920"/>
            </a:xfrm>
          </p:grpSpPr>
          <p:sp>
            <p:nvSpPr>
              <p:cNvPr name="Freeform 106" id="106" descr="preencoded.png"/>
              <p:cNvSpPr/>
              <p:nvPr/>
            </p:nvSpPr>
            <p:spPr>
              <a:xfrm flipH="false" flipV="false" rot="0">
                <a:off x="0" y="0"/>
                <a:ext cx="4632960" cy="3169920"/>
              </a:xfrm>
              <a:custGeom>
                <a:avLst/>
                <a:gdLst/>
                <a:ahLst/>
                <a:cxnLst/>
                <a:rect r="r" b="b" t="t" l="l"/>
                <a:pathLst>
                  <a:path h="3169920" w="4632960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3169920"/>
                    </a:lnTo>
                    <a:lnTo>
                      <a:pt x="0" y="316992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alphaModFix amt="78000"/>
                </a:blip>
                <a:stretch>
                  <a:fillRect l="0" t="-23076" r="0" b="-23076"/>
                </a:stretch>
              </a:blipFill>
            </p:spPr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7184809" y="1097283"/>
              <a:ext cx="204559" cy="204559"/>
              <a:chOff x="0" y="0"/>
              <a:chExt cx="204559" cy="204559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7184809" y="3413763"/>
              <a:ext cx="204559" cy="204559"/>
              <a:chOff x="0" y="0"/>
              <a:chExt cx="204559" cy="204559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7184809" y="5730243"/>
              <a:ext cx="204559" cy="204559"/>
              <a:chOff x="0" y="0"/>
              <a:chExt cx="204559" cy="204559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7184809" y="8046723"/>
              <a:ext cx="204559" cy="204559"/>
              <a:chOff x="0" y="0"/>
              <a:chExt cx="204559" cy="204559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7184809" y="10363203"/>
              <a:ext cx="204559" cy="204559"/>
              <a:chOff x="0" y="0"/>
              <a:chExt cx="204559" cy="204559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1290491" y="12448029"/>
              <a:ext cx="204559" cy="204559"/>
              <a:chOff x="0" y="0"/>
              <a:chExt cx="204559" cy="204559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24" id="12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25" id="125"/>
            <p:cNvGrpSpPr/>
            <p:nvPr/>
          </p:nvGrpSpPr>
          <p:grpSpPr>
            <a:xfrm rot="0">
              <a:off x="2802299" y="12448029"/>
              <a:ext cx="204559" cy="204559"/>
              <a:chOff x="0" y="0"/>
              <a:chExt cx="204559" cy="204559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4314107" y="12448029"/>
              <a:ext cx="204559" cy="204559"/>
              <a:chOff x="0" y="0"/>
              <a:chExt cx="204559" cy="204559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5825915" y="12448029"/>
              <a:ext cx="204559" cy="204559"/>
              <a:chOff x="0" y="0"/>
              <a:chExt cx="204559" cy="204559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34" id="134"/>
            <p:cNvGrpSpPr/>
            <p:nvPr/>
          </p:nvGrpSpPr>
          <p:grpSpPr>
            <a:xfrm rot="0">
              <a:off x="7210381" y="12448029"/>
              <a:ext cx="204559" cy="204559"/>
              <a:chOff x="0" y="0"/>
              <a:chExt cx="204559" cy="204559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5350" y="2551745"/>
            <a:ext cx="7919466" cy="733044"/>
            <a:chOff x="0" y="0"/>
            <a:chExt cx="10559288" cy="97739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01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Project Overview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890530" y="3826576"/>
            <a:ext cx="7919466" cy="733044"/>
            <a:chOff x="0" y="0"/>
            <a:chExt cx="10559288" cy="97739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02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Requirements</a:t>
                </a: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895350" y="5102545"/>
            <a:ext cx="7919466" cy="733044"/>
            <a:chOff x="0" y="0"/>
            <a:chExt cx="10559288" cy="97739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03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Usecase Diagram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895350" y="6378514"/>
            <a:ext cx="7919466" cy="733044"/>
            <a:chOff x="0" y="0"/>
            <a:chExt cx="10559288" cy="97739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04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Activity Diagram</a:t>
                </a:r>
              </a:p>
            </p:txBody>
          </p:sp>
        </p:grpSp>
      </p:grpSp>
      <p:grpSp>
        <p:nvGrpSpPr>
          <p:cNvPr name="Group 48" id="48"/>
          <p:cNvGrpSpPr/>
          <p:nvPr/>
        </p:nvGrpSpPr>
        <p:grpSpPr>
          <a:xfrm rot="0">
            <a:off x="890530" y="7654483"/>
            <a:ext cx="7919466" cy="733044"/>
            <a:chOff x="0" y="0"/>
            <a:chExt cx="10559288" cy="977392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05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ER Diagram</a:t>
                </a: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0">
            <a:off x="10094595" y="3826576"/>
            <a:ext cx="7919466" cy="733044"/>
            <a:chOff x="0" y="0"/>
            <a:chExt cx="10559288" cy="977392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07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Pipeline</a:t>
                </a:r>
              </a:p>
            </p:txBody>
          </p:sp>
        </p:grpSp>
      </p:grpSp>
      <p:grpSp>
        <p:nvGrpSpPr>
          <p:cNvPr name="Group 68" id="68"/>
          <p:cNvGrpSpPr/>
          <p:nvPr/>
        </p:nvGrpSpPr>
        <p:grpSpPr>
          <a:xfrm rot="0">
            <a:off x="10094595" y="5101407"/>
            <a:ext cx="7919466" cy="733044"/>
            <a:chOff x="0" y="0"/>
            <a:chExt cx="10559288" cy="977392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08</a:t>
                </a: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Demo</a:t>
                </a:r>
              </a:p>
            </p:txBody>
          </p:sp>
        </p:grpSp>
      </p:grpSp>
      <p:grpSp>
        <p:nvGrpSpPr>
          <p:cNvPr name="Group 78" id="78"/>
          <p:cNvGrpSpPr/>
          <p:nvPr/>
        </p:nvGrpSpPr>
        <p:grpSpPr>
          <a:xfrm rot="0">
            <a:off x="9222743" y="1816103"/>
            <a:ext cx="61979" cy="7980683"/>
            <a:chOff x="0" y="0"/>
            <a:chExt cx="82639" cy="1064091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48768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48768">
                  <a:moveTo>
                    <a:pt x="0" y="0"/>
                  </a:moveTo>
                  <a:lnTo>
                    <a:pt x="48768" y="0"/>
                  </a:lnTo>
                  <a:lnTo>
                    <a:pt x="48768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2550" cy="10640822"/>
            </a:xfrm>
            <a:custGeom>
              <a:avLst/>
              <a:gdLst/>
              <a:ahLst/>
              <a:cxnLst/>
              <a:rect r="r" b="b" t="t" l="l"/>
              <a:pathLst>
                <a:path h="10640822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0623931"/>
                  </a:lnTo>
                  <a:cubicBezTo>
                    <a:pt x="82550" y="10633329"/>
                    <a:pt x="74930" y="10640822"/>
                    <a:pt x="65659" y="10640822"/>
                  </a:cubicBezTo>
                  <a:lnTo>
                    <a:pt x="16891" y="10640822"/>
                  </a:lnTo>
                  <a:cubicBezTo>
                    <a:pt x="7493" y="10640822"/>
                    <a:pt x="0" y="10633202"/>
                    <a:pt x="0" y="10623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623931"/>
                  </a:lnTo>
                  <a:lnTo>
                    <a:pt x="16891" y="10623931"/>
                  </a:lnTo>
                  <a:lnTo>
                    <a:pt x="16891" y="10607040"/>
                  </a:lnTo>
                  <a:lnTo>
                    <a:pt x="65659" y="10607040"/>
                  </a:lnTo>
                  <a:lnTo>
                    <a:pt x="65659" y="10623931"/>
                  </a:lnTo>
                  <a:lnTo>
                    <a:pt x="48768" y="10623931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094595" y="6377376"/>
            <a:ext cx="7919466" cy="733044"/>
            <a:chOff x="0" y="0"/>
            <a:chExt cx="10559288" cy="977392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85" id="85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09</a:t>
                </a: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Status &amp; What’s Next</a:t>
                </a:r>
              </a:p>
            </p:txBody>
          </p:sp>
        </p:grpSp>
      </p:grpSp>
      <p:grpSp>
        <p:nvGrpSpPr>
          <p:cNvPr name="Group 91" id="91"/>
          <p:cNvGrpSpPr/>
          <p:nvPr/>
        </p:nvGrpSpPr>
        <p:grpSpPr>
          <a:xfrm rot="0">
            <a:off x="10094595" y="7653345"/>
            <a:ext cx="7919466" cy="733044"/>
            <a:chOff x="0" y="0"/>
            <a:chExt cx="10559288" cy="977392"/>
          </a:xfrm>
        </p:grpSpPr>
        <p:grpSp>
          <p:nvGrpSpPr>
            <p:cNvPr name="Group 92" id="92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95" id="95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10</a:t>
                </a:r>
              </a:p>
            </p:txBody>
          </p:sp>
        </p:grpSp>
        <p:grpSp>
          <p:nvGrpSpPr>
            <p:cNvPr name="Group 98" id="98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References</a:t>
                </a:r>
              </a:p>
            </p:txBody>
          </p:sp>
        </p:grpSp>
      </p:grpSp>
      <p:grpSp>
        <p:nvGrpSpPr>
          <p:cNvPr name="Group 101" id="101"/>
          <p:cNvGrpSpPr/>
          <p:nvPr/>
        </p:nvGrpSpPr>
        <p:grpSpPr>
          <a:xfrm rot="0">
            <a:off x="10094595" y="2551745"/>
            <a:ext cx="7919466" cy="733044"/>
            <a:chOff x="0" y="0"/>
            <a:chExt cx="10559288" cy="977392"/>
          </a:xfrm>
        </p:grpSpPr>
        <p:grpSp>
          <p:nvGrpSpPr>
            <p:cNvPr name="Group 102" id="102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06</a:t>
                </a:r>
              </a:p>
            </p:txBody>
          </p:sp>
        </p:grpSp>
        <p:grpSp>
          <p:nvGrpSpPr>
            <p:cNvPr name="Group 108" id="108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110" id="110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Component Diagram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Project Overview: The Gap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399" y="1816103"/>
            <a:ext cx="16777211" cy="2000507"/>
            <a:chOff x="0" y="0"/>
            <a:chExt cx="22369615" cy="266734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2369615" cy="2667343"/>
              <a:chOff x="0" y="0"/>
              <a:chExt cx="22369615" cy="266734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22335745" cy="2633472"/>
              </a:xfrm>
              <a:custGeom>
                <a:avLst/>
                <a:gdLst/>
                <a:ahLst/>
                <a:cxnLst/>
                <a:rect r="r" b="b" t="t" l="l"/>
                <a:pathLst>
                  <a:path h="2633472" w="22335745">
                    <a:moveTo>
                      <a:pt x="0" y="0"/>
                    </a:moveTo>
                    <a:lnTo>
                      <a:pt x="22335745" y="0"/>
                    </a:lnTo>
                    <a:lnTo>
                      <a:pt x="22335745" y="2633472"/>
                    </a:lnTo>
                    <a:lnTo>
                      <a:pt x="0" y="2633472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369526" cy="2667254"/>
              </a:xfrm>
              <a:custGeom>
                <a:avLst/>
                <a:gdLst/>
                <a:ahLst/>
                <a:cxnLst/>
                <a:rect r="r" b="b" t="t" l="l"/>
                <a:pathLst>
                  <a:path h="2667254" w="22369526">
                    <a:moveTo>
                      <a:pt x="16891" y="0"/>
                    </a:moveTo>
                    <a:lnTo>
                      <a:pt x="22352636" y="0"/>
                    </a:lnTo>
                    <a:cubicBezTo>
                      <a:pt x="22362033" y="0"/>
                      <a:pt x="22369526" y="7620"/>
                      <a:pt x="22369526" y="16891"/>
                    </a:cubicBezTo>
                    <a:lnTo>
                      <a:pt x="22369526" y="2650363"/>
                    </a:lnTo>
                    <a:cubicBezTo>
                      <a:pt x="22369526" y="2659761"/>
                      <a:pt x="22361906" y="2667254"/>
                      <a:pt x="22352636" y="2667254"/>
                    </a:cubicBezTo>
                    <a:lnTo>
                      <a:pt x="16891" y="2667254"/>
                    </a:lnTo>
                    <a:cubicBezTo>
                      <a:pt x="7493" y="2667254"/>
                      <a:pt x="0" y="2659634"/>
                      <a:pt x="0" y="26503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650363"/>
                    </a:lnTo>
                    <a:lnTo>
                      <a:pt x="16891" y="2650363"/>
                    </a:lnTo>
                    <a:lnTo>
                      <a:pt x="16891" y="2633472"/>
                    </a:lnTo>
                    <a:lnTo>
                      <a:pt x="22352636" y="2633472"/>
                    </a:lnTo>
                    <a:lnTo>
                      <a:pt x="22352636" y="2650363"/>
                    </a:lnTo>
                    <a:lnTo>
                      <a:pt x="22335745" y="2650363"/>
                    </a:lnTo>
                    <a:lnTo>
                      <a:pt x="22335745" y="16891"/>
                    </a:lnTo>
                    <a:lnTo>
                      <a:pt x="22352636" y="16891"/>
                    </a:lnTo>
                    <a:lnTo>
                      <a:pt x="22352636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80175" cy="2667343"/>
              <a:chOff x="0" y="0"/>
              <a:chExt cx="180175" cy="266734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146304" cy="2633472"/>
              </a:xfrm>
              <a:custGeom>
                <a:avLst/>
                <a:gdLst/>
                <a:ahLst/>
                <a:cxnLst/>
                <a:rect r="r" b="b" t="t" l="l"/>
                <a:pathLst>
                  <a:path h="2633472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2633472"/>
                    </a:lnTo>
                    <a:lnTo>
                      <a:pt x="0" y="263347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0086" cy="2667254"/>
              </a:xfrm>
              <a:custGeom>
                <a:avLst/>
                <a:gdLst/>
                <a:ahLst/>
                <a:cxnLst/>
                <a:rect r="r" b="b" t="t" l="l"/>
                <a:pathLst>
                  <a:path h="2667254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620"/>
                      <a:pt x="180086" y="16891"/>
                    </a:cubicBezTo>
                    <a:lnTo>
                      <a:pt x="180086" y="2650363"/>
                    </a:lnTo>
                    <a:cubicBezTo>
                      <a:pt x="180086" y="2659761"/>
                      <a:pt x="172466" y="2667254"/>
                      <a:pt x="163195" y="2667254"/>
                    </a:cubicBezTo>
                    <a:lnTo>
                      <a:pt x="16891" y="2667254"/>
                    </a:lnTo>
                    <a:cubicBezTo>
                      <a:pt x="7493" y="2667254"/>
                      <a:pt x="0" y="2659634"/>
                      <a:pt x="0" y="26503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650363"/>
                    </a:lnTo>
                    <a:lnTo>
                      <a:pt x="16891" y="2650363"/>
                    </a:lnTo>
                    <a:lnTo>
                      <a:pt x="16891" y="2633472"/>
                    </a:lnTo>
                    <a:lnTo>
                      <a:pt x="163195" y="2633472"/>
                    </a:lnTo>
                    <a:lnTo>
                      <a:pt x="163195" y="2650363"/>
                    </a:lnTo>
                    <a:lnTo>
                      <a:pt x="146304" y="2650363"/>
                    </a:lnTo>
                    <a:lnTo>
                      <a:pt x="146304" y="16891"/>
                    </a:lnTo>
                    <a:lnTo>
                      <a:pt x="163195" y="16891"/>
                    </a:lnTo>
                    <a:lnTo>
                      <a:pt x="163195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504609" y="138849"/>
              <a:ext cx="21457920" cy="2389632"/>
              <a:chOff x="0" y="0"/>
              <a:chExt cx="21457920" cy="238963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457920" cy="2389632"/>
              </a:xfrm>
              <a:custGeom>
                <a:avLst/>
                <a:gdLst/>
                <a:ahLst/>
                <a:cxnLst/>
                <a:rect r="r" b="b" t="t" l="l"/>
                <a:pathLst>
                  <a:path h="2389632" w="21457920">
                    <a:moveTo>
                      <a:pt x="0" y="0"/>
                    </a:moveTo>
                    <a:lnTo>
                      <a:pt x="21457920" y="0"/>
                    </a:lnTo>
                    <a:lnTo>
                      <a:pt x="21457920" y="2389632"/>
                    </a:lnTo>
                    <a:lnTo>
                      <a:pt x="0" y="23896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24967" r="0" b="-124967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21457920" cy="244678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“Visually impaired people in dense urban environments face moment-to-moment dangers that no current assistive tool is designed to handle completely.”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755399" y="4102103"/>
            <a:ext cx="5328923" cy="5694683"/>
            <a:chOff x="0" y="0"/>
            <a:chExt cx="7105231" cy="759291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105231" cy="7592911"/>
              <a:chOff x="0" y="0"/>
              <a:chExt cx="7105231" cy="759291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16891" y="16891"/>
                <a:ext cx="7071360" cy="7559040"/>
              </a:xfrm>
              <a:custGeom>
                <a:avLst/>
                <a:gdLst/>
                <a:ahLst/>
                <a:cxnLst/>
                <a:rect r="r" b="b" t="t" l="l"/>
                <a:pathLst>
                  <a:path h="755904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7559040"/>
                    </a:lnTo>
                    <a:lnTo>
                      <a:pt x="0" y="755904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105142" cy="7592822"/>
              </a:xfrm>
              <a:custGeom>
                <a:avLst/>
                <a:gdLst/>
                <a:ahLst/>
                <a:cxnLst/>
                <a:rect r="r" b="b" t="t" l="l"/>
                <a:pathLst>
                  <a:path h="759282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7620"/>
                      <a:pt x="7105142" y="16891"/>
                    </a:cubicBezTo>
                    <a:lnTo>
                      <a:pt x="7105142" y="7575931"/>
                    </a:lnTo>
                    <a:cubicBezTo>
                      <a:pt x="7105142" y="7585329"/>
                      <a:pt x="7097522" y="7592822"/>
                      <a:pt x="7088251" y="7592822"/>
                    </a:cubicBezTo>
                    <a:lnTo>
                      <a:pt x="16891" y="7592822"/>
                    </a:lnTo>
                    <a:cubicBezTo>
                      <a:pt x="7493" y="7592822"/>
                      <a:pt x="0" y="7585202"/>
                      <a:pt x="0" y="75759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7575931"/>
                    </a:lnTo>
                    <a:lnTo>
                      <a:pt x="16891" y="7575931"/>
                    </a:lnTo>
                    <a:lnTo>
                      <a:pt x="16891" y="7559040"/>
                    </a:lnTo>
                    <a:lnTo>
                      <a:pt x="7088251" y="7559040"/>
                    </a:lnTo>
                    <a:lnTo>
                      <a:pt x="7088251" y="7575931"/>
                    </a:lnTo>
                    <a:lnTo>
                      <a:pt x="7071360" y="7575931"/>
                    </a:lnTo>
                    <a:lnTo>
                      <a:pt x="7071360" y="16891"/>
                    </a:lnTo>
                    <a:lnTo>
                      <a:pt x="7088251" y="16891"/>
                    </a:lnTo>
                    <a:lnTo>
                      <a:pt x="70882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01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8311" y="2077394"/>
              <a:ext cx="638860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Environment Problem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58311" y="3156166"/>
              <a:ext cx="6388608" cy="4436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Streets in Dhaka are unplanned and unpredictable. Tactile paving, wide pavements, and clear pedestrian zones do not exist in most areas.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16119" y="4102103"/>
            <a:ext cx="5328923" cy="5668963"/>
            <a:chOff x="0" y="0"/>
            <a:chExt cx="7105231" cy="7558617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7105231" cy="7558617"/>
              <a:chOff x="0" y="0"/>
              <a:chExt cx="7105231" cy="7558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16891" y="16815"/>
                <a:ext cx="7071360" cy="7524899"/>
              </a:xfrm>
              <a:custGeom>
                <a:avLst/>
                <a:gdLst/>
                <a:ahLst/>
                <a:cxnLst/>
                <a:rect r="r" b="b" t="t" l="l"/>
                <a:pathLst>
                  <a:path h="7524899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7524899"/>
                    </a:lnTo>
                    <a:lnTo>
                      <a:pt x="0" y="7524899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105142" cy="7558528"/>
              </a:xfrm>
              <a:custGeom>
                <a:avLst/>
                <a:gdLst/>
                <a:ahLst/>
                <a:cxnLst/>
                <a:rect r="r" b="b" t="t" l="l"/>
                <a:pathLst>
                  <a:path h="7558528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7586"/>
                      <a:pt x="7105142" y="16815"/>
                    </a:cubicBezTo>
                    <a:lnTo>
                      <a:pt x="7105142" y="7541714"/>
                    </a:lnTo>
                    <a:cubicBezTo>
                      <a:pt x="7105142" y="7551069"/>
                      <a:pt x="7097522" y="7558528"/>
                      <a:pt x="7088251" y="7558528"/>
                    </a:cubicBezTo>
                    <a:lnTo>
                      <a:pt x="16891" y="7558528"/>
                    </a:lnTo>
                    <a:cubicBezTo>
                      <a:pt x="7493" y="7558528"/>
                      <a:pt x="0" y="7550943"/>
                      <a:pt x="0" y="7541714"/>
                    </a:cubicBezTo>
                    <a:lnTo>
                      <a:pt x="0" y="16815"/>
                    </a:lnTo>
                    <a:cubicBezTo>
                      <a:pt x="0" y="7586"/>
                      <a:pt x="7620" y="0"/>
                      <a:pt x="16891" y="0"/>
                    </a:cubicBezTo>
                    <a:moveTo>
                      <a:pt x="16891" y="33756"/>
                    </a:moveTo>
                    <a:lnTo>
                      <a:pt x="16891" y="16815"/>
                    </a:lnTo>
                    <a:lnTo>
                      <a:pt x="33909" y="16815"/>
                    </a:lnTo>
                    <a:lnTo>
                      <a:pt x="33909" y="7541714"/>
                    </a:lnTo>
                    <a:lnTo>
                      <a:pt x="16891" y="7541714"/>
                    </a:lnTo>
                    <a:lnTo>
                      <a:pt x="16891" y="7524899"/>
                    </a:lnTo>
                    <a:lnTo>
                      <a:pt x="7088251" y="7524899"/>
                    </a:lnTo>
                    <a:lnTo>
                      <a:pt x="7088251" y="7541714"/>
                    </a:lnTo>
                    <a:lnTo>
                      <a:pt x="7071360" y="7541714"/>
                    </a:lnTo>
                    <a:lnTo>
                      <a:pt x="7071360" y="16815"/>
                    </a:lnTo>
                    <a:lnTo>
                      <a:pt x="7088251" y="16815"/>
                    </a:lnTo>
                    <a:lnTo>
                      <a:pt x="7088251" y="33756"/>
                    </a:lnTo>
                    <a:lnTo>
                      <a:pt x="16891" y="33756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02</a:t>
                </a: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58311" y="2077394"/>
              <a:ext cx="638860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Tool Problem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58311" y="3258494"/>
              <a:ext cx="6388608" cy="227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tools like White Cane could reach only to 1-2 steps ahead. It fails if there’s a moving object. Also GPS system could help with navigation but can’t detect obsacles in real time.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76839" y="4102103"/>
            <a:ext cx="5328923" cy="5630977"/>
            <a:chOff x="0" y="0"/>
            <a:chExt cx="7105231" cy="7507969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7105231" cy="7507969"/>
              <a:chOff x="0" y="0"/>
              <a:chExt cx="7105231" cy="750796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16891" y="16702"/>
                <a:ext cx="7071360" cy="7474477"/>
              </a:xfrm>
              <a:custGeom>
                <a:avLst/>
                <a:gdLst/>
                <a:ahLst/>
                <a:cxnLst/>
                <a:rect r="r" b="b" t="t" l="l"/>
                <a:pathLst>
                  <a:path h="7474477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7474477"/>
                    </a:lnTo>
                    <a:lnTo>
                      <a:pt x="0" y="7474477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105142" cy="7507881"/>
              </a:xfrm>
              <a:custGeom>
                <a:avLst/>
                <a:gdLst/>
                <a:ahLst/>
                <a:cxnLst/>
                <a:rect r="r" b="b" t="t" l="l"/>
                <a:pathLst>
                  <a:path h="7507881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7535"/>
                      <a:pt x="7105142" y="16702"/>
                    </a:cubicBezTo>
                    <a:lnTo>
                      <a:pt x="7105142" y="7491179"/>
                    </a:lnTo>
                    <a:cubicBezTo>
                      <a:pt x="7105142" y="7500472"/>
                      <a:pt x="7097522" y="7507881"/>
                      <a:pt x="7088251" y="7507881"/>
                    </a:cubicBezTo>
                    <a:lnTo>
                      <a:pt x="16891" y="7507881"/>
                    </a:lnTo>
                    <a:cubicBezTo>
                      <a:pt x="7493" y="7507881"/>
                      <a:pt x="0" y="7500347"/>
                      <a:pt x="0" y="7491179"/>
                    </a:cubicBezTo>
                    <a:lnTo>
                      <a:pt x="0" y="16702"/>
                    </a:lnTo>
                    <a:cubicBezTo>
                      <a:pt x="0" y="7535"/>
                      <a:pt x="7620" y="0"/>
                      <a:pt x="16891" y="0"/>
                    </a:cubicBezTo>
                    <a:moveTo>
                      <a:pt x="16891" y="33530"/>
                    </a:moveTo>
                    <a:lnTo>
                      <a:pt x="16891" y="16702"/>
                    </a:lnTo>
                    <a:lnTo>
                      <a:pt x="33909" y="16702"/>
                    </a:lnTo>
                    <a:lnTo>
                      <a:pt x="33909" y="7491179"/>
                    </a:lnTo>
                    <a:lnTo>
                      <a:pt x="16891" y="7491179"/>
                    </a:lnTo>
                    <a:lnTo>
                      <a:pt x="16891" y="7474477"/>
                    </a:lnTo>
                    <a:lnTo>
                      <a:pt x="7088251" y="7474477"/>
                    </a:lnTo>
                    <a:lnTo>
                      <a:pt x="7088251" y="7491179"/>
                    </a:lnTo>
                    <a:lnTo>
                      <a:pt x="7071360" y="7491179"/>
                    </a:lnTo>
                    <a:lnTo>
                      <a:pt x="7071360" y="16702"/>
                    </a:lnTo>
                    <a:lnTo>
                      <a:pt x="7088251" y="16702"/>
                    </a:lnTo>
                    <a:lnTo>
                      <a:pt x="7088251" y="33530"/>
                    </a:lnTo>
                    <a:lnTo>
                      <a:pt x="16891" y="3353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03</a:t>
                </a: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82689" y="2077394"/>
              <a:ext cx="638860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Verification Problem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382689" y="3156166"/>
              <a:ext cx="6388608" cy="182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blind user cannot glance up and see the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guidance is wrong. Every instruction is taken on faith, and a false "path clear" is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undetectable until impact.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Project Overview:</a:t>
              </a: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 WalkSafe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1847" y="1988563"/>
            <a:ext cx="4963163" cy="3408401"/>
            <a:chOff x="0" y="0"/>
            <a:chExt cx="6617551" cy="454453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617551" cy="4544534"/>
              <a:chOff x="0" y="0"/>
              <a:chExt cx="6617551" cy="454453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5632"/>
                <a:ext cx="6583681" cy="4513188"/>
              </a:xfrm>
              <a:custGeom>
                <a:avLst/>
                <a:gdLst/>
                <a:ahLst/>
                <a:cxnLst/>
                <a:rect r="r" b="b" t="t" l="l"/>
                <a:pathLst>
                  <a:path h="4513188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4513188"/>
                    </a:lnTo>
                    <a:lnTo>
                      <a:pt x="0" y="4513188"/>
                    </a:ln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617462" cy="4544452"/>
              </a:xfrm>
              <a:custGeom>
                <a:avLst/>
                <a:gdLst/>
                <a:ahLst/>
                <a:cxnLst/>
                <a:rect r="r" b="b" t="t" l="l"/>
                <a:pathLst>
                  <a:path h="4544452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052"/>
                      <a:pt x="6617462" y="15632"/>
                    </a:cubicBezTo>
                    <a:lnTo>
                      <a:pt x="6617462" y="4528820"/>
                    </a:lnTo>
                    <a:cubicBezTo>
                      <a:pt x="6617462" y="4537518"/>
                      <a:pt x="6609842" y="4544452"/>
                      <a:pt x="6600572" y="4544452"/>
                    </a:cubicBezTo>
                    <a:lnTo>
                      <a:pt x="16891" y="4544452"/>
                    </a:lnTo>
                    <a:cubicBezTo>
                      <a:pt x="7493" y="4544452"/>
                      <a:pt x="0" y="4537400"/>
                      <a:pt x="0" y="4528820"/>
                    </a:cubicBezTo>
                    <a:lnTo>
                      <a:pt x="0" y="15632"/>
                    </a:lnTo>
                    <a:cubicBezTo>
                      <a:pt x="0" y="7052"/>
                      <a:pt x="7620" y="0"/>
                      <a:pt x="16891" y="0"/>
                    </a:cubicBezTo>
                    <a:moveTo>
                      <a:pt x="16891" y="31381"/>
                    </a:moveTo>
                    <a:lnTo>
                      <a:pt x="16891" y="15632"/>
                    </a:lnTo>
                    <a:lnTo>
                      <a:pt x="33909" y="15632"/>
                    </a:lnTo>
                    <a:lnTo>
                      <a:pt x="33909" y="4528820"/>
                    </a:lnTo>
                    <a:lnTo>
                      <a:pt x="16891" y="4528820"/>
                    </a:lnTo>
                    <a:lnTo>
                      <a:pt x="16891" y="4513189"/>
                    </a:lnTo>
                    <a:lnTo>
                      <a:pt x="6600572" y="4513189"/>
                    </a:lnTo>
                    <a:lnTo>
                      <a:pt x="6600572" y="4528820"/>
                    </a:lnTo>
                    <a:lnTo>
                      <a:pt x="6583680" y="4528820"/>
                    </a:lnTo>
                    <a:lnTo>
                      <a:pt x="6583680" y="15632"/>
                    </a:lnTo>
                    <a:lnTo>
                      <a:pt x="6600572" y="15632"/>
                    </a:lnTo>
                    <a:lnTo>
                      <a:pt x="6600572" y="31381"/>
                    </a:lnTo>
                    <a:lnTo>
                      <a:pt x="16891" y="31381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55329" y="455841"/>
              <a:ext cx="1755648" cy="1755648"/>
              <a:chOff x="0" y="0"/>
              <a:chExt cx="1755648" cy="1755648"/>
            </a:xfrm>
          </p:grpSpPr>
          <p:sp>
            <p:nvSpPr>
              <p:cNvPr name="Freeform 13" id="13" descr="preencoded.png"/>
              <p:cNvSpPr/>
              <p:nvPr/>
            </p:nvSpPr>
            <p:spPr>
              <a:xfrm flipH="false" flipV="false" rot="0">
                <a:off x="0" y="0"/>
                <a:ext cx="1755648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755648">
                    <a:moveTo>
                      <a:pt x="0" y="0"/>
                    </a:moveTo>
                    <a:lnTo>
                      <a:pt x="1755648" y="0"/>
                    </a:lnTo>
                    <a:lnTo>
                      <a:pt x="1755648" y="1755648"/>
                    </a:lnTo>
                    <a:lnTo>
                      <a:pt x="0" y="175564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260769" y="2333409"/>
              <a:ext cx="6096000" cy="780288"/>
              <a:chOff x="0" y="0"/>
              <a:chExt cx="6096000" cy="78028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096000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226" r="0" b="-102226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6096000" cy="7898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Standard Camera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60769" y="3113697"/>
              <a:ext cx="6096000" cy="633984"/>
              <a:chOff x="0" y="0"/>
              <a:chExt cx="6096000" cy="63398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0960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356" r="0" b="-137356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6096000" cy="68160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Live video feed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6617551" cy="180175"/>
              <a:chOff x="0" y="0"/>
              <a:chExt cx="6617551" cy="18017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16891" y="16891"/>
                <a:ext cx="6583681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1746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163195"/>
                    </a:lnTo>
                    <a:cubicBezTo>
                      <a:pt x="6617462" y="172593"/>
                      <a:pt x="6609842" y="180086"/>
                      <a:pt x="6600572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6600572" y="146304"/>
                    </a:lnTo>
                    <a:lnTo>
                      <a:pt x="6600572" y="163195"/>
                    </a:lnTo>
                    <a:lnTo>
                      <a:pt x="6583680" y="163195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</p:grpSp>
      <p:grpSp>
        <p:nvGrpSpPr>
          <p:cNvPr name="Group 23" id="23"/>
          <p:cNvGrpSpPr/>
          <p:nvPr/>
        </p:nvGrpSpPr>
        <p:grpSpPr>
          <a:xfrm rot="0">
            <a:off x="5892032" y="3427724"/>
            <a:ext cx="694944" cy="694944"/>
            <a:chOff x="0" y="0"/>
            <a:chExt cx="926592" cy="926592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720583" y="1988563"/>
            <a:ext cx="4963163" cy="3429524"/>
            <a:chOff x="0" y="0"/>
            <a:chExt cx="6617551" cy="457269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617551" cy="4572699"/>
              <a:chOff x="0" y="0"/>
              <a:chExt cx="6617551" cy="457269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16891" y="15728"/>
                <a:ext cx="6583681" cy="4541158"/>
              </a:xfrm>
              <a:custGeom>
                <a:avLst/>
                <a:gdLst/>
                <a:ahLst/>
                <a:cxnLst/>
                <a:rect r="r" b="b" t="t" l="l"/>
                <a:pathLst>
                  <a:path h="4541158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4541159"/>
                    </a:lnTo>
                    <a:lnTo>
                      <a:pt x="0" y="4541159"/>
                    </a:ln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17462" cy="4572616"/>
              </a:xfrm>
              <a:custGeom>
                <a:avLst/>
                <a:gdLst/>
                <a:ahLst/>
                <a:cxnLst/>
                <a:rect r="r" b="b" t="t" l="l"/>
                <a:pathLst>
                  <a:path h="4572616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096"/>
                      <a:pt x="6617462" y="15728"/>
                    </a:cubicBezTo>
                    <a:lnTo>
                      <a:pt x="6617462" y="4556887"/>
                    </a:lnTo>
                    <a:cubicBezTo>
                      <a:pt x="6617462" y="4565639"/>
                      <a:pt x="6609842" y="4572616"/>
                      <a:pt x="6600572" y="4572616"/>
                    </a:cubicBezTo>
                    <a:lnTo>
                      <a:pt x="16891" y="4572616"/>
                    </a:lnTo>
                    <a:cubicBezTo>
                      <a:pt x="7493" y="4572616"/>
                      <a:pt x="0" y="4565520"/>
                      <a:pt x="0" y="4556887"/>
                    </a:cubicBezTo>
                    <a:lnTo>
                      <a:pt x="0" y="15728"/>
                    </a:lnTo>
                    <a:cubicBezTo>
                      <a:pt x="0" y="7096"/>
                      <a:pt x="7620" y="0"/>
                      <a:pt x="16891" y="0"/>
                    </a:cubicBezTo>
                    <a:moveTo>
                      <a:pt x="16891" y="31575"/>
                    </a:moveTo>
                    <a:lnTo>
                      <a:pt x="16891" y="15728"/>
                    </a:lnTo>
                    <a:lnTo>
                      <a:pt x="33909" y="15728"/>
                    </a:lnTo>
                    <a:lnTo>
                      <a:pt x="33909" y="4556887"/>
                    </a:lnTo>
                    <a:lnTo>
                      <a:pt x="16891" y="4556887"/>
                    </a:lnTo>
                    <a:lnTo>
                      <a:pt x="16891" y="4541159"/>
                    </a:lnTo>
                    <a:lnTo>
                      <a:pt x="6600572" y="4541159"/>
                    </a:lnTo>
                    <a:lnTo>
                      <a:pt x="6600572" y="4556887"/>
                    </a:lnTo>
                    <a:lnTo>
                      <a:pt x="6583680" y="4556887"/>
                    </a:lnTo>
                    <a:lnTo>
                      <a:pt x="6583680" y="15728"/>
                    </a:lnTo>
                    <a:lnTo>
                      <a:pt x="6600572" y="15728"/>
                    </a:lnTo>
                    <a:lnTo>
                      <a:pt x="6600572" y="31575"/>
                    </a:lnTo>
                    <a:lnTo>
                      <a:pt x="16891" y="31575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6617551" cy="180175"/>
              <a:chOff x="0" y="0"/>
              <a:chExt cx="6617551" cy="18017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16891" y="16891"/>
                <a:ext cx="6583681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61746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163195"/>
                    </a:lnTo>
                    <a:cubicBezTo>
                      <a:pt x="6617462" y="172593"/>
                      <a:pt x="6609842" y="180086"/>
                      <a:pt x="6600572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6600572" y="146304"/>
                    </a:lnTo>
                    <a:lnTo>
                      <a:pt x="6600572" y="163195"/>
                    </a:lnTo>
                    <a:lnTo>
                      <a:pt x="6583680" y="163195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2455329" y="455841"/>
              <a:ext cx="1755648" cy="1755648"/>
              <a:chOff x="0" y="0"/>
              <a:chExt cx="1755648" cy="1755648"/>
            </a:xfrm>
          </p:grpSpPr>
          <p:sp>
            <p:nvSpPr>
              <p:cNvPr name="Freeform 33" id="33" descr="preencoded.png"/>
              <p:cNvSpPr/>
              <p:nvPr/>
            </p:nvSpPr>
            <p:spPr>
              <a:xfrm flipH="false" flipV="false" rot="0">
                <a:off x="0" y="0"/>
                <a:ext cx="1755648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755648">
                    <a:moveTo>
                      <a:pt x="0" y="0"/>
                    </a:moveTo>
                    <a:lnTo>
                      <a:pt x="1755648" y="0"/>
                    </a:lnTo>
                    <a:lnTo>
                      <a:pt x="1755648" y="1755648"/>
                    </a:lnTo>
                    <a:lnTo>
                      <a:pt x="0" y="175564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260769" y="2333409"/>
              <a:ext cx="6096000" cy="780288"/>
              <a:chOff x="0" y="0"/>
              <a:chExt cx="6096000" cy="78028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096000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226" r="0" b="-102226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6096000" cy="7898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Smart Pipeline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60769" y="3113697"/>
              <a:ext cx="6096000" cy="633984"/>
              <a:chOff x="0" y="0"/>
              <a:chExt cx="6096000" cy="63398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0960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356" r="0" b="-137356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6096000" cy="68160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Perception + Decision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11780768" y="3427724"/>
            <a:ext cx="694944" cy="694944"/>
            <a:chOff x="0" y="0"/>
            <a:chExt cx="926592" cy="926592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609319" y="1988563"/>
            <a:ext cx="4963163" cy="3429524"/>
            <a:chOff x="0" y="0"/>
            <a:chExt cx="6617551" cy="4572699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6617551" cy="4572699"/>
              <a:chOff x="0" y="0"/>
              <a:chExt cx="6617551" cy="457269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16891" y="15728"/>
                <a:ext cx="6583681" cy="4541158"/>
              </a:xfrm>
              <a:custGeom>
                <a:avLst/>
                <a:gdLst/>
                <a:ahLst/>
                <a:cxnLst/>
                <a:rect r="r" b="b" t="t" l="l"/>
                <a:pathLst>
                  <a:path h="4541158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4541159"/>
                    </a:lnTo>
                    <a:lnTo>
                      <a:pt x="0" y="4541159"/>
                    </a:ln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617462" cy="4572616"/>
              </a:xfrm>
              <a:custGeom>
                <a:avLst/>
                <a:gdLst/>
                <a:ahLst/>
                <a:cxnLst/>
                <a:rect r="r" b="b" t="t" l="l"/>
                <a:pathLst>
                  <a:path h="4572616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096"/>
                      <a:pt x="6617462" y="15728"/>
                    </a:cubicBezTo>
                    <a:lnTo>
                      <a:pt x="6617462" y="4556887"/>
                    </a:lnTo>
                    <a:cubicBezTo>
                      <a:pt x="6617462" y="4565639"/>
                      <a:pt x="6609842" y="4572616"/>
                      <a:pt x="6600572" y="4572616"/>
                    </a:cubicBezTo>
                    <a:lnTo>
                      <a:pt x="16891" y="4572616"/>
                    </a:lnTo>
                    <a:cubicBezTo>
                      <a:pt x="7493" y="4572616"/>
                      <a:pt x="0" y="4565520"/>
                      <a:pt x="0" y="4556887"/>
                    </a:cubicBezTo>
                    <a:lnTo>
                      <a:pt x="0" y="15728"/>
                    </a:lnTo>
                    <a:cubicBezTo>
                      <a:pt x="0" y="7096"/>
                      <a:pt x="7620" y="0"/>
                      <a:pt x="16891" y="0"/>
                    </a:cubicBezTo>
                    <a:moveTo>
                      <a:pt x="16891" y="31575"/>
                    </a:moveTo>
                    <a:lnTo>
                      <a:pt x="16891" y="15728"/>
                    </a:lnTo>
                    <a:lnTo>
                      <a:pt x="33909" y="15728"/>
                    </a:lnTo>
                    <a:lnTo>
                      <a:pt x="33909" y="4556887"/>
                    </a:lnTo>
                    <a:lnTo>
                      <a:pt x="16891" y="4556887"/>
                    </a:lnTo>
                    <a:lnTo>
                      <a:pt x="16891" y="4541159"/>
                    </a:lnTo>
                    <a:lnTo>
                      <a:pt x="6600572" y="4541159"/>
                    </a:lnTo>
                    <a:lnTo>
                      <a:pt x="6600572" y="4556887"/>
                    </a:lnTo>
                    <a:lnTo>
                      <a:pt x="6583680" y="4556887"/>
                    </a:lnTo>
                    <a:lnTo>
                      <a:pt x="6583680" y="15728"/>
                    </a:lnTo>
                    <a:lnTo>
                      <a:pt x="6600572" y="15728"/>
                    </a:lnTo>
                    <a:lnTo>
                      <a:pt x="6600572" y="31575"/>
                    </a:lnTo>
                    <a:lnTo>
                      <a:pt x="16891" y="31575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6617551" cy="180175"/>
              <a:chOff x="0" y="0"/>
              <a:chExt cx="6617551" cy="180175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6891" y="16891"/>
                <a:ext cx="6583681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61746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163195"/>
                    </a:lnTo>
                    <a:cubicBezTo>
                      <a:pt x="6617462" y="172593"/>
                      <a:pt x="6609842" y="180086"/>
                      <a:pt x="6600572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6600572" y="146304"/>
                    </a:lnTo>
                    <a:lnTo>
                      <a:pt x="6600572" y="163195"/>
                    </a:lnTo>
                    <a:lnTo>
                      <a:pt x="6583680" y="163195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2455329" y="455841"/>
              <a:ext cx="1755648" cy="1755648"/>
              <a:chOff x="0" y="0"/>
              <a:chExt cx="1755648" cy="1755648"/>
            </a:xfrm>
          </p:grpSpPr>
          <p:sp>
            <p:nvSpPr>
              <p:cNvPr name="Freeform 50" id="50" descr="preencoded.png"/>
              <p:cNvSpPr/>
              <p:nvPr/>
            </p:nvSpPr>
            <p:spPr>
              <a:xfrm flipH="false" flipV="false" rot="0">
                <a:off x="0" y="0"/>
                <a:ext cx="1755648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755648">
                    <a:moveTo>
                      <a:pt x="0" y="0"/>
                    </a:moveTo>
                    <a:lnTo>
                      <a:pt x="1755648" y="0"/>
                    </a:lnTo>
                    <a:lnTo>
                      <a:pt x="1755648" y="1755648"/>
                    </a:lnTo>
                    <a:lnTo>
                      <a:pt x="0" y="175564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260769" y="2333409"/>
              <a:ext cx="6096000" cy="780288"/>
              <a:chOff x="0" y="0"/>
              <a:chExt cx="6096000" cy="78028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6096000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226" r="0" b="-102226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9525"/>
                <a:ext cx="6096000" cy="7898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Spoken Guidance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260769" y="3113697"/>
              <a:ext cx="6096000" cy="633984"/>
              <a:chOff x="0" y="0"/>
              <a:chExt cx="6096000" cy="63398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60960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356" r="0" b="-137356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6096000" cy="68160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Via earphone</a:t>
                </a:r>
              </a:p>
            </p:txBody>
          </p:sp>
        </p:grpSp>
      </p:grpSp>
      <p:grpSp>
        <p:nvGrpSpPr>
          <p:cNvPr name="Group 57" id="57"/>
          <p:cNvGrpSpPr/>
          <p:nvPr/>
        </p:nvGrpSpPr>
        <p:grpSpPr>
          <a:xfrm rot="0">
            <a:off x="844544" y="5654807"/>
            <a:ext cx="16459200" cy="621792"/>
            <a:chOff x="0" y="0"/>
            <a:chExt cx="2194560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829056"/>
            </a:xfrm>
            <a:custGeom>
              <a:avLst/>
              <a:gdLst/>
              <a:ahLst/>
              <a:cxnLst/>
              <a:rect r="r" b="b" t="t" l="l"/>
              <a:pathLst>
                <a:path h="82905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780" r="0" b="-4657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21945600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What the user hears: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85543" y="6360919"/>
            <a:ext cx="17033243" cy="2421131"/>
            <a:chOff x="0" y="0"/>
            <a:chExt cx="22710991" cy="3228175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1006671" cy="1423759"/>
              <a:chOff x="0" y="0"/>
              <a:chExt cx="11006671" cy="142375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341376" y="487680"/>
              <a:ext cx="472783" cy="472783"/>
              <a:chOff x="0" y="0"/>
              <a:chExt cx="472783" cy="472783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1089825" y="236385"/>
              <a:ext cx="9631680" cy="975360"/>
              <a:chOff x="0" y="0"/>
              <a:chExt cx="9631680" cy="97536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Move forward </a:t>
                </a: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— path clear”</a:t>
                </a: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11704320" y="0"/>
              <a:ext cx="11006671" cy="1423759"/>
              <a:chOff x="0" y="0"/>
              <a:chExt cx="11006671" cy="1423759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73" id="73"/>
            <p:cNvGrpSpPr/>
            <p:nvPr/>
          </p:nvGrpSpPr>
          <p:grpSpPr>
            <a:xfrm rot="0">
              <a:off x="12045696" y="487680"/>
              <a:ext cx="472783" cy="472783"/>
              <a:chOff x="0" y="0"/>
              <a:chExt cx="472783" cy="47278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76" id="76"/>
            <p:cNvGrpSpPr/>
            <p:nvPr/>
          </p:nvGrpSpPr>
          <p:grpSpPr>
            <a:xfrm rot="0">
              <a:off x="12794145" y="236385"/>
              <a:ext cx="9631680" cy="975360"/>
              <a:chOff x="0" y="0"/>
              <a:chExt cx="9631680" cy="97536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“Stop — person approaching from your right”</a:t>
                </a: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0" y="1804416"/>
              <a:ext cx="11006671" cy="1423759"/>
              <a:chOff x="0" y="0"/>
              <a:chExt cx="11006671" cy="1423759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82" id="82"/>
            <p:cNvGrpSpPr/>
            <p:nvPr/>
          </p:nvGrpSpPr>
          <p:grpSpPr>
            <a:xfrm rot="0">
              <a:off x="341376" y="2292096"/>
              <a:ext cx="472783" cy="472783"/>
              <a:chOff x="0" y="0"/>
              <a:chExt cx="472783" cy="47278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85" id="85"/>
            <p:cNvGrpSpPr/>
            <p:nvPr/>
          </p:nvGrpSpPr>
          <p:grpSpPr>
            <a:xfrm rot="0">
              <a:off x="1089825" y="2040801"/>
              <a:ext cx="9631680" cy="975360"/>
              <a:chOff x="0" y="0"/>
              <a:chExt cx="9631680" cy="97536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“Step left — obstacle ahead at 1 metre”</a:t>
                </a: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11704320" y="1804416"/>
              <a:ext cx="11006671" cy="1423759"/>
              <a:chOff x="0" y="0"/>
              <a:chExt cx="11006671" cy="1423759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91" id="91"/>
            <p:cNvGrpSpPr/>
            <p:nvPr/>
          </p:nvGrpSpPr>
          <p:grpSpPr>
            <a:xfrm rot="0">
              <a:off x="12045696" y="2292096"/>
              <a:ext cx="472783" cy="472783"/>
              <a:chOff x="0" y="0"/>
              <a:chExt cx="472783" cy="47278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94" id="94"/>
            <p:cNvGrpSpPr/>
            <p:nvPr/>
          </p:nvGrpSpPr>
          <p:grpSpPr>
            <a:xfrm rot="0">
              <a:off x="12794145" y="2040801"/>
              <a:ext cx="9631680" cy="975360"/>
              <a:chOff x="0" y="0"/>
              <a:chExt cx="9631680" cy="975360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“Caution — low object above, slow down”</a:t>
                </a:r>
              </a:p>
            </p:txBody>
          </p:sp>
        </p:grpSp>
      </p:grpSp>
      <p:grpSp>
        <p:nvGrpSpPr>
          <p:cNvPr name="Group 97" id="97"/>
          <p:cNvGrpSpPr/>
          <p:nvPr/>
        </p:nvGrpSpPr>
        <p:grpSpPr>
          <a:xfrm rot="0">
            <a:off x="685543" y="9123149"/>
            <a:ext cx="17033243" cy="731520"/>
            <a:chOff x="0" y="0"/>
            <a:chExt cx="22710991" cy="9753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2710992" cy="975360"/>
            </a:xfrm>
            <a:custGeom>
              <a:avLst/>
              <a:gdLst/>
              <a:ahLst/>
              <a:cxnLst/>
              <a:rect r="r" b="b" t="t" l="l"/>
              <a:pathLst>
                <a:path h="975360" w="22710992">
                  <a:moveTo>
                    <a:pt x="0" y="0"/>
                  </a:moveTo>
                  <a:lnTo>
                    <a:pt x="22710992" y="0"/>
                  </a:lnTo>
                  <a:lnTo>
                    <a:pt x="227109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414" r="57590" b="-14241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22710991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Positioning</a:t>
              </a: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a supplementary aid. Every requirement assumes the user also has a cane or guide dog.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Project Overview: Scope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5" y="1785996"/>
            <a:ext cx="6949440" cy="595511"/>
            <a:chOff x="0" y="0"/>
            <a:chExt cx="9265920" cy="7940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 Scope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54896" y="1785996"/>
            <a:ext cx="6949440" cy="595511"/>
            <a:chOff x="0" y="0"/>
            <a:chExt cx="9265920" cy="7940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Out of Scope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5" y="2565021"/>
            <a:ext cx="8145275" cy="869540"/>
            <a:chOff x="0" y="0"/>
            <a:chExt cx="10860367" cy="115938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Smar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tphone camera, remote GPU service</a:t>
                </a: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822965" y="3625992"/>
            <a:ext cx="8145275" cy="869540"/>
            <a:chOff x="0" y="0"/>
            <a:chExt cx="10860367" cy="115938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De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pth, agent tracking, motion</a:t>
                </a: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822965" y="4686032"/>
            <a:ext cx="8145275" cy="869540"/>
            <a:chOff x="0" y="0"/>
            <a:chExt cx="10860367" cy="115938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Dis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tance, time-to-collision, risk per agent</a:t>
                </a: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0">
            <a:off x="822965" y="5746073"/>
            <a:ext cx="8145275" cy="869540"/>
            <a:chOff x="0" y="0"/>
            <a:chExt cx="10860367" cy="1159387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Walkable o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penings, measured in metres</a:t>
                </a: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822965" y="6806113"/>
            <a:ext cx="8145275" cy="869540"/>
            <a:chOff x="0" y="0"/>
            <a:chExt cx="10860367" cy="1159387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58" id="5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Nine commands — s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peech, earcon, haptic</a:t>
                </a:r>
              </a:p>
            </p:txBody>
          </p:sp>
        </p:grpSp>
      </p:grpSp>
      <p:grpSp>
        <p:nvGrpSpPr>
          <p:cNvPr name="Group 64" id="64"/>
          <p:cNvGrpSpPr/>
          <p:nvPr/>
        </p:nvGrpSpPr>
        <p:grpSpPr>
          <a:xfrm rot="0">
            <a:off x="822965" y="7866154"/>
            <a:ext cx="8145275" cy="869540"/>
            <a:chOff x="0" y="0"/>
            <a:chExt cx="10860367" cy="1159387"/>
          </a:xfrm>
        </p:grpSpPr>
        <p:grpSp>
          <p:nvGrpSpPr>
            <p:cNvPr name="Group 65" id="6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68" id="6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On-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phone check — offline, overrides server</a:t>
                </a:r>
              </a:p>
            </p:txBody>
          </p:sp>
        </p:grpSp>
      </p:grpSp>
      <p:grpSp>
        <p:nvGrpSpPr>
          <p:cNvPr name="Group 74" id="74"/>
          <p:cNvGrpSpPr/>
          <p:nvPr/>
        </p:nvGrpSpPr>
        <p:grpSpPr>
          <a:xfrm rot="0">
            <a:off x="822965" y="8926194"/>
            <a:ext cx="8145275" cy="869540"/>
            <a:chOff x="0" y="0"/>
            <a:chExt cx="10860367" cy="1159387"/>
          </a:xfrm>
        </p:grpSpPr>
        <p:grpSp>
          <p:nvGrpSpPr>
            <p:cNvPr name="Group 75" id="7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Session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 logging of derived metrics + analytics view</a:t>
                </a:r>
              </a:p>
            </p:txBody>
          </p:sp>
        </p:grpSp>
      </p:grpSp>
      <p:grpSp>
        <p:nvGrpSpPr>
          <p:cNvPr name="Group 84" id="84"/>
          <p:cNvGrpSpPr/>
          <p:nvPr/>
        </p:nvGrpSpPr>
        <p:grpSpPr>
          <a:xfrm rot="0">
            <a:off x="9454896" y="2565021"/>
            <a:ext cx="8145275" cy="869540"/>
            <a:chOff x="0" y="0"/>
            <a:chExt cx="10860367" cy="1159387"/>
          </a:xfrm>
        </p:grpSpPr>
        <p:grpSp>
          <p:nvGrpSpPr>
            <p:cNvPr name="Group 85" id="8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88" id="8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Rou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te planning, maps, destinations</a:t>
                </a: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487680" y="366254"/>
              <a:ext cx="472783" cy="472783"/>
              <a:chOff x="0" y="0"/>
              <a:chExt cx="472783" cy="47278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  <p:grpSp>
        <p:nvGrpSpPr>
          <p:cNvPr name="Group 94" id="94"/>
          <p:cNvGrpSpPr/>
          <p:nvPr/>
        </p:nvGrpSpPr>
        <p:grpSpPr>
          <a:xfrm rot="0">
            <a:off x="9454896" y="3625992"/>
            <a:ext cx="8145275" cy="869540"/>
            <a:chOff x="0" y="0"/>
            <a:chExt cx="10860367" cy="1159387"/>
          </a:xfrm>
        </p:grpSpPr>
        <p:grpSp>
          <p:nvGrpSpPr>
            <p:cNvPr name="Group 95" id="9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98" id="9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Re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ading text, signs, faces</a:t>
                </a:r>
              </a:p>
            </p:txBody>
          </p:sp>
        </p:grpSp>
        <p:grpSp>
          <p:nvGrpSpPr>
            <p:cNvPr name="Group 101" id="101"/>
            <p:cNvGrpSpPr/>
            <p:nvPr/>
          </p:nvGrpSpPr>
          <p:grpSpPr>
            <a:xfrm rot="0">
              <a:off x="487680" y="330602"/>
              <a:ext cx="472783" cy="472783"/>
              <a:chOff x="0" y="0"/>
              <a:chExt cx="472783" cy="472783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  <p:grpSp>
        <p:nvGrpSpPr>
          <p:cNvPr name="Group 104" id="104"/>
          <p:cNvGrpSpPr/>
          <p:nvPr/>
        </p:nvGrpSpPr>
        <p:grpSpPr>
          <a:xfrm rot="0">
            <a:off x="9454896" y="4686032"/>
            <a:ext cx="8145275" cy="869540"/>
            <a:chOff x="0" y="0"/>
            <a:chExt cx="10860367" cy="1159387"/>
          </a:xfrm>
        </p:grpSpPr>
        <p:grpSp>
          <p:nvGrpSpPr>
            <p:cNvPr name="Group 105" id="10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08" id="10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10" id="11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Traffic sign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als, road crossing</a:t>
                </a:r>
              </a:p>
            </p:txBody>
          </p:sp>
        </p:grpSp>
        <p:grpSp>
          <p:nvGrpSpPr>
            <p:cNvPr name="Group 111" id="111"/>
            <p:cNvGrpSpPr/>
            <p:nvPr/>
          </p:nvGrpSpPr>
          <p:grpSpPr>
            <a:xfrm rot="0">
              <a:off x="489717" y="330602"/>
              <a:ext cx="472783" cy="472783"/>
              <a:chOff x="0" y="0"/>
              <a:chExt cx="472783" cy="472783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  <p:grpSp>
        <p:nvGrpSpPr>
          <p:cNvPr name="Group 114" id="114"/>
          <p:cNvGrpSpPr/>
          <p:nvPr/>
        </p:nvGrpSpPr>
        <p:grpSpPr>
          <a:xfrm rot="0">
            <a:off x="9454896" y="5746073"/>
            <a:ext cx="8145275" cy="869540"/>
            <a:chOff x="0" y="0"/>
            <a:chExt cx="10860367" cy="1159387"/>
          </a:xfrm>
        </p:grpSpPr>
        <p:grpSp>
          <p:nvGrpSpPr>
            <p:cNvPr name="Group 115" id="11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Kerbs, sta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irs, drop-offs — declared limit</a:t>
                </a: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491754" y="330602"/>
              <a:ext cx="472783" cy="472783"/>
              <a:chOff x="0" y="0"/>
              <a:chExt cx="472783" cy="472783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  <p:grpSp>
        <p:nvGrpSpPr>
          <p:cNvPr name="Group 124" id="124"/>
          <p:cNvGrpSpPr/>
          <p:nvPr/>
        </p:nvGrpSpPr>
        <p:grpSpPr>
          <a:xfrm rot="0">
            <a:off x="9454896" y="6806113"/>
            <a:ext cx="8145275" cy="869540"/>
            <a:chOff x="0" y="0"/>
            <a:chExt cx="10860367" cy="1159387"/>
          </a:xfrm>
        </p:grpSpPr>
        <p:grpSp>
          <p:nvGrpSpPr>
            <p:cNvPr name="Group 125" id="12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30" id="13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Indoo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r mapping</a:t>
                </a:r>
              </a:p>
            </p:txBody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493791" y="330602"/>
              <a:ext cx="472783" cy="472783"/>
              <a:chOff x="0" y="0"/>
              <a:chExt cx="472783" cy="472783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  <p:grpSp>
        <p:nvGrpSpPr>
          <p:cNvPr name="Group 134" id="134"/>
          <p:cNvGrpSpPr/>
          <p:nvPr/>
        </p:nvGrpSpPr>
        <p:grpSpPr>
          <a:xfrm rot="0">
            <a:off x="9454896" y="7866154"/>
            <a:ext cx="8145275" cy="869540"/>
            <a:chOff x="0" y="0"/>
            <a:chExt cx="10860367" cy="1159387"/>
          </a:xfrm>
        </p:grpSpPr>
        <p:grpSp>
          <p:nvGrpSpPr>
            <p:cNvPr name="Group 135" id="13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136" id="13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38" id="13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139" id="13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40" id="14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Re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placing cane, guide dog, or O&amp;M training</a:t>
                </a:r>
              </a:p>
            </p:txBody>
          </p:sp>
        </p:grpSp>
        <p:grpSp>
          <p:nvGrpSpPr>
            <p:cNvPr name="Group 141" id="141"/>
            <p:cNvGrpSpPr/>
            <p:nvPr/>
          </p:nvGrpSpPr>
          <p:grpSpPr>
            <a:xfrm rot="0">
              <a:off x="495828" y="330602"/>
              <a:ext cx="472783" cy="472783"/>
              <a:chOff x="0" y="0"/>
              <a:chExt cx="472783" cy="472783"/>
            </a:xfrm>
          </p:grpSpPr>
          <p:sp>
            <p:nvSpPr>
              <p:cNvPr name="Freeform 142" id="14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24331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Functional Requirements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94250" y="2413908"/>
            <a:ext cx="3782288" cy="2651929"/>
            <a:chOff x="0" y="0"/>
            <a:chExt cx="5043051" cy="353590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043051" cy="3535906"/>
              <a:chOff x="0" y="0"/>
              <a:chExt cx="7105231" cy="498179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1082"/>
                <a:ext cx="7071360" cy="4959568"/>
              </a:xfrm>
              <a:custGeom>
                <a:avLst/>
                <a:gdLst/>
                <a:ahLst/>
                <a:cxnLst/>
                <a:rect r="r" b="b" t="t" l="l"/>
                <a:pathLst>
                  <a:path h="4959568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4959568"/>
                    </a:lnTo>
                    <a:lnTo>
                      <a:pt x="0" y="495956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105142" cy="4981732"/>
              </a:xfrm>
              <a:custGeom>
                <a:avLst/>
                <a:gdLst/>
                <a:ahLst/>
                <a:cxnLst/>
                <a:rect r="r" b="b" t="t" l="l"/>
                <a:pathLst>
                  <a:path h="498173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5000"/>
                      <a:pt x="7105142" y="11082"/>
                    </a:cubicBezTo>
                    <a:lnTo>
                      <a:pt x="7105142" y="4970650"/>
                    </a:lnTo>
                    <a:cubicBezTo>
                      <a:pt x="7105142" y="4976816"/>
                      <a:pt x="7097522" y="4981732"/>
                      <a:pt x="7088251" y="4981732"/>
                    </a:cubicBezTo>
                    <a:lnTo>
                      <a:pt x="16891" y="4981732"/>
                    </a:lnTo>
                    <a:cubicBezTo>
                      <a:pt x="7493" y="4981732"/>
                      <a:pt x="0" y="4976733"/>
                      <a:pt x="0" y="4970650"/>
                    </a:cubicBezTo>
                    <a:lnTo>
                      <a:pt x="0" y="11082"/>
                    </a:lnTo>
                    <a:cubicBezTo>
                      <a:pt x="0" y="5000"/>
                      <a:pt x="7620" y="0"/>
                      <a:pt x="16891" y="0"/>
                    </a:cubicBezTo>
                    <a:moveTo>
                      <a:pt x="16891" y="22248"/>
                    </a:moveTo>
                    <a:lnTo>
                      <a:pt x="16891" y="11082"/>
                    </a:lnTo>
                    <a:lnTo>
                      <a:pt x="33909" y="11082"/>
                    </a:lnTo>
                    <a:lnTo>
                      <a:pt x="33909" y="4970650"/>
                    </a:lnTo>
                    <a:lnTo>
                      <a:pt x="16891" y="4970650"/>
                    </a:lnTo>
                    <a:lnTo>
                      <a:pt x="16891" y="4959568"/>
                    </a:lnTo>
                    <a:lnTo>
                      <a:pt x="7088251" y="4959568"/>
                    </a:lnTo>
                    <a:lnTo>
                      <a:pt x="7088251" y="4970650"/>
                    </a:lnTo>
                    <a:lnTo>
                      <a:pt x="7071360" y="4970650"/>
                    </a:lnTo>
                    <a:lnTo>
                      <a:pt x="7071360" y="11082"/>
                    </a:lnTo>
                    <a:lnTo>
                      <a:pt x="7088251" y="11082"/>
                    </a:lnTo>
                    <a:lnTo>
                      <a:pt x="7088251" y="22248"/>
                    </a:lnTo>
                    <a:lnTo>
                      <a:pt x="16891" y="22248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01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64401" y="1711400"/>
              <a:ext cx="4279722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Captur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 and Perception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67189" y="2401211"/>
            <a:ext cx="3753622" cy="2672650"/>
            <a:chOff x="0" y="0"/>
            <a:chExt cx="5004830" cy="356353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16929"/>
              <a:ext cx="5004830" cy="3546604"/>
              <a:chOff x="0" y="0"/>
              <a:chExt cx="10666426" cy="755861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25357" y="16815"/>
                <a:ext cx="10615579" cy="7524899"/>
              </a:xfrm>
              <a:custGeom>
                <a:avLst/>
                <a:gdLst/>
                <a:ahLst/>
                <a:cxnLst/>
                <a:rect r="r" b="b" t="t" l="l"/>
                <a:pathLst>
                  <a:path h="7524899" w="10615579">
                    <a:moveTo>
                      <a:pt x="0" y="0"/>
                    </a:moveTo>
                    <a:lnTo>
                      <a:pt x="10615579" y="0"/>
                    </a:lnTo>
                    <a:lnTo>
                      <a:pt x="10615579" y="7524899"/>
                    </a:lnTo>
                    <a:lnTo>
                      <a:pt x="0" y="7524899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666292" cy="7558528"/>
              </a:xfrm>
              <a:custGeom>
                <a:avLst/>
                <a:gdLst/>
                <a:ahLst/>
                <a:cxnLst/>
                <a:rect r="r" b="b" t="t" l="l"/>
                <a:pathLst>
                  <a:path h="7558528" w="10666292">
                    <a:moveTo>
                      <a:pt x="25357" y="0"/>
                    </a:moveTo>
                    <a:lnTo>
                      <a:pt x="10640936" y="0"/>
                    </a:lnTo>
                    <a:cubicBezTo>
                      <a:pt x="10655044" y="0"/>
                      <a:pt x="10666292" y="7586"/>
                      <a:pt x="10666292" y="16815"/>
                    </a:cubicBezTo>
                    <a:lnTo>
                      <a:pt x="10666292" y="7541714"/>
                    </a:lnTo>
                    <a:cubicBezTo>
                      <a:pt x="10666292" y="7551069"/>
                      <a:pt x="10654854" y="7558528"/>
                      <a:pt x="10640936" y="7558528"/>
                    </a:cubicBezTo>
                    <a:lnTo>
                      <a:pt x="25357" y="7558528"/>
                    </a:lnTo>
                    <a:cubicBezTo>
                      <a:pt x="11249" y="7558528"/>
                      <a:pt x="0" y="7550943"/>
                      <a:pt x="0" y="7541714"/>
                    </a:cubicBezTo>
                    <a:lnTo>
                      <a:pt x="0" y="16815"/>
                    </a:lnTo>
                    <a:cubicBezTo>
                      <a:pt x="0" y="7586"/>
                      <a:pt x="11439" y="0"/>
                      <a:pt x="25357" y="0"/>
                    </a:cubicBezTo>
                    <a:moveTo>
                      <a:pt x="25357" y="33756"/>
                    </a:moveTo>
                    <a:lnTo>
                      <a:pt x="25357" y="16815"/>
                    </a:lnTo>
                    <a:lnTo>
                      <a:pt x="50904" y="16815"/>
                    </a:lnTo>
                    <a:lnTo>
                      <a:pt x="50904" y="7541714"/>
                    </a:lnTo>
                    <a:lnTo>
                      <a:pt x="25357" y="7541714"/>
                    </a:lnTo>
                    <a:lnTo>
                      <a:pt x="25357" y="7524899"/>
                    </a:lnTo>
                    <a:lnTo>
                      <a:pt x="10640936" y="7524899"/>
                    </a:lnTo>
                    <a:lnTo>
                      <a:pt x="10640936" y="7541714"/>
                    </a:lnTo>
                    <a:lnTo>
                      <a:pt x="10615579" y="7541714"/>
                    </a:lnTo>
                    <a:lnTo>
                      <a:pt x="10615579" y="16815"/>
                    </a:lnTo>
                    <a:lnTo>
                      <a:pt x="10640936" y="16815"/>
                    </a:lnTo>
                    <a:lnTo>
                      <a:pt x="10640936" y="33756"/>
                    </a:lnTo>
                    <a:lnTo>
                      <a:pt x="25357" y="33756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02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57961" y="1728329"/>
              <a:ext cx="468890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Int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erpretation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414236" y="2388514"/>
            <a:ext cx="3866573" cy="2632174"/>
            <a:chOff x="0" y="0"/>
            <a:chExt cx="5155431" cy="3509565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5155431" cy="3509565"/>
              <a:chOff x="0" y="0"/>
              <a:chExt cx="11028948" cy="750796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26219" y="16702"/>
                <a:ext cx="10976372" cy="7474477"/>
              </a:xfrm>
              <a:custGeom>
                <a:avLst/>
                <a:gdLst/>
                <a:ahLst/>
                <a:cxnLst/>
                <a:rect r="r" b="b" t="t" l="l"/>
                <a:pathLst>
                  <a:path h="7474477" w="10976372">
                    <a:moveTo>
                      <a:pt x="0" y="0"/>
                    </a:moveTo>
                    <a:lnTo>
                      <a:pt x="10976372" y="0"/>
                    </a:lnTo>
                    <a:lnTo>
                      <a:pt x="10976372" y="7474477"/>
                    </a:lnTo>
                    <a:lnTo>
                      <a:pt x="0" y="7474477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028809" cy="7507881"/>
              </a:xfrm>
              <a:custGeom>
                <a:avLst/>
                <a:gdLst/>
                <a:ahLst/>
                <a:cxnLst/>
                <a:rect r="r" b="b" t="t" l="l"/>
                <a:pathLst>
                  <a:path h="7507881" w="11028809">
                    <a:moveTo>
                      <a:pt x="26219" y="0"/>
                    </a:moveTo>
                    <a:lnTo>
                      <a:pt x="11002591" y="0"/>
                    </a:lnTo>
                    <a:cubicBezTo>
                      <a:pt x="11017179" y="0"/>
                      <a:pt x="11028809" y="7535"/>
                      <a:pt x="11028809" y="16702"/>
                    </a:cubicBezTo>
                    <a:lnTo>
                      <a:pt x="11028809" y="7491179"/>
                    </a:lnTo>
                    <a:cubicBezTo>
                      <a:pt x="11028809" y="7500472"/>
                      <a:pt x="11016982" y="7507881"/>
                      <a:pt x="11002591" y="7507881"/>
                    </a:cubicBezTo>
                    <a:lnTo>
                      <a:pt x="26219" y="7507881"/>
                    </a:lnTo>
                    <a:cubicBezTo>
                      <a:pt x="11631" y="7507881"/>
                      <a:pt x="0" y="7500347"/>
                      <a:pt x="0" y="7491179"/>
                    </a:cubicBezTo>
                    <a:lnTo>
                      <a:pt x="0" y="16702"/>
                    </a:lnTo>
                    <a:cubicBezTo>
                      <a:pt x="0" y="7535"/>
                      <a:pt x="11828" y="0"/>
                      <a:pt x="26219" y="0"/>
                    </a:cubicBezTo>
                    <a:moveTo>
                      <a:pt x="26219" y="33530"/>
                    </a:moveTo>
                    <a:lnTo>
                      <a:pt x="26219" y="16702"/>
                    </a:lnTo>
                    <a:lnTo>
                      <a:pt x="52635" y="16702"/>
                    </a:lnTo>
                    <a:lnTo>
                      <a:pt x="52635" y="7491179"/>
                    </a:lnTo>
                    <a:lnTo>
                      <a:pt x="26219" y="7491179"/>
                    </a:lnTo>
                    <a:lnTo>
                      <a:pt x="26219" y="7474477"/>
                    </a:lnTo>
                    <a:lnTo>
                      <a:pt x="11002591" y="7474477"/>
                    </a:lnTo>
                    <a:lnTo>
                      <a:pt x="11002591" y="7491179"/>
                    </a:lnTo>
                    <a:lnTo>
                      <a:pt x="10976372" y="7491179"/>
                    </a:lnTo>
                    <a:lnTo>
                      <a:pt x="10976372" y="16702"/>
                    </a:lnTo>
                    <a:lnTo>
                      <a:pt x="11002591" y="16702"/>
                    </a:lnTo>
                    <a:lnTo>
                      <a:pt x="11002591" y="33530"/>
                    </a:lnTo>
                    <a:lnTo>
                      <a:pt x="26219" y="3353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03</a:t>
                </a: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578348" y="1745258"/>
              <a:ext cx="3998747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Nav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igation Decision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144613" y="5970909"/>
            <a:ext cx="3782288" cy="2651929"/>
            <a:chOff x="0" y="0"/>
            <a:chExt cx="5043051" cy="3535906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5043051" cy="3535906"/>
              <a:chOff x="0" y="0"/>
              <a:chExt cx="7105231" cy="4981791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6891" y="11082"/>
                <a:ext cx="7071360" cy="4959568"/>
              </a:xfrm>
              <a:custGeom>
                <a:avLst/>
                <a:gdLst/>
                <a:ahLst/>
                <a:cxnLst/>
                <a:rect r="r" b="b" t="t" l="l"/>
                <a:pathLst>
                  <a:path h="4959568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4959568"/>
                    </a:lnTo>
                    <a:lnTo>
                      <a:pt x="0" y="495956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7105142" cy="4981732"/>
              </a:xfrm>
              <a:custGeom>
                <a:avLst/>
                <a:gdLst/>
                <a:ahLst/>
                <a:cxnLst/>
                <a:rect r="r" b="b" t="t" l="l"/>
                <a:pathLst>
                  <a:path h="498173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5000"/>
                      <a:pt x="7105142" y="11082"/>
                    </a:cubicBezTo>
                    <a:lnTo>
                      <a:pt x="7105142" y="4970650"/>
                    </a:lnTo>
                    <a:cubicBezTo>
                      <a:pt x="7105142" y="4976816"/>
                      <a:pt x="7097522" y="4981732"/>
                      <a:pt x="7088251" y="4981732"/>
                    </a:cubicBezTo>
                    <a:lnTo>
                      <a:pt x="16891" y="4981732"/>
                    </a:lnTo>
                    <a:cubicBezTo>
                      <a:pt x="7493" y="4981732"/>
                      <a:pt x="0" y="4976733"/>
                      <a:pt x="0" y="4970650"/>
                    </a:cubicBezTo>
                    <a:lnTo>
                      <a:pt x="0" y="11082"/>
                    </a:lnTo>
                    <a:cubicBezTo>
                      <a:pt x="0" y="5000"/>
                      <a:pt x="7620" y="0"/>
                      <a:pt x="16891" y="0"/>
                    </a:cubicBezTo>
                    <a:moveTo>
                      <a:pt x="16891" y="22248"/>
                    </a:moveTo>
                    <a:lnTo>
                      <a:pt x="16891" y="11082"/>
                    </a:lnTo>
                    <a:lnTo>
                      <a:pt x="33909" y="11082"/>
                    </a:lnTo>
                    <a:lnTo>
                      <a:pt x="33909" y="4970650"/>
                    </a:lnTo>
                    <a:lnTo>
                      <a:pt x="16891" y="4970650"/>
                    </a:lnTo>
                    <a:lnTo>
                      <a:pt x="16891" y="4959568"/>
                    </a:lnTo>
                    <a:lnTo>
                      <a:pt x="7088251" y="4959568"/>
                    </a:lnTo>
                    <a:lnTo>
                      <a:pt x="7088251" y="4970650"/>
                    </a:lnTo>
                    <a:lnTo>
                      <a:pt x="7071360" y="4970650"/>
                    </a:lnTo>
                    <a:lnTo>
                      <a:pt x="7071360" y="11082"/>
                    </a:lnTo>
                    <a:lnTo>
                      <a:pt x="7088251" y="11082"/>
                    </a:lnTo>
                    <a:lnTo>
                      <a:pt x="7088251" y="22248"/>
                    </a:lnTo>
                    <a:lnTo>
                      <a:pt x="16891" y="22248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05</a:t>
                </a: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364401" y="1666612"/>
              <a:ext cx="4279722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Saf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ety and Failure Handling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488876" y="5958212"/>
            <a:ext cx="3753622" cy="2672650"/>
            <a:chOff x="0" y="0"/>
            <a:chExt cx="5004830" cy="3563533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16929"/>
              <a:ext cx="5004830" cy="3546604"/>
              <a:chOff x="0" y="0"/>
              <a:chExt cx="10666426" cy="7558617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25357" y="16815"/>
                <a:ext cx="10615579" cy="7524899"/>
              </a:xfrm>
              <a:custGeom>
                <a:avLst/>
                <a:gdLst/>
                <a:ahLst/>
                <a:cxnLst/>
                <a:rect r="r" b="b" t="t" l="l"/>
                <a:pathLst>
                  <a:path h="7524899" w="10615579">
                    <a:moveTo>
                      <a:pt x="0" y="0"/>
                    </a:moveTo>
                    <a:lnTo>
                      <a:pt x="10615579" y="0"/>
                    </a:lnTo>
                    <a:lnTo>
                      <a:pt x="10615579" y="7524899"/>
                    </a:lnTo>
                    <a:lnTo>
                      <a:pt x="0" y="7524899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0666292" cy="7558528"/>
              </a:xfrm>
              <a:custGeom>
                <a:avLst/>
                <a:gdLst/>
                <a:ahLst/>
                <a:cxnLst/>
                <a:rect r="r" b="b" t="t" l="l"/>
                <a:pathLst>
                  <a:path h="7558528" w="10666292">
                    <a:moveTo>
                      <a:pt x="25357" y="0"/>
                    </a:moveTo>
                    <a:lnTo>
                      <a:pt x="10640936" y="0"/>
                    </a:lnTo>
                    <a:cubicBezTo>
                      <a:pt x="10655044" y="0"/>
                      <a:pt x="10666292" y="7586"/>
                      <a:pt x="10666292" y="16815"/>
                    </a:cubicBezTo>
                    <a:lnTo>
                      <a:pt x="10666292" y="7541714"/>
                    </a:lnTo>
                    <a:cubicBezTo>
                      <a:pt x="10666292" y="7551069"/>
                      <a:pt x="10654854" y="7558528"/>
                      <a:pt x="10640936" y="7558528"/>
                    </a:cubicBezTo>
                    <a:lnTo>
                      <a:pt x="25357" y="7558528"/>
                    </a:lnTo>
                    <a:cubicBezTo>
                      <a:pt x="11249" y="7558528"/>
                      <a:pt x="0" y="7550943"/>
                      <a:pt x="0" y="7541714"/>
                    </a:cubicBezTo>
                    <a:lnTo>
                      <a:pt x="0" y="16815"/>
                    </a:lnTo>
                    <a:cubicBezTo>
                      <a:pt x="0" y="7586"/>
                      <a:pt x="11439" y="0"/>
                      <a:pt x="25357" y="0"/>
                    </a:cubicBezTo>
                    <a:moveTo>
                      <a:pt x="25357" y="33756"/>
                    </a:moveTo>
                    <a:lnTo>
                      <a:pt x="25357" y="16815"/>
                    </a:lnTo>
                    <a:lnTo>
                      <a:pt x="50904" y="16815"/>
                    </a:lnTo>
                    <a:lnTo>
                      <a:pt x="50904" y="7541714"/>
                    </a:lnTo>
                    <a:lnTo>
                      <a:pt x="25357" y="7541714"/>
                    </a:lnTo>
                    <a:lnTo>
                      <a:pt x="25357" y="7524899"/>
                    </a:lnTo>
                    <a:lnTo>
                      <a:pt x="10640936" y="7524899"/>
                    </a:lnTo>
                    <a:lnTo>
                      <a:pt x="10640936" y="7541714"/>
                    </a:lnTo>
                    <a:lnTo>
                      <a:pt x="10615579" y="7541714"/>
                    </a:lnTo>
                    <a:lnTo>
                      <a:pt x="10615579" y="16815"/>
                    </a:lnTo>
                    <a:lnTo>
                      <a:pt x="10640936" y="16815"/>
                    </a:lnTo>
                    <a:lnTo>
                      <a:pt x="10640936" y="33756"/>
                    </a:lnTo>
                    <a:lnTo>
                      <a:pt x="25357" y="33756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56" id="56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06</a:t>
                </a: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157961" y="1683541"/>
              <a:ext cx="4688908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etup, Session, Accessibility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01238" y="5960549"/>
            <a:ext cx="3866573" cy="2632174"/>
            <a:chOff x="0" y="0"/>
            <a:chExt cx="5155431" cy="3509565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5155431" cy="3509565"/>
              <a:chOff x="0" y="0"/>
              <a:chExt cx="11028948" cy="7507969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26219" y="16702"/>
                <a:ext cx="10976372" cy="7474477"/>
              </a:xfrm>
              <a:custGeom>
                <a:avLst/>
                <a:gdLst/>
                <a:ahLst/>
                <a:cxnLst/>
                <a:rect r="r" b="b" t="t" l="l"/>
                <a:pathLst>
                  <a:path h="7474477" w="10976372">
                    <a:moveTo>
                      <a:pt x="0" y="0"/>
                    </a:moveTo>
                    <a:lnTo>
                      <a:pt x="10976372" y="0"/>
                    </a:lnTo>
                    <a:lnTo>
                      <a:pt x="10976372" y="7474477"/>
                    </a:lnTo>
                    <a:lnTo>
                      <a:pt x="0" y="7474477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1028809" cy="7507881"/>
              </a:xfrm>
              <a:custGeom>
                <a:avLst/>
                <a:gdLst/>
                <a:ahLst/>
                <a:cxnLst/>
                <a:rect r="r" b="b" t="t" l="l"/>
                <a:pathLst>
                  <a:path h="7507881" w="11028809">
                    <a:moveTo>
                      <a:pt x="26219" y="0"/>
                    </a:moveTo>
                    <a:lnTo>
                      <a:pt x="11002591" y="0"/>
                    </a:lnTo>
                    <a:cubicBezTo>
                      <a:pt x="11017179" y="0"/>
                      <a:pt x="11028809" y="7535"/>
                      <a:pt x="11028809" y="16702"/>
                    </a:cubicBezTo>
                    <a:lnTo>
                      <a:pt x="11028809" y="7491179"/>
                    </a:lnTo>
                    <a:cubicBezTo>
                      <a:pt x="11028809" y="7500472"/>
                      <a:pt x="11016982" y="7507881"/>
                      <a:pt x="11002591" y="7507881"/>
                    </a:cubicBezTo>
                    <a:lnTo>
                      <a:pt x="26219" y="7507881"/>
                    </a:lnTo>
                    <a:cubicBezTo>
                      <a:pt x="11631" y="7507881"/>
                      <a:pt x="0" y="7500347"/>
                      <a:pt x="0" y="7491179"/>
                    </a:cubicBezTo>
                    <a:lnTo>
                      <a:pt x="0" y="16702"/>
                    </a:lnTo>
                    <a:cubicBezTo>
                      <a:pt x="0" y="7535"/>
                      <a:pt x="11828" y="0"/>
                      <a:pt x="26219" y="0"/>
                    </a:cubicBezTo>
                    <a:moveTo>
                      <a:pt x="26219" y="33530"/>
                    </a:moveTo>
                    <a:lnTo>
                      <a:pt x="26219" y="16702"/>
                    </a:lnTo>
                    <a:lnTo>
                      <a:pt x="52635" y="16702"/>
                    </a:lnTo>
                    <a:lnTo>
                      <a:pt x="52635" y="7491179"/>
                    </a:lnTo>
                    <a:lnTo>
                      <a:pt x="26219" y="7491179"/>
                    </a:lnTo>
                    <a:lnTo>
                      <a:pt x="26219" y="7474477"/>
                    </a:lnTo>
                    <a:lnTo>
                      <a:pt x="11002591" y="7474477"/>
                    </a:lnTo>
                    <a:lnTo>
                      <a:pt x="11002591" y="7491179"/>
                    </a:lnTo>
                    <a:lnTo>
                      <a:pt x="10976372" y="7491179"/>
                    </a:lnTo>
                    <a:lnTo>
                      <a:pt x="10976372" y="16702"/>
                    </a:lnTo>
                    <a:lnTo>
                      <a:pt x="11002591" y="16702"/>
                    </a:lnTo>
                    <a:lnTo>
                      <a:pt x="11002591" y="33530"/>
                    </a:lnTo>
                    <a:lnTo>
                      <a:pt x="26219" y="3353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70" id="70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04</a:t>
                </a:r>
              </a:p>
            </p:txBody>
          </p:sp>
        </p:grpSp>
        <p:sp>
          <p:nvSpPr>
            <p:cNvPr name="TextBox 73" id="73"/>
            <p:cNvSpPr txBox="true"/>
            <p:nvPr/>
          </p:nvSpPr>
          <p:spPr>
            <a:xfrm rot="0">
              <a:off x="799008" y="1680426"/>
              <a:ext cx="3564828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Gu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idance Delivery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804474" y="5968573"/>
            <a:ext cx="3782288" cy="2651929"/>
            <a:chOff x="0" y="0"/>
            <a:chExt cx="5043051" cy="3535906"/>
          </a:xfrm>
        </p:grpSpPr>
        <p:grpSp>
          <p:nvGrpSpPr>
            <p:cNvPr name="Group 75" id="75"/>
            <p:cNvGrpSpPr/>
            <p:nvPr/>
          </p:nvGrpSpPr>
          <p:grpSpPr>
            <a:xfrm rot="0">
              <a:off x="0" y="0"/>
              <a:ext cx="5043051" cy="3535906"/>
              <a:chOff x="0" y="0"/>
              <a:chExt cx="7105231" cy="4981791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1082"/>
                <a:ext cx="7071360" cy="4959568"/>
              </a:xfrm>
              <a:custGeom>
                <a:avLst/>
                <a:gdLst/>
                <a:ahLst/>
                <a:cxnLst/>
                <a:rect r="r" b="b" t="t" l="l"/>
                <a:pathLst>
                  <a:path h="4959568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4959568"/>
                    </a:lnTo>
                    <a:lnTo>
                      <a:pt x="0" y="495956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7105142" cy="4981732"/>
              </a:xfrm>
              <a:custGeom>
                <a:avLst/>
                <a:gdLst/>
                <a:ahLst/>
                <a:cxnLst/>
                <a:rect r="r" b="b" t="t" l="l"/>
                <a:pathLst>
                  <a:path h="498173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5000"/>
                      <a:pt x="7105142" y="11082"/>
                    </a:cubicBezTo>
                    <a:lnTo>
                      <a:pt x="7105142" y="4970650"/>
                    </a:lnTo>
                    <a:cubicBezTo>
                      <a:pt x="7105142" y="4976816"/>
                      <a:pt x="7097522" y="4981732"/>
                      <a:pt x="7088251" y="4981732"/>
                    </a:cubicBezTo>
                    <a:lnTo>
                      <a:pt x="16891" y="4981732"/>
                    </a:lnTo>
                    <a:cubicBezTo>
                      <a:pt x="7493" y="4981732"/>
                      <a:pt x="0" y="4976733"/>
                      <a:pt x="0" y="4970650"/>
                    </a:cubicBezTo>
                    <a:lnTo>
                      <a:pt x="0" y="11082"/>
                    </a:lnTo>
                    <a:cubicBezTo>
                      <a:pt x="0" y="5000"/>
                      <a:pt x="7620" y="0"/>
                      <a:pt x="16891" y="0"/>
                    </a:cubicBezTo>
                    <a:moveTo>
                      <a:pt x="16891" y="22248"/>
                    </a:moveTo>
                    <a:lnTo>
                      <a:pt x="16891" y="11082"/>
                    </a:lnTo>
                    <a:lnTo>
                      <a:pt x="33909" y="11082"/>
                    </a:lnTo>
                    <a:lnTo>
                      <a:pt x="33909" y="4970650"/>
                    </a:lnTo>
                    <a:lnTo>
                      <a:pt x="16891" y="4970650"/>
                    </a:lnTo>
                    <a:lnTo>
                      <a:pt x="16891" y="4959568"/>
                    </a:lnTo>
                    <a:lnTo>
                      <a:pt x="7088251" y="4959568"/>
                    </a:lnTo>
                    <a:lnTo>
                      <a:pt x="7088251" y="4970650"/>
                    </a:lnTo>
                    <a:lnTo>
                      <a:pt x="7071360" y="4970650"/>
                    </a:lnTo>
                    <a:lnTo>
                      <a:pt x="7071360" y="11082"/>
                    </a:lnTo>
                    <a:lnTo>
                      <a:pt x="7088251" y="11082"/>
                    </a:lnTo>
                    <a:lnTo>
                      <a:pt x="7088251" y="22248"/>
                    </a:lnTo>
                    <a:lnTo>
                      <a:pt x="16891" y="22248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07</a:t>
                </a:r>
              </a:p>
            </p:txBody>
          </p:sp>
        </p:grpSp>
        <p:sp>
          <p:nvSpPr>
            <p:cNvPr name="TextBox 84" id="84"/>
            <p:cNvSpPr txBox="true"/>
            <p:nvPr/>
          </p:nvSpPr>
          <p:spPr>
            <a:xfrm rot="0">
              <a:off x="837626" y="1669728"/>
              <a:ext cx="3367800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Logging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 and Review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4929664" y="9172575"/>
            <a:ext cx="84286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i="true">
                <a:solidFill>
                  <a:srgbClr val="FFFFFF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Total </a:t>
            </a:r>
            <a:r>
              <a:rPr lang="en-US" sz="2600" i="true">
                <a:solidFill>
                  <a:srgbClr val="FFFFFF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26 Functional Requirements covered under 7 Areas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994451"/>
            <a:ext cx="16230600" cy="869540"/>
            <a:chOff x="0" y="0"/>
            <a:chExt cx="21640800" cy="115938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FR-2 — Estima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te distance to obstacles and to the ground ahead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028700" y="3140217"/>
            <a:ext cx="16230600" cy="869540"/>
            <a:chOff x="0" y="0"/>
            <a:chExt cx="21640800" cy="115938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FR-5 — D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istance, approach speed and time-to-collision per agent, from measured frame times</a:t>
                </a: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028700" y="4285982"/>
            <a:ext cx="16230600" cy="869540"/>
            <a:chOff x="0" y="0"/>
            <a:chExt cx="21640800" cy="115938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FR-9 — Exac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tly one command per cycle from the nine, by fixed-order rules, cautious default</a:t>
                </a: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028700" y="5431748"/>
            <a:ext cx="16230600" cy="869540"/>
            <a:chOff x="0" y="0"/>
            <a:chExt cx="21640800" cy="1159387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FR-12 — Speak 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each command, play its earcon, vibrate for urgent ones</a:t>
                </a: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1028700" y="6577513"/>
            <a:ext cx="16230600" cy="869540"/>
            <a:chOff x="0" y="0"/>
            <a:chExt cx="21640800" cy="1159387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FR-19 — Announce tha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 guidance has stopped on any fault. Never fail silently</a:t>
                </a:r>
              </a:p>
            </p:txBody>
          </p:sp>
        </p:grpSp>
      </p:grpSp>
      <p:grpSp>
        <p:nvGrpSpPr>
          <p:cNvPr name="Group 55" id="55"/>
          <p:cNvGrpSpPr/>
          <p:nvPr/>
        </p:nvGrpSpPr>
        <p:grpSpPr>
          <a:xfrm rot="0">
            <a:off x="1028700" y="7723279"/>
            <a:ext cx="16230600" cy="869540"/>
            <a:chOff x="0" y="0"/>
            <a:chExt cx="21640800" cy="1159387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FR-23 — Spoken setup: FOV, moun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ting, depth check, and a left/right test that blocks use if it fails</a:t>
                </a:r>
              </a:p>
            </p:txBody>
          </p:sp>
        </p:grpSp>
      </p:grpSp>
      <p:grpSp>
        <p:nvGrpSpPr>
          <p:cNvPr name="Group 65" id="65"/>
          <p:cNvGrpSpPr/>
          <p:nvPr/>
        </p:nvGrpSpPr>
        <p:grpSpPr>
          <a:xfrm rot="0">
            <a:off x="1028700" y="8869044"/>
            <a:ext cx="16230600" cy="869540"/>
            <a:chOff x="0" y="0"/>
            <a:chExt cx="21640800" cy="1159387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FR-24 — R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ecord every decision with its values. Store no images due to privacy concern</a:t>
                </a:r>
              </a:p>
            </p:txBody>
          </p:sp>
        </p:grpSp>
      </p:grpSp>
      <p:grpSp>
        <p:nvGrpSpPr>
          <p:cNvPr name="Group 75" id="7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Functional Requirements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24331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Non-Functional Requirements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29664" y="9172575"/>
            <a:ext cx="84286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i="true">
                <a:solidFill>
                  <a:srgbClr val="FFFFFF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Total 16</a:t>
            </a:r>
            <a:r>
              <a:rPr lang="en-US" sz="2600" i="true">
                <a:solidFill>
                  <a:srgbClr val="FFFFFF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 Functional Requirements covered under 5 Areas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13935" y="2081350"/>
            <a:ext cx="16872828" cy="2651929"/>
            <a:chOff x="0" y="0"/>
            <a:chExt cx="22497104" cy="353590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2497104" cy="3535906"/>
              <a:chOff x="0" y="0"/>
              <a:chExt cx="31696508" cy="498179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75351" y="11082"/>
                <a:ext cx="31545410" cy="4959568"/>
              </a:xfrm>
              <a:custGeom>
                <a:avLst/>
                <a:gdLst/>
                <a:ahLst/>
                <a:cxnLst/>
                <a:rect r="r" b="b" t="t" l="l"/>
                <a:pathLst>
                  <a:path h="4959568" w="31545410">
                    <a:moveTo>
                      <a:pt x="0" y="0"/>
                    </a:moveTo>
                    <a:lnTo>
                      <a:pt x="31545410" y="0"/>
                    </a:lnTo>
                    <a:lnTo>
                      <a:pt x="31545410" y="4959568"/>
                    </a:lnTo>
                    <a:lnTo>
                      <a:pt x="0" y="495956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1696109" cy="4981732"/>
              </a:xfrm>
              <a:custGeom>
                <a:avLst/>
                <a:gdLst/>
                <a:ahLst/>
                <a:cxnLst/>
                <a:rect r="r" b="b" t="t" l="l"/>
                <a:pathLst>
                  <a:path h="4981732" w="31696109">
                    <a:moveTo>
                      <a:pt x="75351" y="0"/>
                    </a:moveTo>
                    <a:lnTo>
                      <a:pt x="31620761" y="0"/>
                    </a:lnTo>
                    <a:cubicBezTo>
                      <a:pt x="31662684" y="0"/>
                      <a:pt x="31696109" y="5000"/>
                      <a:pt x="31696109" y="11082"/>
                    </a:cubicBezTo>
                    <a:lnTo>
                      <a:pt x="31696109" y="4970650"/>
                    </a:lnTo>
                    <a:cubicBezTo>
                      <a:pt x="31696109" y="4976816"/>
                      <a:pt x="31662117" y="4981732"/>
                      <a:pt x="31620761" y="4981732"/>
                    </a:cubicBezTo>
                    <a:lnTo>
                      <a:pt x="75351" y="4981732"/>
                    </a:lnTo>
                    <a:cubicBezTo>
                      <a:pt x="33426" y="4981732"/>
                      <a:pt x="0" y="4976733"/>
                      <a:pt x="0" y="4970650"/>
                    </a:cubicBezTo>
                    <a:lnTo>
                      <a:pt x="0" y="11082"/>
                    </a:lnTo>
                    <a:cubicBezTo>
                      <a:pt x="0" y="5000"/>
                      <a:pt x="33993" y="0"/>
                      <a:pt x="75351" y="0"/>
                    </a:cubicBezTo>
                    <a:moveTo>
                      <a:pt x="75351" y="22248"/>
                    </a:moveTo>
                    <a:lnTo>
                      <a:pt x="75351" y="11082"/>
                    </a:lnTo>
                    <a:lnTo>
                      <a:pt x="151268" y="11082"/>
                    </a:lnTo>
                    <a:lnTo>
                      <a:pt x="151268" y="4970650"/>
                    </a:lnTo>
                    <a:lnTo>
                      <a:pt x="75351" y="4970650"/>
                    </a:lnTo>
                    <a:lnTo>
                      <a:pt x="75351" y="4959568"/>
                    </a:lnTo>
                    <a:lnTo>
                      <a:pt x="31620761" y="4959568"/>
                    </a:lnTo>
                    <a:lnTo>
                      <a:pt x="31620761" y="4970650"/>
                    </a:lnTo>
                    <a:lnTo>
                      <a:pt x="31545408" y="4970650"/>
                    </a:lnTo>
                    <a:lnTo>
                      <a:pt x="31545408" y="11082"/>
                    </a:lnTo>
                    <a:lnTo>
                      <a:pt x="31620761" y="11082"/>
                    </a:lnTo>
                    <a:lnTo>
                      <a:pt x="31620761" y="22248"/>
                    </a:lnTo>
                    <a:lnTo>
                      <a:pt x="75351" y="22248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01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410995" y="286175"/>
              <a:ext cx="2299582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Safety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19687" y="1456803"/>
              <a:ext cx="21640800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Every failure leaves the system more cautious — never less (NFR-5)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Left and right are never reversed (NFR-6)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No fault is signalled by silence alone (NFR-7)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1238" y="5364191"/>
            <a:ext cx="3866573" cy="3266671"/>
            <a:chOff x="0" y="0"/>
            <a:chExt cx="5155431" cy="435556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5155431" cy="4355561"/>
              <a:chOff x="0" y="0"/>
              <a:chExt cx="11028948" cy="931779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26219" y="20728"/>
                <a:ext cx="10976372" cy="9276232"/>
              </a:xfrm>
              <a:custGeom>
                <a:avLst/>
                <a:gdLst/>
                <a:ahLst/>
                <a:cxnLst/>
                <a:rect r="r" b="b" t="t" l="l"/>
                <a:pathLst>
                  <a:path h="9276232" w="10976372">
                    <a:moveTo>
                      <a:pt x="0" y="0"/>
                    </a:moveTo>
                    <a:lnTo>
                      <a:pt x="10976372" y="0"/>
                    </a:lnTo>
                    <a:lnTo>
                      <a:pt x="10976372" y="9276232"/>
                    </a:lnTo>
                    <a:lnTo>
                      <a:pt x="0" y="9276232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1028809" cy="9317688"/>
              </a:xfrm>
              <a:custGeom>
                <a:avLst/>
                <a:gdLst/>
                <a:ahLst/>
                <a:cxnLst/>
                <a:rect r="r" b="b" t="t" l="l"/>
                <a:pathLst>
                  <a:path h="9317688" w="11028809">
                    <a:moveTo>
                      <a:pt x="26219" y="0"/>
                    </a:moveTo>
                    <a:lnTo>
                      <a:pt x="11002591" y="0"/>
                    </a:lnTo>
                    <a:cubicBezTo>
                      <a:pt x="11017179" y="0"/>
                      <a:pt x="11028809" y="9351"/>
                      <a:pt x="11028809" y="20728"/>
                    </a:cubicBezTo>
                    <a:lnTo>
                      <a:pt x="11028809" y="9296960"/>
                    </a:lnTo>
                    <a:cubicBezTo>
                      <a:pt x="11028809" y="9308493"/>
                      <a:pt x="11016982" y="9317688"/>
                      <a:pt x="11002591" y="9317688"/>
                    </a:cubicBezTo>
                    <a:lnTo>
                      <a:pt x="26219" y="9317688"/>
                    </a:lnTo>
                    <a:cubicBezTo>
                      <a:pt x="11631" y="9317688"/>
                      <a:pt x="0" y="9308337"/>
                      <a:pt x="0" y="9296960"/>
                    </a:cubicBezTo>
                    <a:lnTo>
                      <a:pt x="0" y="20728"/>
                    </a:lnTo>
                    <a:cubicBezTo>
                      <a:pt x="0" y="9351"/>
                      <a:pt x="11828" y="0"/>
                      <a:pt x="26219" y="0"/>
                    </a:cubicBezTo>
                    <a:moveTo>
                      <a:pt x="26219" y="41612"/>
                    </a:moveTo>
                    <a:lnTo>
                      <a:pt x="26219" y="20728"/>
                    </a:lnTo>
                    <a:lnTo>
                      <a:pt x="52635" y="20728"/>
                    </a:lnTo>
                    <a:lnTo>
                      <a:pt x="52635" y="9296960"/>
                    </a:lnTo>
                    <a:lnTo>
                      <a:pt x="26219" y="9296960"/>
                    </a:lnTo>
                    <a:lnTo>
                      <a:pt x="26219" y="9276232"/>
                    </a:lnTo>
                    <a:lnTo>
                      <a:pt x="11002591" y="9276232"/>
                    </a:lnTo>
                    <a:lnTo>
                      <a:pt x="11002591" y="9296960"/>
                    </a:lnTo>
                    <a:lnTo>
                      <a:pt x="10976372" y="9296960"/>
                    </a:lnTo>
                    <a:lnTo>
                      <a:pt x="10976372" y="20728"/>
                    </a:lnTo>
                    <a:lnTo>
                      <a:pt x="11002591" y="20728"/>
                    </a:lnTo>
                    <a:lnTo>
                      <a:pt x="11002591" y="41612"/>
                    </a:lnTo>
                    <a:lnTo>
                      <a:pt x="26219" y="41612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04</a:t>
                </a: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97448" y="1528195"/>
              <a:ext cx="4160534" cy="2051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 hard deadline for phone warnings, a looser one for server guidance; late guidance is discarded, not spoken (NFR-1–4)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662417" y="341205"/>
              <a:ext cx="2326660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Performance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135088" y="5364191"/>
            <a:ext cx="3782288" cy="3256311"/>
            <a:chOff x="0" y="0"/>
            <a:chExt cx="5043051" cy="4341748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5043051" cy="4341748"/>
              <a:chOff x="0" y="0"/>
              <a:chExt cx="7105231" cy="611715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6891" y="13608"/>
                <a:ext cx="7071360" cy="6089866"/>
              </a:xfrm>
              <a:custGeom>
                <a:avLst/>
                <a:gdLst/>
                <a:ahLst/>
                <a:cxnLst/>
                <a:rect r="r" b="b" t="t" l="l"/>
                <a:pathLst>
                  <a:path h="6089866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6089866"/>
                    </a:lnTo>
                    <a:lnTo>
                      <a:pt x="0" y="6089866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7105142" cy="6117082"/>
              </a:xfrm>
              <a:custGeom>
                <a:avLst/>
                <a:gdLst/>
                <a:ahLst/>
                <a:cxnLst/>
                <a:rect r="r" b="b" t="t" l="l"/>
                <a:pathLst>
                  <a:path h="611708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6139"/>
                      <a:pt x="7105142" y="13608"/>
                    </a:cubicBezTo>
                    <a:lnTo>
                      <a:pt x="7105142" y="6103474"/>
                    </a:lnTo>
                    <a:cubicBezTo>
                      <a:pt x="7105142" y="6111046"/>
                      <a:pt x="7097522" y="6117082"/>
                      <a:pt x="7088251" y="6117082"/>
                    </a:cubicBezTo>
                    <a:lnTo>
                      <a:pt x="16891" y="6117082"/>
                    </a:lnTo>
                    <a:cubicBezTo>
                      <a:pt x="7493" y="6117082"/>
                      <a:pt x="0" y="6110943"/>
                      <a:pt x="0" y="6103474"/>
                    </a:cubicBezTo>
                    <a:lnTo>
                      <a:pt x="0" y="13608"/>
                    </a:lnTo>
                    <a:cubicBezTo>
                      <a:pt x="0" y="6139"/>
                      <a:pt x="7620" y="0"/>
                      <a:pt x="16891" y="0"/>
                    </a:cubicBezTo>
                    <a:moveTo>
                      <a:pt x="16891" y="27318"/>
                    </a:moveTo>
                    <a:lnTo>
                      <a:pt x="16891" y="13608"/>
                    </a:lnTo>
                    <a:lnTo>
                      <a:pt x="33909" y="13608"/>
                    </a:lnTo>
                    <a:lnTo>
                      <a:pt x="33909" y="6103474"/>
                    </a:lnTo>
                    <a:lnTo>
                      <a:pt x="16891" y="6103474"/>
                    </a:lnTo>
                    <a:lnTo>
                      <a:pt x="16891" y="6089866"/>
                    </a:lnTo>
                    <a:lnTo>
                      <a:pt x="7088251" y="6089866"/>
                    </a:lnTo>
                    <a:lnTo>
                      <a:pt x="7088251" y="6103474"/>
                    </a:lnTo>
                    <a:lnTo>
                      <a:pt x="7071360" y="6103474"/>
                    </a:lnTo>
                    <a:lnTo>
                      <a:pt x="7071360" y="13608"/>
                    </a:lnTo>
                    <a:lnTo>
                      <a:pt x="7088251" y="13608"/>
                    </a:lnTo>
                    <a:lnTo>
                      <a:pt x="7088251" y="27318"/>
                    </a:lnTo>
                    <a:lnTo>
                      <a:pt x="16891" y="27318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05</a:t>
                </a: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195029" y="1528195"/>
              <a:ext cx="4658624" cy="2051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 long session runs without a crash or an unannounced loss of capability; no single dependency failure ends a session (NFR-9, 10)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676743" y="324275"/>
              <a:ext cx="1931404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Reliability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88876" y="5376888"/>
            <a:ext cx="3753622" cy="3243614"/>
            <a:chOff x="0" y="0"/>
            <a:chExt cx="5004830" cy="4324819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16929"/>
              <a:ext cx="5004830" cy="4307889"/>
              <a:chOff x="0" y="0"/>
              <a:chExt cx="10666426" cy="9181089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25357" y="20424"/>
                <a:ext cx="10615579" cy="9140133"/>
              </a:xfrm>
              <a:custGeom>
                <a:avLst/>
                <a:gdLst/>
                <a:ahLst/>
                <a:cxnLst/>
                <a:rect r="r" b="b" t="t" l="l"/>
                <a:pathLst>
                  <a:path h="9140133" w="10615579">
                    <a:moveTo>
                      <a:pt x="0" y="0"/>
                    </a:moveTo>
                    <a:lnTo>
                      <a:pt x="10615579" y="0"/>
                    </a:lnTo>
                    <a:lnTo>
                      <a:pt x="10615579" y="9140133"/>
                    </a:lnTo>
                    <a:lnTo>
                      <a:pt x="0" y="914013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666292" cy="9180981"/>
              </a:xfrm>
              <a:custGeom>
                <a:avLst/>
                <a:gdLst/>
                <a:ahLst/>
                <a:cxnLst/>
                <a:rect r="r" b="b" t="t" l="l"/>
                <a:pathLst>
                  <a:path h="9180981" w="10666292">
                    <a:moveTo>
                      <a:pt x="25357" y="0"/>
                    </a:moveTo>
                    <a:lnTo>
                      <a:pt x="10640936" y="0"/>
                    </a:lnTo>
                    <a:cubicBezTo>
                      <a:pt x="10655044" y="0"/>
                      <a:pt x="10666292" y="9214"/>
                      <a:pt x="10666292" y="20424"/>
                    </a:cubicBezTo>
                    <a:lnTo>
                      <a:pt x="10666292" y="9160557"/>
                    </a:lnTo>
                    <a:cubicBezTo>
                      <a:pt x="10666292" y="9171921"/>
                      <a:pt x="10654854" y="9180981"/>
                      <a:pt x="10640936" y="9180981"/>
                    </a:cubicBezTo>
                    <a:lnTo>
                      <a:pt x="25357" y="9180981"/>
                    </a:lnTo>
                    <a:cubicBezTo>
                      <a:pt x="11249" y="9180981"/>
                      <a:pt x="0" y="9171767"/>
                      <a:pt x="0" y="9160557"/>
                    </a:cubicBezTo>
                    <a:lnTo>
                      <a:pt x="0" y="20424"/>
                    </a:lnTo>
                    <a:cubicBezTo>
                      <a:pt x="0" y="9214"/>
                      <a:pt x="11439" y="0"/>
                      <a:pt x="25357" y="0"/>
                    </a:cubicBezTo>
                    <a:moveTo>
                      <a:pt x="25357" y="41002"/>
                    </a:moveTo>
                    <a:lnTo>
                      <a:pt x="25357" y="20424"/>
                    </a:lnTo>
                    <a:lnTo>
                      <a:pt x="50904" y="20424"/>
                    </a:lnTo>
                    <a:lnTo>
                      <a:pt x="50904" y="9160557"/>
                    </a:lnTo>
                    <a:lnTo>
                      <a:pt x="25357" y="9160557"/>
                    </a:lnTo>
                    <a:lnTo>
                      <a:pt x="25357" y="9140134"/>
                    </a:lnTo>
                    <a:lnTo>
                      <a:pt x="10640936" y="9140134"/>
                    </a:lnTo>
                    <a:lnTo>
                      <a:pt x="10640936" y="9160557"/>
                    </a:lnTo>
                    <a:lnTo>
                      <a:pt x="10615579" y="9160557"/>
                    </a:lnTo>
                    <a:lnTo>
                      <a:pt x="10615579" y="20424"/>
                    </a:lnTo>
                    <a:lnTo>
                      <a:pt x="10640936" y="20424"/>
                    </a:lnTo>
                    <a:lnTo>
                      <a:pt x="10640936" y="41002"/>
                    </a:lnTo>
                    <a:lnTo>
                      <a:pt x="25357" y="41002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06</a:t>
                </a: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558878" y="1511266"/>
              <a:ext cx="3887073" cy="2051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Everything reachable without sight; earphones optional, because the user must hear the street (NFR-11–13)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689443" y="324275"/>
              <a:ext cx="2158365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Accessibility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804474" y="5376888"/>
            <a:ext cx="3782288" cy="3253974"/>
            <a:chOff x="0" y="0"/>
            <a:chExt cx="5043051" cy="4338632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5043051" cy="4338632"/>
              <a:chOff x="0" y="0"/>
              <a:chExt cx="7105231" cy="611276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16891" y="13598"/>
                <a:ext cx="7071360" cy="6085496"/>
              </a:xfrm>
              <a:custGeom>
                <a:avLst/>
                <a:gdLst/>
                <a:ahLst/>
                <a:cxnLst/>
                <a:rect r="r" b="b" t="t" l="l"/>
                <a:pathLst>
                  <a:path h="6085496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6085496"/>
                    </a:lnTo>
                    <a:lnTo>
                      <a:pt x="0" y="6085496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7105142" cy="6112692"/>
              </a:xfrm>
              <a:custGeom>
                <a:avLst/>
                <a:gdLst/>
                <a:ahLst/>
                <a:cxnLst/>
                <a:rect r="r" b="b" t="t" l="l"/>
                <a:pathLst>
                  <a:path h="611269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6135"/>
                      <a:pt x="7105142" y="13598"/>
                    </a:cubicBezTo>
                    <a:lnTo>
                      <a:pt x="7105142" y="6099094"/>
                    </a:lnTo>
                    <a:cubicBezTo>
                      <a:pt x="7105142" y="6106661"/>
                      <a:pt x="7097522" y="6112692"/>
                      <a:pt x="7088251" y="6112692"/>
                    </a:cubicBezTo>
                    <a:lnTo>
                      <a:pt x="16891" y="6112692"/>
                    </a:lnTo>
                    <a:cubicBezTo>
                      <a:pt x="7493" y="6112692"/>
                      <a:pt x="0" y="6106558"/>
                      <a:pt x="0" y="6099094"/>
                    </a:cubicBezTo>
                    <a:lnTo>
                      <a:pt x="0" y="13598"/>
                    </a:lnTo>
                    <a:cubicBezTo>
                      <a:pt x="0" y="6135"/>
                      <a:pt x="7620" y="0"/>
                      <a:pt x="16891" y="0"/>
                    </a:cubicBezTo>
                    <a:moveTo>
                      <a:pt x="16891" y="27299"/>
                    </a:moveTo>
                    <a:lnTo>
                      <a:pt x="16891" y="13598"/>
                    </a:lnTo>
                    <a:lnTo>
                      <a:pt x="33909" y="13598"/>
                    </a:lnTo>
                    <a:lnTo>
                      <a:pt x="33909" y="6099094"/>
                    </a:lnTo>
                    <a:lnTo>
                      <a:pt x="16891" y="6099094"/>
                    </a:lnTo>
                    <a:lnTo>
                      <a:pt x="16891" y="6085496"/>
                    </a:lnTo>
                    <a:lnTo>
                      <a:pt x="7088251" y="6085496"/>
                    </a:lnTo>
                    <a:lnTo>
                      <a:pt x="7088251" y="6099094"/>
                    </a:lnTo>
                    <a:lnTo>
                      <a:pt x="7071360" y="6099094"/>
                    </a:lnTo>
                    <a:lnTo>
                      <a:pt x="7071360" y="13598"/>
                    </a:lnTo>
                    <a:lnTo>
                      <a:pt x="7088251" y="13598"/>
                    </a:lnTo>
                    <a:lnTo>
                      <a:pt x="7088251" y="27299"/>
                    </a:lnTo>
                    <a:lnTo>
                      <a:pt x="16891" y="2729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07</a:t>
                </a: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06198" y="1511266"/>
              <a:ext cx="4430656" cy="2051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Bounded battery and data; every threshold in one config file, models swappable without touching the rules (NFR-14–16)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1689443" y="324275"/>
              <a:ext cx="1757045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Resources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Commands and Levels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5" y="1785996"/>
            <a:ext cx="6949440" cy="595511"/>
            <a:chOff x="0" y="0"/>
            <a:chExt cx="9265920" cy="7940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Command Vocabulary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54896" y="1785996"/>
            <a:ext cx="6949440" cy="595511"/>
            <a:chOff x="0" y="0"/>
            <a:chExt cx="9265920" cy="7940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Capability Levels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5" y="2565021"/>
            <a:ext cx="3474720" cy="869540"/>
            <a:chOff x="0" y="0"/>
            <a:chExt cx="4632960" cy="115938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Stop</a:t>
                </a: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4841351" y="3167861"/>
            <a:ext cx="3474720" cy="869540"/>
            <a:chOff x="0" y="0"/>
            <a:chExt cx="4632960" cy="115938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Yield</a:t>
                </a: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822965" y="4034850"/>
            <a:ext cx="3474720" cy="869540"/>
            <a:chOff x="0" y="0"/>
            <a:chExt cx="4632960" cy="1159387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Slow Down</a:t>
                </a: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822965" y="5504465"/>
            <a:ext cx="3474720" cy="869540"/>
            <a:chOff x="0" y="0"/>
            <a:chExt cx="4632960" cy="1159387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Walk Forward</a:t>
                </a: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822965" y="6974081"/>
            <a:ext cx="3474720" cy="869540"/>
            <a:chOff x="0" y="0"/>
            <a:chExt cx="4632960" cy="1159387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Sidestep Right</a:t>
                </a: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0">
            <a:off x="822965" y="8443696"/>
            <a:ext cx="3474720" cy="869540"/>
            <a:chOff x="0" y="0"/>
            <a:chExt cx="4632960" cy="1159387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Turn Right</a:t>
                </a:r>
              </a:p>
            </p:txBody>
          </p:sp>
        </p:grpSp>
      </p:grpSp>
      <p:grpSp>
        <p:nvGrpSpPr>
          <p:cNvPr name="Group 56" id="56"/>
          <p:cNvGrpSpPr/>
          <p:nvPr/>
        </p:nvGrpSpPr>
        <p:grpSpPr>
          <a:xfrm rot="0">
            <a:off x="4841351" y="4634925"/>
            <a:ext cx="3474720" cy="869540"/>
            <a:chOff x="0" y="0"/>
            <a:chExt cx="4632960" cy="1159387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Walk Slow</a:t>
                </a:r>
              </a:p>
            </p:txBody>
          </p:sp>
        </p:grpSp>
      </p:grpSp>
      <p:grpSp>
        <p:nvGrpSpPr>
          <p:cNvPr name="Group 63" id="63"/>
          <p:cNvGrpSpPr/>
          <p:nvPr/>
        </p:nvGrpSpPr>
        <p:grpSpPr>
          <a:xfrm rot="0">
            <a:off x="4841351" y="6104540"/>
            <a:ext cx="3474720" cy="869540"/>
            <a:chOff x="0" y="0"/>
            <a:chExt cx="4632960" cy="1159387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Sidestep Left</a:t>
                </a:r>
              </a:p>
            </p:txBody>
          </p:sp>
        </p:grpSp>
      </p:grpSp>
      <p:grpSp>
        <p:nvGrpSpPr>
          <p:cNvPr name="Group 70" id="70"/>
          <p:cNvGrpSpPr/>
          <p:nvPr/>
        </p:nvGrpSpPr>
        <p:grpSpPr>
          <a:xfrm rot="0">
            <a:off x="4841351" y="7574156"/>
            <a:ext cx="3474720" cy="869540"/>
            <a:chOff x="0" y="0"/>
            <a:chExt cx="4632960" cy="1159387"/>
          </a:xfrm>
        </p:grpSpPr>
        <p:grpSp>
          <p:nvGrpSpPr>
            <p:cNvPr name="Group 71" id="71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74" id="74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Turn Left</a:t>
                </a:r>
              </a:p>
            </p:txBody>
          </p:sp>
        </p:grpSp>
      </p:grpSp>
      <p:grpSp>
        <p:nvGrpSpPr>
          <p:cNvPr name="Group 77" id="77"/>
          <p:cNvGrpSpPr/>
          <p:nvPr/>
        </p:nvGrpSpPr>
        <p:grpSpPr>
          <a:xfrm rot="0">
            <a:off x="9454896" y="2565021"/>
            <a:ext cx="8145275" cy="1153952"/>
            <a:chOff x="0" y="0"/>
            <a:chExt cx="10860367" cy="1538602"/>
          </a:xfrm>
        </p:grpSpPr>
        <p:grpSp>
          <p:nvGrpSpPr>
            <p:cNvPr name="Group 78" id="78"/>
            <p:cNvGrpSpPr/>
            <p:nvPr/>
          </p:nvGrpSpPr>
          <p:grpSpPr>
            <a:xfrm rot="0">
              <a:off x="0" y="0"/>
              <a:ext cx="10860367" cy="1538602"/>
              <a:chOff x="0" y="0"/>
              <a:chExt cx="10860367" cy="1538602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16891" y="14523"/>
                <a:ext cx="10826496" cy="1509481"/>
              </a:xfrm>
              <a:custGeom>
                <a:avLst/>
                <a:gdLst/>
                <a:ahLst/>
                <a:cxnLst/>
                <a:rect r="r" b="b" t="t" l="l"/>
                <a:pathLst>
                  <a:path h="1509481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509480"/>
                    </a:lnTo>
                    <a:lnTo>
                      <a:pt x="0" y="150948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0860278" cy="1538526"/>
              </a:xfrm>
              <a:custGeom>
                <a:avLst/>
                <a:gdLst/>
                <a:ahLst/>
                <a:cxnLst/>
                <a:rect r="r" b="b" t="t" l="l"/>
                <a:pathLst>
                  <a:path h="1538526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6552"/>
                      <a:pt x="10860278" y="14523"/>
                    </a:cubicBezTo>
                    <a:lnTo>
                      <a:pt x="10860278" y="1524003"/>
                    </a:lnTo>
                    <a:cubicBezTo>
                      <a:pt x="10860278" y="1532084"/>
                      <a:pt x="10852658" y="1538526"/>
                      <a:pt x="10843387" y="1538526"/>
                    </a:cubicBezTo>
                    <a:lnTo>
                      <a:pt x="16891" y="1538526"/>
                    </a:lnTo>
                    <a:cubicBezTo>
                      <a:pt x="7493" y="1538526"/>
                      <a:pt x="0" y="1531975"/>
                      <a:pt x="0" y="1524003"/>
                    </a:cubicBezTo>
                    <a:lnTo>
                      <a:pt x="0" y="14523"/>
                    </a:lnTo>
                    <a:cubicBezTo>
                      <a:pt x="0" y="6552"/>
                      <a:pt x="7620" y="0"/>
                      <a:pt x="16891" y="0"/>
                    </a:cubicBezTo>
                    <a:moveTo>
                      <a:pt x="16891" y="29154"/>
                    </a:moveTo>
                    <a:lnTo>
                      <a:pt x="16891" y="14523"/>
                    </a:lnTo>
                    <a:lnTo>
                      <a:pt x="33909" y="14523"/>
                    </a:lnTo>
                    <a:lnTo>
                      <a:pt x="33909" y="1524003"/>
                    </a:lnTo>
                    <a:lnTo>
                      <a:pt x="16891" y="1524003"/>
                    </a:lnTo>
                    <a:lnTo>
                      <a:pt x="16891" y="1509481"/>
                    </a:lnTo>
                    <a:lnTo>
                      <a:pt x="10843387" y="1509481"/>
                    </a:lnTo>
                    <a:lnTo>
                      <a:pt x="10843387" y="1524003"/>
                    </a:lnTo>
                    <a:lnTo>
                      <a:pt x="10826496" y="1524003"/>
                    </a:lnTo>
                    <a:lnTo>
                      <a:pt x="10826496" y="14523"/>
                    </a:lnTo>
                    <a:lnTo>
                      <a:pt x="10843387" y="14523"/>
                    </a:lnTo>
                    <a:lnTo>
                      <a:pt x="10843387" y="29154"/>
                    </a:lnTo>
                    <a:lnTo>
                      <a:pt x="16891" y="29154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1139952" y="462411"/>
              <a:ext cx="9265920" cy="682752"/>
              <a:chOff x="0" y="0"/>
              <a:chExt cx="9265920" cy="682752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Every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thing working</a:t>
                </a:r>
                <a:r>
                  <a:rPr lang="en-US" sz="22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| Full command vocabulary</a:t>
                </a: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12700" y="0"/>
              <a:ext cx="953495" cy="895615"/>
              <a:chOff x="0" y="0"/>
              <a:chExt cx="188345" cy="176912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188345" cy="176912"/>
              </a:xfrm>
              <a:custGeom>
                <a:avLst/>
                <a:gdLst/>
                <a:ahLst/>
                <a:cxnLst/>
                <a:rect r="r" b="b" t="t" l="l"/>
                <a:pathLst>
                  <a:path h="176912" w="188345">
                    <a:moveTo>
                      <a:pt x="0" y="0"/>
                    </a:moveTo>
                    <a:lnTo>
                      <a:pt x="188345" y="0"/>
                    </a:lnTo>
                    <a:lnTo>
                      <a:pt x="188345" y="176912"/>
                    </a:lnTo>
                    <a:lnTo>
                      <a:pt x="0" y="17691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9525"/>
                <a:ext cx="188345" cy="186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L0</a:t>
                </a:r>
              </a:p>
            </p:txBody>
          </p:sp>
        </p:grpSp>
      </p:grpSp>
      <p:grpSp>
        <p:nvGrpSpPr>
          <p:cNvPr name="Group 87" id="87"/>
          <p:cNvGrpSpPr/>
          <p:nvPr/>
        </p:nvGrpSpPr>
        <p:grpSpPr>
          <a:xfrm rot="0">
            <a:off x="8859351" y="2565021"/>
            <a:ext cx="52265" cy="6912759"/>
            <a:chOff x="0" y="0"/>
            <a:chExt cx="69686" cy="921701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6533" y="119588"/>
              <a:ext cx="56586" cy="8977206"/>
            </a:xfrm>
            <a:custGeom>
              <a:avLst/>
              <a:gdLst/>
              <a:ahLst/>
              <a:cxnLst/>
              <a:rect r="r" b="b" t="t" l="l"/>
              <a:pathLst>
                <a:path h="8977206" w="56586">
                  <a:moveTo>
                    <a:pt x="0" y="0"/>
                  </a:moveTo>
                  <a:lnTo>
                    <a:pt x="56586" y="0"/>
                  </a:lnTo>
                  <a:lnTo>
                    <a:pt x="56586" y="8977206"/>
                  </a:lnTo>
                  <a:lnTo>
                    <a:pt x="0" y="8977206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9652" cy="9216383"/>
            </a:xfrm>
            <a:custGeom>
              <a:avLst/>
              <a:gdLst/>
              <a:ahLst/>
              <a:cxnLst/>
              <a:rect r="r" b="b" t="t" l="l"/>
              <a:pathLst>
                <a:path h="9216383" w="69652">
                  <a:moveTo>
                    <a:pt x="6533" y="0"/>
                  </a:moveTo>
                  <a:lnTo>
                    <a:pt x="63119" y="0"/>
                  </a:lnTo>
                  <a:cubicBezTo>
                    <a:pt x="66754" y="0"/>
                    <a:pt x="69652" y="53950"/>
                    <a:pt x="69652" y="119588"/>
                  </a:cubicBezTo>
                  <a:lnTo>
                    <a:pt x="69652" y="9096794"/>
                  </a:lnTo>
                  <a:cubicBezTo>
                    <a:pt x="69652" y="9163332"/>
                    <a:pt x="66705" y="9216383"/>
                    <a:pt x="63119" y="9216383"/>
                  </a:cubicBezTo>
                  <a:lnTo>
                    <a:pt x="6533" y="9216383"/>
                  </a:lnTo>
                  <a:cubicBezTo>
                    <a:pt x="2898" y="9216383"/>
                    <a:pt x="0" y="9162433"/>
                    <a:pt x="0" y="9096794"/>
                  </a:cubicBezTo>
                  <a:lnTo>
                    <a:pt x="0" y="119588"/>
                  </a:lnTo>
                  <a:cubicBezTo>
                    <a:pt x="0" y="53950"/>
                    <a:pt x="2947" y="0"/>
                    <a:pt x="6533" y="0"/>
                  </a:cubicBezTo>
                  <a:moveTo>
                    <a:pt x="6533" y="240076"/>
                  </a:moveTo>
                  <a:lnTo>
                    <a:pt x="6533" y="119588"/>
                  </a:lnTo>
                  <a:lnTo>
                    <a:pt x="13115" y="119588"/>
                  </a:lnTo>
                  <a:lnTo>
                    <a:pt x="13115" y="9096794"/>
                  </a:lnTo>
                  <a:lnTo>
                    <a:pt x="6533" y="9096794"/>
                  </a:lnTo>
                  <a:lnTo>
                    <a:pt x="6533" y="8977206"/>
                  </a:lnTo>
                  <a:lnTo>
                    <a:pt x="63119" y="8977206"/>
                  </a:lnTo>
                  <a:lnTo>
                    <a:pt x="63119" y="9096794"/>
                  </a:lnTo>
                  <a:lnTo>
                    <a:pt x="56586" y="9096794"/>
                  </a:lnTo>
                  <a:lnTo>
                    <a:pt x="56586" y="119588"/>
                  </a:lnTo>
                  <a:lnTo>
                    <a:pt x="63119" y="119588"/>
                  </a:lnTo>
                  <a:lnTo>
                    <a:pt x="63119" y="240076"/>
                  </a:lnTo>
                  <a:lnTo>
                    <a:pt x="6533" y="240076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464421" y="4004722"/>
            <a:ext cx="8145275" cy="1153952"/>
            <a:chOff x="0" y="0"/>
            <a:chExt cx="10860367" cy="1538602"/>
          </a:xfrm>
        </p:grpSpPr>
        <p:grpSp>
          <p:nvGrpSpPr>
            <p:cNvPr name="Group 91" id="91"/>
            <p:cNvGrpSpPr/>
            <p:nvPr/>
          </p:nvGrpSpPr>
          <p:grpSpPr>
            <a:xfrm rot="0">
              <a:off x="0" y="0"/>
              <a:ext cx="10860367" cy="1538602"/>
              <a:chOff x="0" y="0"/>
              <a:chExt cx="10860367" cy="1538602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16891" y="14523"/>
                <a:ext cx="10826496" cy="1509481"/>
              </a:xfrm>
              <a:custGeom>
                <a:avLst/>
                <a:gdLst/>
                <a:ahLst/>
                <a:cxnLst/>
                <a:rect r="r" b="b" t="t" l="l"/>
                <a:pathLst>
                  <a:path h="1509481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509480"/>
                    </a:lnTo>
                    <a:lnTo>
                      <a:pt x="0" y="150948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10860278" cy="1538526"/>
              </a:xfrm>
              <a:custGeom>
                <a:avLst/>
                <a:gdLst/>
                <a:ahLst/>
                <a:cxnLst/>
                <a:rect r="r" b="b" t="t" l="l"/>
                <a:pathLst>
                  <a:path h="1538526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6552"/>
                      <a:pt x="10860278" y="14523"/>
                    </a:cubicBezTo>
                    <a:lnTo>
                      <a:pt x="10860278" y="1524003"/>
                    </a:lnTo>
                    <a:cubicBezTo>
                      <a:pt x="10860278" y="1532084"/>
                      <a:pt x="10852658" y="1538526"/>
                      <a:pt x="10843387" y="1538526"/>
                    </a:cubicBezTo>
                    <a:lnTo>
                      <a:pt x="16891" y="1538526"/>
                    </a:lnTo>
                    <a:cubicBezTo>
                      <a:pt x="7493" y="1538526"/>
                      <a:pt x="0" y="1531975"/>
                      <a:pt x="0" y="1524003"/>
                    </a:cubicBezTo>
                    <a:lnTo>
                      <a:pt x="0" y="14523"/>
                    </a:lnTo>
                    <a:cubicBezTo>
                      <a:pt x="0" y="6552"/>
                      <a:pt x="7620" y="0"/>
                      <a:pt x="16891" y="0"/>
                    </a:cubicBezTo>
                    <a:moveTo>
                      <a:pt x="16891" y="29154"/>
                    </a:moveTo>
                    <a:lnTo>
                      <a:pt x="16891" y="14523"/>
                    </a:lnTo>
                    <a:lnTo>
                      <a:pt x="33909" y="14523"/>
                    </a:lnTo>
                    <a:lnTo>
                      <a:pt x="33909" y="1524003"/>
                    </a:lnTo>
                    <a:lnTo>
                      <a:pt x="16891" y="1524003"/>
                    </a:lnTo>
                    <a:lnTo>
                      <a:pt x="16891" y="1509481"/>
                    </a:lnTo>
                    <a:lnTo>
                      <a:pt x="10843387" y="1509481"/>
                    </a:lnTo>
                    <a:lnTo>
                      <a:pt x="10843387" y="1524003"/>
                    </a:lnTo>
                    <a:lnTo>
                      <a:pt x="10826496" y="1524003"/>
                    </a:lnTo>
                    <a:lnTo>
                      <a:pt x="10826496" y="14523"/>
                    </a:lnTo>
                    <a:lnTo>
                      <a:pt x="10843387" y="14523"/>
                    </a:lnTo>
                    <a:lnTo>
                      <a:pt x="10843387" y="29154"/>
                    </a:lnTo>
                    <a:lnTo>
                      <a:pt x="16891" y="29154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94" id="94"/>
            <p:cNvGrpSpPr/>
            <p:nvPr/>
          </p:nvGrpSpPr>
          <p:grpSpPr>
            <a:xfrm rot="0">
              <a:off x="1178052" y="261805"/>
              <a:ext cx="9265920" cy="989592"/>
              <a:chOff x="0" y="0"/>
              <a:chExt cx="9265920" cy="989592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265920" cy="989591"/>
              </a:xfrm>
              <a:custGeom>
                <a:avLst/>
                <a:gdLst/>
                <a:ahLst/>
                <a:cxnLst/>
                <a:rect r="r" b="b" t="t" l="l"/>
                <a:pathLst>
                  <a:path h="989591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989591"/>
                    </a:lnTo>
                    <a:lnTo>
                      <a:pt x="0" y="98959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7949" r="0" b="-116942"/>
                </a:stretch>
              </a:blip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19050"/>
                <a:ext cx="9265920" cy="1008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Poor v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isibility</a:t>
                </a:r>
                <a:r>
                  <a:rPr lang="en-US" sz="22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ig. glare, rain, blur | Cautious commands only; announce reduced confidence</a:t>
                </a: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12700" y="0"/>
              <a:ext cx="953495" cy="895615"/>
              <a:chOff x="0" y="0"/>
              <a:chExt cx="188345" cy="176912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188345" cy="176912"/>
              </a:xfrm>
              <a:custGeom>
                <a:avLst/>
                <a:gdLst/>
                <a:ahLst/>
                <a:cxnLst/>
                <a:rect r="r" b="b" t="t" l="l"/>
                <a:pathLst>
                  <a:path h="176912" w="188345">
                    <a:moveTo>
                      <a:pt x="0" y="0"/>
                    </a:moveTo>
                    <a:lnTo>
                      <a:pt x="188345" y="0"/>
                    </a:lnTo>
                    <a:lnTo>
                      <a:pt x="188345" y="176912"/>
                    </a:lnTo>
                    <a:lnTo>
                      <a:pt x="0" y="17691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9525"/>
                <a:ext cx="188345" cy="186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L1</a:t>
                </a:r>
              </a:p>
            </p:txBody>
          </p:sp>
        </p:grpSp>
      </p:grpSp>
      <p:grpSp>
        <p:nvGrpSpPr>
          <p:cNvPr name="Group 100" id="100"/>
          <p:cNvGrpSpPr/>
          <p:nvPr/>
        </p:nvGrpSpPr>
        <p:grpSpPr>
          <a:xfrm rot="0">
            <a:off x="9473946" y="5444424"/>
            <a:ext cx="8145275" cy="1153952"/>
            <a:chOff x="0" y="0"/>
            <a:chExt cx="10860367" cy="1538602"/>
          </a:xfrm>
        </p:grpSpPr>
        <p:grpSp>
          <p:nvGrpSpPr>
            <p:cNvPr name="Group 101" id="101"/>
            <p:cNvGrpSpPr/>
            <p:nvPr/>
          </p:nvGrpSpPr>
          <p:grpSpPr>
            <a:xfrm rot="0">
              <a:off x="0" y="0"/>
              <a:ext cx="10860367" cy="1538602"/>
              <a:chOff x="0" y="0"/>
              <a:chExt cx="10860367" cy="1538602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16891" y="14523"/>
                <a:ext cx="10826496" cy="1509481"/>
              </a:xfrm>
              <a:custGeom>
                <a:avLst/>
                <a:gdLst/>
                <a:ahLst/>
                <a:cxnLst/>
                <a:rect r="r" b="b" t="t" l="l"/>
                <a:pathLst>
                  <a:path h="1509481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509480"/>
                    </a:lnTo>
                    <a:lnTo>
                      <a:pt x="0" y="150948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10860278" cy="1538526"/>
              </a:xfrm>
              <a:custGeom>
                <a:avLst/>
                <a:gdLst/>
                <a:ahLst/>
                <a:cxnLst/>
                <a:rect r="r" b="b" t="t" l="l"/>
                <a:pathLst>
                  <a:path h="1538526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6552"/>
                      <a:pt x="10860278" y="14523"/>
                    </a:cubicBezTo>
                    <a:lnTo>
                      <a:pt x="10860278" y="1524003"/>
                    </a:lnTo>
                    <a:cubicBezTo>
                      <a:pt x="10860278" y="1532084"/>
                      <a:pt x="10852658" y="1538526"/>
                      <a:pt x="10843387" y="1538526"/>
                    </a:cubicBezTo>
                    <a:lnTo>
                      <a:pt x="16891" y="1538526"/>
                    </a:lnTo>
                    <a:cubicBezTo>
                      <a:pt x="7493" y="1538526"/>
                      <a:pt x="0" y="1531975"/>
                      <a:pt x="0" y="1524003"/>
                    </a:cubicBezTo>
                    <a:lnTo>
                      <a:pt x="0" y="14523"/>
                    </a:lnTo>
                    <a:cubicBezTo>
                      <a:pt x="0" y="6552"/>
                      <a:pt x="7620" y="0"/>
                      <a:pt x="16891" y="0"/>
                    </a:cubicBezTo>
                    <a:moveTo>
                      <a:pt x="16891" y="29154"/>
                    </a:moveTo>
                    <a:lnTo>
                      <a:pt x="16891" y="14523"/>
                    </a:lnTo>
                    <a:lnTo>
                      <a:pt x="33909" y="14523"/>
                    </a:lnTo>
                    <a:lnTo>
                      <a:pt x="33909" y="1524003"/>
                    </a:lnTo>
                    <a:lnTo>
                      <a:pt x="16891" y="1524003"/>
                    </a:lnTo>
                    <a:lnTo>
                      <a:pt x="16891" y="1509481"/>
                    </a:lnTo>
                    <a:lnTo>
                      <a:pt x="10843387" y="1509481"/>
                    </a:lnTo>
                    <a:lnTo>
                      <a:pt x="10843387" y="1524003"/>
                    </a:lnTo>
                    <a:lnTo>
                      <a:pt x="10826496" y="1524003"/>
                    </a:lnTo>
                    <a:lnTo>
                      <a:pt x="10826496" y="14523"/>
                    </a:lnTo>
                    <a:lnTo>
                      <a:pt x="10843387" y="14523"/>
                    </a:lnTo>
                    <a:lnTo>
                      <a:pt x="10843387" y="29154"/>
                    </a:lnTo>
                    <a:lnTo>
                      <a:pt x="16891" y="29154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1139952" y="266700"/>
              <a:ext cx="9265920" cy="989592"/>
              <a:chOff x="0" y="0"/>
              <a:chExt cx="9265920" cy="989592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9265920" cy="989591"/>
              </a:xfrm>
              <a:custGeom>
                <a:avLst/>
                <a:gdLst/>
                <a:ahLst/>
                <a:cxnLst/>
                <a:rect r="r" b="b" t="t" l="l"/>
                <a:pathLst>
                  <a:path h="989591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989591"/>
                    </a:lnTo>
                    <a:lnTo>
                      <a:pt x="0" y="98959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7949" r="0" b="-116942"/>
                </a:stretch>
              </a:blipFill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0" y="-19050"/>
                <a:ext cx="9265920" cy="1008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Server u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nreachable</a:t>
                </a:r>
                <a:r>
                  <a:rPr lang="en-US" sz="22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| Obstacle warnings only; announce loss of route guidance</a:t>
                </a:r>
              </a:p>
            </p:txBody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12700" y="0"/>
              <a:ext cx="953495" cy="895615"/>
              <a:chOff x="0" y="0"/>
              <a:chExt cx="188345" cy="176912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188345" cy="176912"/>
              </a:xfrm>
              <a:custGeom>
                <a:avLst/>
                <a:gdLst/>
                <a:ahLst/>
                <a:cxnLst/>
                <a:rect r="r" b="b" t="t" l="l"/>
                <a:pathLst>
                  <a:path h="176912" w="188345">
                    <a:moveTo>
                      <a:pt x="0" y="0"/>
                    </a:moveTo>
                    <a:lnTo>
                      <a:pt x="188345" y="0"/>
                    </a:lnTo>
                    <a:lnTo>
                      <a:pt x="188345" y="176912"/>
                    </a:lnTo>
                    <a:lnTo>
                      <a:pt x="0" y="17691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0" y="-9525"/>
                <a:ext cx="188345" cy="186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L2</a:t>
                </a:r>
              </a:p>
            </p:txBody>
          </p:sp>
        </p:grpSp>
      </p:grpSp>
      <p:grpSp>
        <p:nvGrpSpPr>
          <p:cNvPr name="Group 110" id="110"/>
          <p:cNvGrpSpPr/>
          <p:nvPr/>
        </p:nvGrpSpPr>
        <p:grpSpPr>
          <a:xfrm rot="0">
            <a:off x="9483471" y="6884126"/>
            <a:ext cx="8145275" cy="1153952"/>
            <a:chOff x="0" y="0"/>
            <a:chExt cx="10860367" cy="1538602"/>
          </a:xfrm>
        </p:grpSpPr>
        <p:grpSp>
          <p:nvGrpSpPr>
            <p:cNvPr name="Group 111" id="111"/>
            <p:cNvGrpSpPr/>
            <p:nvPr/>
          </p:nvGrpSpPr>
          <p:grpSpPr>
            <a:xfrm rot="0">
              <a:off x="0" y="0"/>
              <a:ext cx="10860367" cy="1538602"/>
              <a:chOff x="0" y="0"/>
              <a:chExt cx="10860367" cy="1538602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16891" y="14523"/>
                <a:ext cx="10826496" cy="1509481"/>
              </a:xfrm>
              <a:custGeom>
                <a:avLst/>
                <a:gdLst/>
                <a:ahLst/>
                <a:cxnLst/>
                <a:rect r="r" b="b" t="t" l="l"/>
                <a:pathLst>
                  <a:path h="1509481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509480"/>
                    </a:lnTo>
                    <a:lnTo>
                      <a:pt x="0" y="150948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10860278" cy="1538526"/>
              </a:xfrm>
              <a:custGeom>
                <a:avLst/>
                <a:gdLst/>
                <a:ahLst/>
                <a:cxnLst/>
                <a:rect r="r" b="b" t="t" l="l"/>
                <a:pathLst>
                  <a:path h="1538526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6552"/>
                      <a:pt x="10860278" y="14523"/>
                    </a:cubicBezTo>
                    <a:lnTo>
                      <a:pt x="10860278" y="1524003"/>
                    </a:lnTo>
                    <a:cubicBezTo>
                      <a:pt x="10860278" y="1532084"/>
                      <a:pt x="10852658" y="1538526"/>
                      <a:pt x="10843387" y="1538526"/>
                    </a:cubicBezTo>
                    <a:lnTo>
                      <a:pt x="16891" y="1538526"/>
                    </a:lnTo>
                    <a:cubicBezTo>
                      <a:pt x="7493" y="1538526"/>
                      <a:pt x="0" y="1531975"/>
                      <a:pt x="0" y="1524003"/>
                    </a:cubicBezTo>
                    <a:lnTo>
                      <a:pt x="0" y="14523"/>
                    </a:lnTo>
                    <a:cubicBezTo>
                      <a:pt x="0" y="6552"/>
                      <a:pt x="7620" y="0"/>
                      <a:pt x="16891" y="0"/>
                    </a:cubicBezTo>
                    <a:moveTo>
                      <a:pt x="16891" y="29154"/>
                    </a:moveTo>
                    <a:lnTo>
                      <a:pt x="16891" y="14523"/>
                    </a:lnTo>
                    <a:lnTo>
                      <a:pt x="33909" y="14523"/>
                    </a:lnTo>
                    <a:lnTo>
                      <a:pt x="33909" y="1524003"/>
                    </a:lnTo>
                    <a:lnTo>
                      <a:pt x="16891" y="1524003"/>
                    </a:lnTo>
                    <a:lnTo>
                      <a:pt x="16891" y="1509481"/>
                    </a:lnTo>
                    <a:lnTo>
                      <a:pt x="10843387" y="1509481"/>
                    </a:lnTo>
                    <a:lnTo>
                      <a:pt x="10843387" y="1524003"/>
                    </a:lnTo>
                    <a:lnTo>
                      <a:pt x="10826496" y="1524003"/>
                    </a:lnTo>
                    <a:lnTo>
                      <a:pt x="10826496" y="14523"/>
                    </a:lnTo>
                    <a:lnTo>
                      <a:pt x="10843387" y="14523"/>
                    </a:lnTo>
                    <a:lnTo>
                      <a:pt x="10843387" y="29154"/>
                    </a:lnTo>
                    <a:lnTo>
                      <a:pt x="16891" y="29154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14" id="114"/>
            <p:cNvGrpSpPr/>
            <p:nvPr/>
          </p:nvGrpSpPr>
          <p:grpSpPr>
            <a:xfrm rot="0">
              <a:off x="1139952" y="266700"/>
              <a:ext cx="9265920" cy="989592"/>
              <a:chOff x="0" y="0"/>
              <a:chExt cx="9265920" cy="989592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9265920" cy="989591"/>
              </a:xfrm>
              <a:custGeom>
                <a:avLst/>
                <a:gdLst/>
                <a:ahLst/>
                <a:cxnLst/>
                <a:rect r="r" b="b" t="t" l="l"/>
                <a:pathLst>
                  <a:path h="989591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989591"/>
                    </a:lnTo>
                    <a:lnTo>
                      <a:pt x="0" y="98959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7949" r="0" b="-116942"/>
                </a:stretch>
              </a:blipFill>
            </p:spPr>
          </p:sp>
          <p:sp>
            <p:nvSpPr>
              <p:cNvPr name="TextBox 116" id="116"/>
              <p:cNvSpPr txBox="true"/>
              <p:nvPr/>
            </p:nvSpPr>
            <p:spPr>
              <a:xfrm>
                <a:off x="0" y="-19050"/>
                <a:ext cx="9265920" cy="1008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On-p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hone check unavailable</a:t>
                </a:r>
                <a:r>
                  <a:rPr lang="en-US" sz="22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| Announce that guidance has stopped; issue none</a:t>
                </a:r>
              </a:p>
            </p:txBody>
          </p:sp>
        </p:grpSp>
        <p:grpSp>
          <p:nvGrpSpPr>
            <p:cNvPr name="Group 117" id="117"/>
            <p:cNvGrpSpPr/>
            <p:nvPr/>
          </p:nvGrpSpPr>
          <p:grpSpPr>
            <a:xfrm rot="0">
              <a:off x="12700" y="0"/>
              <a:ext cx="953495" cy="895615"/>
              <a:chOff x="0" y="0"/>
              <a:chExt cx="188345" cy="176912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188345" cy="176912"/>
              </a:xfrm>
              <a:custGeom>
                <a:avLst/>
                <a:gdLst/>
                <a:ahLst/>
                <a:cxnLst/>
                <a:rect r="r" b="b" t="t" l="l"/>
                <a:pathLst>
                  <a:path h="176912" w="188345">
                    <a:moveTo>
                      <a:pt x="0" y="0"/>
                    </a:moveTo>
                    <a:lnTo>
                      <a:pt x="188345" y="0"/>
                    </a:lnTo>
                    <a:lnTo>
                      <a:pt x="188345" y="176912"/>
                    </a:lnTo>
                    <a:lnTo>
                      <a:pt x="0" y="17691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TextBox 119" id="119"/>
              <p:cNvSpPr txBox="true"/>
              <p:nvPr/>
            </p:nvSpPr>
            <p:spPr>
              <a:xfrm>
                <a:off x="0" y="-9525"/>
                <a:ext cx="188345" cy="186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L3</a:t>
                </a:r>
              </a:p>
            </p:txBody>
          </p:sp>
        </p:grpSp>
      </p:grpSp>
      <p:grpSp>
        <p:nvGrpSpPr>
          <p:cNvPr name="Group 120" id="120"/>
          <p:cNvGrpSpPr/>
          <p:nvPr/>
        </p:nvGrpSpPr>
        <p:grpSpPr>
          <a:xfrm rot="0">
            <a:off x="9492996" y="8323828"/>
            <a:ext cx="8145275" cy="1153952"/>
            <a:chOff x="0" y="0"/>
            <a:chExt cx="10860367" cy="1538602"/>
          </a:xfrm>
        </p:grpSpPr>
        <p:grpSp>
          <p:nvGrpSpPr>
            <p:cNvPr name="Group 121" id="121"/>
            <p:cNvGrpSpPr/>
            <p:nvPr/>
          </p:nvGrpSpPr>
          <p:grpSpPr>
            <a:xfrm rot="0">
              <a:off x="0" y="0"/>
              <a:ext cx="10860367" cy="1538602"/>
              <a:chOff x="0" y="0"/>
              <a:chExt cx="10860367" cy="1538602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16891" y="14523"/>
                <a:ext cx="10826496" cy="1509481"/>
              </a:xfrm>
              <a:custGeom>
                <a:avLst/>
                <a:gdLst/>
                <a:ahLst/>
                <a:cxnLst/>
                <a:rect r="r" b="b" t="t" l="l"/>
                <a:pathLst>
                  <a:path h="1509481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509480"/>
                    </a:lnTo>
                    <a:lnTo>
                      <a:pt x="0" y="150948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10860278" cy="1538526"/>
              </a:xfrm>
              <a:custGeom>
                <a:avLst/>
                <a:gdLst/>
                <a:ahLst/>
                <a:cxnLst/>
                <a:rect r="r" b="b" t="t" l="l"/>
                <a:pathLst>
                  <a:path h="1538526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6552"/>
                      <a:pt x="10860278" y="14523"/>
                    </a:cubicBezTo>
                    <a:lnTo>
                      <a:pt x="10860278" y="1524003"/>
                    </a:lnTo>
                    <a:cubicBezTo>
                      <a:pt x="10860278" y="1532084"/>
                      <a:pt x="10852658" y="1538526"/>
                      <a:pt x="10843387" y="1538526"/>
                    </a:cubicBezTo>
                    <a:lnTo>
                      <a:pt x="16891" y="1538526"/>
                    </a:lnTo>
                    <a:cubicBezTo>
                      <a:pt x="7493" y="1538526"/>
                      <a:pt x="0" y="1531975"/>
                      <a:pt x="0" y="1524003"/>
                    </a:cubicBezTo>
                    <a:lnTo>
                      <a:pt x="0" y="14523"/>
                    </a:lnTo>
                    <a:cubicBezTo>
                      <a:pt x="0" y="6552"/>
                      <a:pt x="7620" y="0"/>
                      <a:pt x="16891" y="0"/>
                    </a:cubicBezTo>
                    <a:moveTo>
                      <a:pt x="16891" y="29154"/>
                    </a:moveTo>
                    <a:lnTo>
                      <a:pt x="16891" y="14523"/>
                    </a:lnTo>
                    <a:lnTo>
                      <a:pt x="33909" y="14523"/>
                    </a:lnTo>
                    <a:lnTo>
                      <a:pt x="33909" y="1524003"/>
                    </a:lnTo>
                    <a:lnTo>
                      <a:pt x="16891" y="1524003"/>
                    </a:lnTo>
                    <a:lnTo>
                      <a:pt x="16891" y="1509481"/>
                    </a:lnTo>
                    <a:lnTo>
                      <a:pt x="10843387" y="1509481"/>
                    </a:lnTo>
                    <a:lnTo>
                      <a:pt x="10843387" y="1524003"/>
                    </a:lnTo>
                    <a:lnTo>
                      <a:pt x="10826496" y="1524003"/>
                    </a:lnTo>
                    <a:lnTo>
                      <a:pt x="10826496" y="14523"/>
                    </a:lnTo>
                    <a:lnTo>
                      <a:pt x="10843387" y="14523"/>
                    </a:lnTo>
                    <a:lnTo>
                      <a:pt x="10843387" y="29154"/>
                    </a:lnTo>
                    <a:lnTo>
                      <a:pt x="16891" y="29154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1445274" y="244722"/>
              <a:ext cx="8655275" cy="989592"/>
              <a:chOff x="0" y="0"/>
              <a:chExt cx="8655275" cy="989592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8655276" cy="989591"/>
              </a:xfrm>
              <a:custGeom>
                <a:avLst/>
                <a:gdLst/>
                <a:ahLst/>
                <a:cxnLst/>
                <a:rect r="r" b="b" t="t" l="l"/>
                <a:pathLst>
                  <a:path h="989591" w="8655276">
                    <a:moveTo>
                      <a:pt x="0" y="0"/>
                    </a:moveTo>
                    <a:lnTo>
                      <a:pt x="8655276" y="0"/>
                    </a:lnTo>
                    <a:lnTo>
                      <a:pt x="8655276" y="989591"/>
                    </a:lnTo>
                    <a:lnTo>
                      <a:pt x="0" y="98959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7949" r="-7055" b="-116942"/>
                </a:stretch>
              </a:blipFill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0" y="-19050"/>
                <a:ext cx="8655275" cy="1008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Battery ex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hausted or user ends session</a:t>
                </a:r>
                <a:r>
                  <a:rPr lang="en-US" sz="22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| Announce shutdown with reason</a:t>
                </a:r>
              </a:p>
            </p:txBody>
          </p:sp>
        </p:grpSp>
        <p:grpSp>
          <p:nvGrpSpPr>
            <p:cNvPr name="Group 127" id="127"/>
            <p:cNvGrpSpPr/>
            <p:nvPr/>
          </p:nvGrpSpPr>
          <p:grpSpPr>
            <a:xfrm rot="0">
              <a:off x="12700" y="0"/>
              <a:ext cx="953495" cy="895615"/>
              <a:chOff x="0" y="0"/>
              <a:chExt cx="188345" cy="176912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188345" cy="176912"/>
              </a:xfrm>
              <a:custGeom>
                <a:avLst/>
                <a:gdLst/>
                <a:ahLst/>
                <a:cxnLst/>
                <a:rect r="r" b="b" t="t" l="l"/>
                <a:pathLst>
                  <a:path h="176912" w="188345">
                    <a:moveTo>
                      <a:pt x="0" y="0"/>
                    </a:moveTo>
                    <a:lnTo>
                      <a:pt x="188345" y="0"/>
                    </a:lnTo>
                    <a:lnTo>
                      <a:pt x="188345" y="176912"/>
                    </a:lnTo>
                    <a:lnTo>
                      <a:pt x="0" y="17691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0" y="-9525"/>
                <a:ext cx="188345" cy="186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L4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Usecase Diagram : Level 0 &amp; 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122441"/>
            <a:ext cx="6949440" cy="595511"/>
            <a:chOff x="0" y="0"/>
            <a:chExt cx="9265920" cy="7940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Level 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35871" y="2122441"/>
            <a:ext cx="6949440" cy="595511"/>
            <a:chOff x="0" y="0"/>
            <a:chExt cx="9265920" cy="7940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Level 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59351" y="2565021"/>
            <a:ext cx="52265" cy="6912759"/>
            <a:chOff x="0" y="0"/>
            <a:chExt cx="69686" cy="92170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533" y="119588"/>
              <a:ext cx="56586" cy="8977206"/>
            </a:xfrm>
            <a:custGeom>
              <a:avLst/>
              <a:gdLst/>
              <a:ahLst/>
              <a:cxnLst/>
              <a:rect r="r" b="b" t="t" l="l"/>
              <a:pathLst>
                <a:path h="8977206" w="56586">
                  <a:moveTo>
                    <a:pt x="0" y="0"/>
                  </a:moveTo>
                  <a:lnTo>
                    <a:pt x="56586" y="0"/>
                  </a:lnTo>
                  <a:lnTo>
                    <a:pt x="56586" y="8977206"/>
                  </a:lnTo>
                  <a:lnTo>
                    <a:pt x="0" y="8977206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652" cy="9216383"/>
            </a:xfrm>
            <a:custGeom>
              <a:avLst/>
              <a:gdLst/>
              <a:ahLst/>
              <a:cxnLst/>
              <a:rect r="r" b="b" t="t" l="l"/>
              <a:pathLst>
                <a:path h="9216383" w="69652">
                  <a:moveTo>
                    <a:pt x="6533" y="0"/>
                  </a:moveTo>
                  <a:lnTo>
                    <a:pt x="63119" y="0"/>
                  </a:lnTo>
                  <a:cubicBezTo>
                    <a:pt x="66754" y="0"/>
                    <a:pt x="69652" y="53950"/>
                    <a:pt x="69652" y="119588"/>
                  </a:cubicBezTo>
                  <a:lnTo>
                    <a:pt x="69652" y="9096794"/>
                  </a:lnTo>
                  <a:cubicBezTo>
                    <a:pt x="69652" y="9163332"/>
                    <a:pt x="66705" y="9216383"/>
                    <a:pt x="63119" y="9216383"/>
                  </a:cubicBezTo>
                  <a:lnTo>
                    <a:pt x="6533" y="9216383"/>
                  </a:lnTo>
                  <a:cubicBezTo>
                    <a:pt x="2898" y="9216383"/>
                    <a:pt x="0" y="9162433"/>
                    <a:pt x="0" y="9096794"/>
                  </a:cubicBezTo>
                  <a:lnTo>
                    <a:pt x="0" y="119588"/>
                  </a:lnTo>
                  <a:cubicBezTo>
                    <a:pt x="0" y="53950"/>
                    <a:pt x="2947" y="0"/>
                    <a:pt x="6533" y="0"/>
                  </a:cubicBezTo>
                  <a:moveTo>
                    <a:pt x="6533" y="240076"/>
                  </a:moveTo>
                  <a:lnTo>
                    <a:pt x="6533" y="119588"/>
                  </a:lnTo>
                  <a:lnTo>
                    <a:pt x="13115" y="119588"/>
                  </a:lnTo>
                  <a:lnTo>
                    <a:pt x="13115" y="9096794"/>
                  </a:lnTo>
                  <a:lnTo>
                    <a:pt x="6533" y="9096794"/>
                  </a:lnTo>
                  <a:lnTo>
                    <a:pt x="6533" y="8977206"/>
                  </a:lnTo>
                  <a:lnTo>
                    <a:pt x="63119" y="8977206"/>
                  </a:lnTo>
                  <a:lnTo>
                    <a:pt x="63119" y="9096794"/>
                  </a:lnTo>
                  <a:lnTo>
                    <a:pt x="56586" y="9096794"/>
                  </a:lnTo>
                  <a:lnTo>
                    <a:pt x="56586" y="119588"/>
                  </a:lnTo>
                  <a:lnTo>
                    <a:pt x="63119" y="119588"/>
                  </a:lnTo>
                  <a:lnTo>
                    <a:pt x="63119" y="240076"/>
                  </a:lnTo>
                  <a:lnTo>
                    <a:pt x="6533" y="240076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483100" y="3563916"/>
            <a:ext cx="5629169" cy="4914968"/>
          </a:xfrm>
          <a:custGeom>
            <a:avLst/>
            <a:gdLst/>
            <a:ahLst/>
            <a:cxnLst/>
            <a:rect r="r" b="b" t="t" l="l"/>
            <a:pathLst>
              <a:path h="4914968" w="5629169">
                <a:moveTo>
                  <a:pt x="0" y="0"/>
                </a:moveTo>
                <a:lnTo>
                  <a:pt x="5629169" y="0"/>
                </a:lnTo>
                <a:lnTo>
                  <a:pt x="5629169" y="4914968"/>
                </a:lnTo>
                <a:lnTo>
                  <a:pt x="0" y="4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148301" y="3015708"/>
            <a:ext cx="6939549" cy="6011385"/>
          </a:xfrm>
          <a:custGeom>
            <a:avLst/>
            <a:gdLst/>
            <a:ahLst/>
            <a:cxnLst/>
            <a:rect r="r" b="b" t="t" l="l"/>
            <a:pathLst>
              <a:path h="6011385" w="6939549">
                <a:moveTo>
                  <a:pt x="0" y="0"/>
                </a:moveTo>
                <a:lnTo>
                  <a:pt x="6939549" y="0"/>
                </a:lnTo>
                <a:lnTo>
                  <a:pt x="6939549" y="6011384"/>
                </a:lnTo>
                <a:lnTo>
                  <a:pt x="0" y="6011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Usecase Diagram : Level 1.1 &amp; 1.2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420197"/>
            <a:ext cx="6949440" cy="595511"/>
            <a:chOff x="0" y="0"/>
            <a:chExt cx="9265920" cy="7940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Level 1.1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35871" y="2420197"/>
            <a:ext cx="6949440" cy="595511"/>
            <a:chOff x="0" y="0"/>
            <a:chExt cx="9265920" cy="7940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Level 1.2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59351" y="2565021"/>
            <a:ext cx="52265" cy="6912759"/>
            <a:chOff x="0" y="0"/>
            <a:chExt cx="69686" cy="92170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533" y="119588"/>
              <a:ext cx="56586" cy="8977206"/>
            </a:xfrm>
            <a:custGeom>
              <a:avLst/>
              <a:gdLst/>
              <a:ahLst/>
              <a:cxnLst/>
              <a:rect r="r" b="b" t="t" l="l"/>
              <a:pathLst>
                <a:path h="8977206" w="56586">
                  <a:moveTo>
                    <a:pt x="0" y="0"/>
                  </a:moveTo>
                  <a:lnTo>
                    <a:pt x="56586" y="0"/>
                  </a:lnTo>
                  <a:lnTo>
                    <a:pt x="56586" y="8977206"/>
                  </a:lnTo>
                  <a:lnTo>
                    <a:pt x="0" y="8977206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652" cy="9216383"/>
            </a:xfrm>
            <a:custGeom>
              <a:avLst/>
              <a:gdLst/>
              <a:ahLst/>
              <a:cxnLst/>
              <a:rect r="r" b="b" t="t" l="l"/>
              <a:pathLst>
                <a:path h="9216383" w="69652">
                  <a:moveTo>
                    <a:pt x="6533" y="0"/>
                  </a:moveTo>
                  <a:lnTo>
                    <a:pt x="63119" y="0"/>
                  </a:lnTo>
                  <a:cubicBezTo>
                    <a:pt x="66754" y="0"/>
                    <a:pt x="69652" y="53950"/>
                    <a:pt x="69652" y="119588"/>
                  </a:cubicBezTo>
                  <a:lnTo>
                    <a:pt x="69652" y="9096794"/>
                  </a:lnTo>
                  <a:cubicBezTo>
                    <a:pt x="69652" y="9163332"/>
                    <a:pt x="66705" y="9216383"/>
                    <a:pt x="63119" y="9216383"/>
                  </a:cubicBezTo>
                  <a:lnTo>
                    <a:pt x="6533" y="9216383"/>
                  </a:lnTo>
                  <a:cubicBezTo>
                    <a:pt x="2898" y="9216383"/>
                    <a:pt x="0" y="9162433"/>
                    <a:pt x="0" y="9096794"/>
                  </a:cubicBezTo>
                  <a:lnTo>
                    <a:pt x="0" y="119588"/>
                  </a:lnTo>
                  <a:cubicBezTo>
                    <a:pt x="0" y="53950"/>
                    <a:pt x="2947" y="0"/>
                    <a:pt x="6533" y="0"/>
                  </a:cubicBezTo>
                  <a:moveTo>
                    <a:pt x="6533" y="240076"/>
                  </a:moveTo>
                  <a:lnTo>
                    <a:pt x="6533" y="119588"/>
                  </a:lnTo>
                  <a:lnTo>
                    <a:pt x="13115" y="119588"/>
                  </a:lnTo>
                  <a:lnTo>
                    <a:pt x="13115" y="9096794"/>
                  </a:lnTo>
                  <a:lnTo>
                    <a:pt x="6533" y="9096794"/>
                  </a:lnTo>
                  <a:lnTo>
                    <a:pt x="6533" y="8977206"/>
                  </a:lnTo>
                  <a:lnTo>
                    <a:pt x="63119" y="8977206"/>
                  </a:lnTo>
                  <a:lnTo>
                    <a:pt x="63119" y="9096794"/>
                  </a:lnTo>
                  <a:lnTo>
                    <a:pt x="56586" y="9096794"/>
                  </a:lnTo>
                  <a:lnTo>
                    <a:pt x="56586" y="119588"/>
                  </a:lnTo>
                  <a:lnTo>
                    <a:pt x="63119" y="119588"/>
                  </a:lnTo>
                  <a:lnTo>
                    <a:pt x="63119" y="240076"/>
                  </a:lnTo>
                  <a:lnTo>
                    <a:pt x="6533" y="240076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028700" y="3716076"/>
            <a:ext cx="6274150" cy="4610649"/>
          </a:xfrm>
          <a:custGeom>
            <a:avLst/>
            <a:gdLst/>
            <a:ahLst/>
            <a:cxnLst/>
            <a:rect r="r" b="b" t="t" l="l"/>
            <a:pathLst>
              <a:path h="4610649" w="6274150">
                <a:moveTo>
                  <a:pt x="0" y="0"/>
                </a:moveTo>
                <a:lnTo>
                  <a:pt x="6274150" y="0"/>
                </a:lnTo>
                <a:lnTo>
                  <a:pt x="6274150" y="4610649"/>
                </a:lnTo>
                <a:lnTo>
                  <a:pt x="0" y="4610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635871" y="3588986"/>
            <a:ext cx="7902259" cy="4864828"/>
          </a:xfrm>
          <a:custGeom>
            <a:avLst/>
            <a:gdLst/>
            <a:ahLst/>
            <a:cxnLst/>
            <a:rect r="r" b="b" t="t" l="l"/>
            <a:pathLst>
              <a:path h="4864828" w="7902259">
                <a:moveTo>
                  <a:pt x="0" y="0"/>
                </a:moveTo>
                <a:lnTo>
                  <a:pt x="7902259" y="0"/>
                </a:lnTo>
                <a:lnTo>
                  <a:pt x="7902259" y="4864828"/>
                </a:lnTo>
                <a:lnTo>
                  <a:pt x="0" y="4864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Activity Diagram : Setup &amp; Session Start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29178" y="1813179"/>
            <a:ext cx="8251435" cy="8045955"/>
          </a:xfrm>
          <a:custGeom>
            <a:avLst/>
            <a:gdLst/>
            <a:ahLst/>
            <a:cxnLst/>
            <a:rect r="r" b="b" t="t" l="l"/>
            <a:pathLst>
              <a:path h="8045955" w="8251435">
                <a:moveTo>
                  <a:pt x="0" y="0"/>
                </a:moveTo>
                <a:lnTo>
                  <a:pt x="8251436" y="0"/>
                </a:lnTo>
                <a:lnTo>
                  <a:pt x="8251436" y="8045955"/>
                </a:lnTo>
                <a:lnTo>
                  <a:pt x="0" y="8045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Activity Diagram : Guidance Loop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739971" y="1768453"/>
            <a:ext cx="6808058" cy="8098805"/>
          </a:xfrm>
          <a:custGeom>
            <a:avLst/>
            <a:gdLst/>
            <a:ahLst/>
            <a:cxnLst/>
            <a:rect r="r" b="b" t="t" l="l"/>
            <a:pathLst>
              <a:path h="8098805" w="6808058">
                <a:moveTo>
                  <a:pt x="0" y="0"/>
                </a:moveTo>
                <a:lnTo>
                  <a:pt x="6808058" y="0"/>
                </a:lnTo>
                <a:lnTo>
                  <a:pt x="6808058" y="8098805"/>
                </a:lnTo>
                <a:lnTo>
                  <a:pt x="0" y="8098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Activity Diagram : Capability Change and Recovery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179394" y="1973062"/>
            <a:ext cx="7929212" cy="7874699"/>
          </a:xfrm>
          <a:custGeom>
            <a:avLst/>
            <a:gdLst/>
            <a:ahLst/>
            <a:cxnLst/>
            <a:rect r="r" b="b" t="t" l="l"/>
            <a:pathLst>
              <a:path h="7874699" w="7929212">
                <a:moveTo>
                  <a:pt x="0" y="0"/>
                </a:moveTo>
                <a:lnTo>
                  <a:pt x="7929212" y="0"/>
                </a:lnTo>
                <a:lnTo>
                  <a:pt x="7929212" y="7874699"/>
                </a:lnTo>
                <a:lnTo>
                  <a:pt x="0" y="7874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ER Diagram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339794" y="1675260"/>
            <a:ext cx="5608412" cy="7583040"/>
          </a:xfrm>
          <a:custGeom>
            <a:avLst/>
            <a:gdLst/>
            <a:ahLst/>
            <a:cxnLst/>
            <a:rect r="r" b="b" t="t" l="l"/>
            <a:pathLst>
              <a:path h="7583040" w="5608412">
                <a:moveTo>
                  <a:pt x="0" y="0"/>
                </a:moveTo>
                <a:lnTo>
                  <a:pt x="5608412" y="0"/>
                </a:lnTo>
                <a:lnTo>
                  <a:pt x="5608412" y="7583040"/>
                </a:lnTo>
                <a:lnTo>
                  <a:pt x="0" y="7583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Component Diagram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814314" y="1791986"/>
            <a:ext cx="6659371" cy="7869272"/>
          </a:xfrm>
          <a:custGeom>
            <a:avLst/>
            <a:gdLst/>
            <a:ahLst/>
            <a:cxnLst/>
            <a:rect r="r" b="b" t="t" l="l"/>
            <a:pathLst>
              <a:path h="7869272" w="6659371">
                <a:moveTo>
                  <a:pt x="0" y="0"/>
                </a:moveTo>
                <a:lnTo>
                  <a:pt x="6659372" y="0"/>
                </a:lnTo>
                <a:lnTo>
                  <a:pt x="6659372" y="7869272"/>
                </a:lnTo>
                <a:lnTo>
                  <a:pt x="0" y="7869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AI Pipeline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86927" y="3579436"/>
            <a:ext cx="14714146" cy="4441833"/>
          </a:xfrm>
          <a:custGeom>
            <a:avLst/>
            <a:gdLst/>
            <a:ahLst/>
            <a:cxnLst/>
            <a:rect r="r" b="b" t="t" l="l"/>
            <a:pathLst>
              <a:path h="4441833" w="14714146">
                <a:moveTo>
                  <a:pt x="0" y="0"/>
                </a:moveTo>
                <a:lnTo>
                  <a:pt x="14714146" y="0"/>
                </a:lnTo>
                <a:lnTo>
                  <a:pt x="14714146" y="4441833"/>
                </a:lnTo>
                <a:lnTo>
                  <a:pt x="0" y="4441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Status &amp; What’s Next</a:t>
              </a: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1028700" y="2616300"/>
          <a:ext cx="5657850" cy="3771900"/>
        </p:xfrm>
        <a:graphic>
          <a:graphicData uri="http://schemas.openxmlformats.org/presentationml/2006/ole">
            <p:oleObj imgW="6781800" imgH="4902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Key Technologies &amp; Tools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399" y="1907543"/>
            <a:ext cx="8145275" cy="1342139"/>
            <a:chOff x="0" y="0"/>
            <a:chExt cx="10860367" cy="17895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Language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Python</a:t>
                </a: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755399" y="3480311"/>
            <a:ext cx="8145275" cy="1342139"/>
            <a:chOff x="0" y="0"/>
            <a:chExt cx="10860367" cy="1789519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Object Detection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YOLOv8n  (Ultralytics)</a:t>
                </a: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755399" y="5053079"/>
            <a:ext cx="8145275" cy="1342139"/>
            <a:chOff x="0" y="0"/>
            <a:chExt cx="10860367" cy="1789519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Multi-Object Tracking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ByteTrack</a:t>
                </a: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755399" y="6625847"/>
            <a:ext cx="8145275" cy="1342139"/>
            <a:chOff x="0" y="0"/>
            <a:chExt cx="10860367" cy="1789519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Depth Estimation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Apple Depth Pro</a:t>
                </a: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755399" y="8198615"/>
            <a:ext cx="8145275" cy="1342139"/>
            <a:chOff x="0" y="0"/>
            <a:chExt cx="10860367" cy="1789519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Motion Analysis</a:t>
                </a: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RAFT-Small  (Optical Flow)</a:t>
                </a:r>
              </a:p>
            </p:txBody>
          </p:sp>
        </p:grpSp>
      </p:grpSp>
      <p:grpSp>
        <p:nvGrpSpPr>
          <p:cNvPr name="Group 73" id="73"/>
          <p:cNvGrpSpPr/>
          <p:nvPr/>
        </p:nvGrpSpPr>
        <p:grpSpPr>
          <a:xfrm rot="0">
            <a:off x="9460487" y="1907543"/>
            <a:ext cx="8145275" cy="1342139"/>
            <a:chOff x="0" y="0"/>
            <a:chExt cx="10860367" cy="1789519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77" id="77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80" id="80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Text-to-Speech</a:t>
                </a: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edge-tts  (fully offline)</a:t>
                </a:r>
              </a:p>
            </p:txBody>
          </p:sp>
        </p:grpSp>
      </p:grpSp>
      <p:grpSp>
        <p:nvGrpSpPr>
          <p:cNvPr name="Group 86" id="86"/>
          <p:cNvGrpSpPr/>
          <p:nvPr/>
        </p:nvGrpSpPr>
        <p:grpSpPr>
          <a:xfrm rot="0">
            <a:off x="9460487" y="3480311"/>
            <a:ext cx="8145275" cy="1342139"/>
            <a:chOff x="0" y="0"/>
            <a:chExt cx="10860367" cy="1789519"/>
          </a:xfrm>
        </p:grpSpPr>
        <p:grpSp>
          <p:nvGrpSpPr>
            <p:cNvPr name="Group 87" id="87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90" id="90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93" id="93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Camera Interface</a:t>
                </a:r>
              </a:p>
            </p:txBody>
          </p:sp>
        </p:grpSp>
        <p:grpSp>
          <p:nvGrpSpPr>
            <p:cNvPr name="Group 96" id="96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OpenCV</a:t>
                </a:r>
              </a:p>
            </p:txBody>
          </p:sp>
        </p:grpSp>
      </p:grpSp>
      <p:grpSp>
        <p:nvGrpSpPr>
          <p:cNvPr name="Group 99" id="99"/>
          <p:cNvGrpSpPr/>
          <p:nvPr/>
        </p:nvGrpSpPr>
        <p:grpSpPr>
          <a:xfrm rot="0">
            <a:off x="9460487" y="5053079"/>
            <a:ext cx="8145275" cy="1342139"/>
            <a:chOff x="0" y="0"/>
            <a:chExt cx="10860367" cy="1789519"/>
          </a:xfrm>
        </p:grpSpPr>
        <p:grpSp>
          <p:nvGrpSpPr>
            <p:cNvPr name="Group 100" id="100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Deep Learning</a:t>
                </a: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PyTorch</a:t>
                </a:r>
              </a:p>
            </p:txBody>
          </p:sp>
        </p:grpSp>
      </p:grpSp>
      <p:grpSp>
        <p:nvGrpSpPr>
          <p:cNvPr name="Group 112" id="112"/>
          <p:cNvGrpSpPr/>
          <p:nvPr/>
        </p:nvGrpSpPr>
        <p:grpSpPr>
          <a:xfrm rot="0">
            <a:off x="9460487" y="6625847"/>
            <a:ext cx="8145275" cy="1342139"/>
            <a:chOff x="0" y="0"/>
            <a:chExt cx="10860367" cy="1789519"/>
          </a:xfrm>
        </p:grpSpPr>
        <p:grpSp>
          <p:nvGrpSpPr>
            <p:cNvPr name="Group 113" id="113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21" id="121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Version Control</a:t>
                </a:r>
              </a:p>
            </p:txBody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Git, GitHub</a:t>
                </a:r>
              </a:p>
            </p:txBody>
          </p:sp>
        </p:grpSp>
      </p:grpSp>
      <p:grpSp>
        <p:nvGrpSpPr>
          <p:cNvPr name="Group 125" id="125"/>
          <p:cNvGrpSpPr/>
          <p:nvPr/>
        </p:nvGrpSpPr>
        <p:grpSpPr>
          <a:xfrm rot="0">
            <a:off x="9460487" y="8198615"/>
            <a:ext cx="8145275" cy="1342139"/>
            <a:chOff x="0" y="0"/>
            <a:chExt cx="10860367" cy="1789519"/>
          </a:xfrm>
        </p:grpSpPr>
        <p:grpSp>
          <p:nvGrpSpPr>
            <p:cNvPr name="Group 126" id="126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29" id="129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Demo Platform</a:t>
                </a:r>
              </a:p>
            </p:txBody>
          </p:sp>
        </p:grpSp>
        <p:grpSp>
          <p:nvGrpSpPr>
            <p:cNvPr name="Group 135" id="135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37" id="137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Phone Camera with Colab Inference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References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399" y="2632205"/>
            <a:ext cx="16855945" cy="945385"/>
            <a:chOff x="0" y="0"/>
            <a:chExt cx="22474593" cy="126051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[1]  Z. Teed and J. Deng, “RAFT: Recurrent All-Pairs Field Transforms for Optical Flow,” ECCV 2020.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755399" y="3802637"/>
            <a:ext cx="16855945" cy="945385"/>
            <a:chOff x="0" y="0"/>
            <a:chExt cx="22474593" cy="126051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[2]  L. Zhang et al., “ByteTrack: Multi-Object Tracking by Associating Every Detection Box,” ECCV 2022.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755399" y="4973069"/>
            <a:ext cx="16855945" cy="945385"/>
            <a:chOff x="0" y="0"/>
            <a:chExt cx="22474593" cy="126051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[3]  Apple ML Research, “Depth Pro: Sharp Monocular Metric Depth in Less Than a Second,” arXiv:2410.02073, 2024.</a:t>
                </a: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755399" y="6143501"/>
            <a:ext cx="16855945" cy="945385"/>
            <a:chOff x="0" y="0"/>
            <a:chExt cx="22474593" cy="1260513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[4]  G. Jocher et al., “Ultralytics YOLOv8,” GitHub Repository, 2023.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755399" y="7313933"/>
            <a:ext cx="16855945" cy="945385"/>
            <a:chOff x="0" y="0"/>
            <a:chExt cx="22474593" cy="1260513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[5]  World Health Organization, “Blindness and Vision Impairment,” WHO Fact Sheet, 2023.</a:t>
                </a: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755399" y="8484365"/>
            <a:ext cx="16855945" cy="945385"/>
            <a:chOff x="0" y="0"/>
            <a:chExt cx="22474593" cy="1260513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[6]  H. Ye, Y. Chen and Z. Liu, “Sound of Vision: Natural Soundscape Synthesis for the Visually Impaired,” ICCV 2021.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0976" y="2377440"/>
            <a:ext cx="9875520" cy="2377440"/>
            <a:chOff x="0" y="0"/>
            <a:chExt cx="13167360" cy="3169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3169920"/>
            </a:xfrm>
            <a:custGeom>
              <a:avLst/>
              <a:gdLst/>
              <a:ahLst/>
              <a:cxnLst/>
              <a:rect r="r" b="b" t="t" l="l"/>
              <a:pathLst>
                <a:path h="31699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37" r="0" b="-309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16736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8279" y="4925063"/>
            <a:ext cx="3683003" cy="153419"/>
            <a:chOff x="0" y="0"/>
            <a:chExt cx="49106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4876800" cy="170688"/>
            </a:xfrm>
            <a:custGeom>
              <a:avLst/>
              <a:gdLst/>
              <a:ahLst/>
              <a:cxnLst/>
              <a:rect r="r" b="b" t="t" l="l"/>
              <a:pathLst>
                <a:path h="1706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10582" cy="204472"/>
            </a:xfrm>
            <a:custGeom>
              <a:avLst/>
              <a:gdLst/>
              <a:ahLst/>
              <a:cxnLst/>
              <a:rect r="r" b="b" t="t" l="l"/>
              <a:pathLst>
                <a:path h="20447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7579"/>
                  </a:lnTo>
                  <a:cubicBezTo>
                    <a:pt x="4910582" y="196977"/>
                    <a:pt x="4902962" y="204470"/>
                    <a:pt x="4893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893691" y="170688"/>
                  </a:lnTo>
                  <a:lnTo>
                    <a:pt x="4893691" y="187579"/>
                  </a:lnTo>
                  <a:lnTo>
                    <a:pt x="4876800" y="18757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0976" y="5266944"/>
            <a:ext cx="9875520" cy="950976"/>
            <a:chOff x="0" y="0"/>
            <a:chExt cx="13167360" cy="12679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6736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316736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i="true">
                  <a:solidFill>
                    <a:srgbClr val="7A8F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Any Questions?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976" y="6766560"/>
            <a:ext cx="9875520" cy="585216"/>
            <a:chOff x="0" y="0"/>
            <a:chExt cx="1316736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67361" cy="780288"/>
            </a:xfrm>
            <a:custGeom>
              <a:avLst/>
              <a:gdLst/>
              <a:ahLst/>
              <a:cxnLst/>
              <a:rect r="r" b="b" t="t" l="l"/>
              <a:pathLst>
                <a:path h="780288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316736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Shah Alam Abir  ·  BSSE-1439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976" y="7388352"/>
            <a:ext cx="9875520" cy="512064"/>
            <a:chOff x="0" y="0"/>
            <a:chExt cx="1316736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67361" cy="682752"/>
            </a:xfrm>
            <a:custGeom>
              <a:avLst/>
              <a:gdLst/>
              <a:ahLst/>
              <a:cxnLst/>
              <a:rect r="r" b="b" t="t" l="l"/>
              <a:pathLst>
                <a:path h="68275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167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by: Dr. Md. Nurul Ahad Tawhid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0976" y="7936992"/>
            <a:ext cx="9875520" cy="512064"/>
            <a:chOff x="0" y="0"/>
            <a:chExt cx="1316736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7361" cy="682752"/>
            </a:xfrm>
            <a:custGeom>
              <a:avLst/>
              <a:gdLst/>
              <a:ahLst/>
              <a:cxnLst/>
              <a:rect r="r" b="b" t="t" l="l"/>
              <a:pathLst>
                <a:path h="68275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1673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Institute of Information Technology, University of Dhaka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5943" y="-12697"/>
            <a:ext cx="5561205" cy="10312403"/>
            <a:chOff x="0" y="0"/>
            <a:chExt cx="7414939" cy="1374987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31407" cy="13749871"/>
              <a:chOff x="0" y="0"/>
              <a:chExt cx="131407" cy="1374987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16891" y="16891"/>
                <a:ext cx="97536" cy="13715999"/>
              </a:xfrm>
              <a:custGeom>
                <a:avLst/>
                <a:gdLst/>
                <a:ahLst/>
                <a:cxnLst/>
                <a:rect r="r" b="b" t="t" l="l"/>
                <a:pathLst>
                  <a:path h="13715999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3715999"/>
                    </a:lnTo>
                    <a:lnTo>
                      <a:pt x="0" y="1371599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1318" cy="13749782"/>
              </a:xfrm>
              <a:custGeom>
                <a:avLst/>
                <a:gdLst/>
                <a:ahLst/>
                <a:cxnLst/>
                <a:rect r="r" b="b" t="t" l="l"/>
                <a:pathLst>
                  <a:path h="13749782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3732890"/>
                    </a:lnTo>
                    <a:cubicBezTo>
                      <a:pt x="131318" y="13742290"/>
                      <a:pt x="123698" y="13749782"/>
                      <a:pt x="114427" y="13749782"/>
                    </a:cubicBezTo>
                    <a:lnTo>
                      <a:pt x="16891" y="13749782"/>
                    </a:lnTo>
                    <a:cubicBezTo>
                      <a:pt x="7493" y="13749782"/>
                      <a:pt x="0" y="13742163"/>
                      <a:pt x="0" y="13732890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3732890"/>
                    </a:lnTo>
                    <a:lnTo>
                      <a:pt x="16891" y="13732890"/>
                    </a:lnTo>
                    <a:lnTo>
                      <a:pt x="16891" y="13716000"/>
                    </a:lnTo>
                    <a:lnTo>
                      <a:pt x="114427" y="13716000"/>
                    </a:lnTo>
                    <a:lnTo>
                      <a:pt x="114427" y="13732890"/>
                    </a:lnTo>
                    <a:lnTo>
                      <a:pt x="97536" y="13732890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264920" y="1097283"/>
              <a:ext cx="204559" cy="204559"/>
              <a:chOff x="0" y="0"/>
              <a:chExt cx="204559" cy="20455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2776728" y="1097283"/>
              <a:ext cx="204559" cy="204559"/>
              <a:chOff x="0" y="0"/>
              <a:chExt cx="204559" cy="20455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4288536" y="1097283"/>
              <a:ext cx="204559" cy="204559"/>
              <a:chOff x="0" y="0"/>
              <a:chExt cx="204559" cy="20455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5800344" y="1097283"/>
              <a:ext cx="204559" cy="204559"/>
              <a:chOff x="0" y="0"/>
              <a:chExt cx="204559" cy="20455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264920" y="3413763"/>
              <a:ext cx="204559" cy="204559"/>
              <a:chOff x="0" y="0"/>
              <a:chExt cx="204559" cy="20455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2776728" y="3413763"/>
              <a:ext cx="204559" cy="204559"/>
              <a:chOff x="0" y="0"/>
              <a:chExt cx="204559" cy="20455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4288536" y="3413763"/>
              <a:ext cx="204559" cy="204559"/>
              <a:chOff x="0" y="0"/>
              <a:chExt cx="204559" cy="20455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5800344" y="3413763"/>
              <a:ext cx="204559" cy="204559"/>
              <a:chOff x="0" y="0"/>
              <a:chExt cx="204559" cy="20455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1264920" y="5730243"/>
              <a:ext cx="204559" cy="204559"/>
              <a:chOff x="0" y="0"/>
              <a:chExt cx="204559" cy="20455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2776728" y="5730243"/>
              <a:ext cx="204559" cy="204559"/>
              <a:chOff x="0" y="0"/>
              <a:chExt cx="204559" cy="204559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4288536" y="5730243"/>
              <a:ext cx="204559" cy="204559"/>
              <a:chOff x="0" y="0"/>
              <a:chExt cx="204559" cy="20455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5800344" y="5730243"/>
              <a:ext cx="204559" cy="204559"/>
              <a:chOff x="0" y="0"/>
              <a:chExt cx="204559" cy="204559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1264920" y="8046723"/>
              <a:ext cx="204559" cy="204559"/>
              <a:chOff x="0" y="0"/>
              <a:chExt cx="204559" cy="204559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2776728" y="8046723"/>
              <a:ext cx="204559" cy="204559"/>
              <a:chOff x="0" y="0"/>
              <a:chExt cx="204559" cy="204559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6" id="66"/>
            <p:cNvGrpSpPr/>
            <p:nvPr/>
          </p:nvGrpSpPr>
          <p:grpSpPr>
            <a:xfrm rot="0">
              <a:off x="4288536" y="8046723"/>
              <a:ext cx="204559" cy="204559"/>
              <a:chOff x="0" y="0"/>
              <a:chExt cx="204559" cy="204559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5800344" y="8046723"/>
              <a:ext cx="204559" cy="204559"/>
              <a:chOff x="0" y="0"/>
              <a:chExt cx="204559" cy="204559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1264920" y="10363203"/>
              <a:ext cx="204559" cy="204559"/>
              <a:chOff x="0" y="0"/>
              <a:chExt cx="204559" cy="204559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5" id="75"/>
            <p:cNvGrpSpPr/>
            <p:nvPr/>
          </p:nvGrpSpPr>
          <p:grpSpPr>
            <a:xfrm rot="0">
              <a:off x="2776728" y="10363203"/>
              <a:ext cx="204559" cy="204559"/>
              <a:chOff x="0" y="0"/>
              <a:chExt cx="204559" cy="204559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4288536" y="10363203"/>
              <a:ext cx="204559" cy="204559"/>
              <a:chOff x="0" y="0"/>
              <a:chExt cx="204559" cy="204559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5800344" y="10363203"/>
              <a:ext cx="204559" cy="204559"/>
              <a:chOff x="0" y="0"/>
              <a:chExt cx="204559" cy="204559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4" id="84"/>
            <p:cNvGrpSpPr/>
            <p:nvPr/>
          </p:nvGrpSpPr>
          <p:grpSpPr>
            <a:xfrm rot="0">
              <a:off x="2015579" y="4471759"/>
              <a:ext cx="4632960" cy="3169920"/>
              <a:chOff x="0" y="0"/>
              <a:chExt cx="4632960" cy="3169920"/>
            </a:xfrm>
          </p:grpSpPr>
          <p:sp>
            <p:nvSpPr>
              <p:cNvPr name="Freeform 85" id="85" descr="preencoded.png"/>
              <p:cNvSpPr/>
              <p:nvPr/>
            </p:nvSpPr>
            <p:spPr>
              <a:xfrm flipH="false" flipV="false" rot="0">
                <a:off x="0" y="0"/>
                <a:ext cx="4632960" cy="3169920"/>
              </a:xfrm>
              <a:custGeom>
                <a:avLst/>
                <a:gdLst/>
                <a:ahLst/>
                <a:cxnLst/>
                <a:rect r="r" b="b" t="t" l="l"/>
                <a:pathLst>
                  <a:path h="3169920" w="4632960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3169920"/>
                    </a:lnTo>
                    <a:lnTo>
                      <a:pt x="0" y="316992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alphaModFix amt="78000"/>
                </a:blip>
                <a:stretch>
                  <a:fillRect l="0" t="-23076" r="0" b="-23076"/>
                </a:stretch>
              </a:blipFill>
            </p:spPr>
          </p:sp>
        </p:grpSp>
        <p:grpSp>
          <p:nvGrpSpPr>
            <p:cNvPr name="Group 86" id="86"/>
            <p:cNvGrpSpPr/>
            <p:nvPr/>
          </p:nvGrpSpPr>
          <p:grpSpPr>
            <a:xfrm rot="0">
              <a:off x="7184809" y="1097283"/>
              <a:ext cx="204559" cy="204559"/>
              <a:chOff x="0" y="0"/>
              <a:chExt cx="204559" cy="204559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9" id="89"/>
            <p:cNvGrpSpPr/>
            <p:nvPr/>
          </p:nvGrpSpPr>
          <p:grpSpPr>
            <a:xfrm rot="0">
              <a:off x="7184809" y="3413763"/>
              <a:ext cx="204559" cy="204559"/>
              <a:chOff x="0" y="0"/>
              <a:chExt cx="204559" cy="204559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2" id="92"/>
            <p:cNvGrpSpPr/>
            <p:nvPr/>
          </p:nvGrpSpPr>
          <p:grpSpPr>
            <a:xfrm rot="0">
              <a:off x="7184809" y="5730243"/>
              <a:ext cx="204559" cy="204559"/>
              <a:chOff x="0" y="0"/>
              <a:chExt cx="204559" cy="204559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5" id="95"/>
            <p:cNvGrpSpPr/>
            <p:nvPr/>
          </p:nvGrpSpPr>
          <p:grpSpPr>
            <a:xfrm rot="0">
              <a:off x="7184809" y="8046723"/>
              <a:ext cx="204559" cy="204559"/>
              <a:chOff x="0" y="0"/>
              <a:chExt cx="204559" cy="204559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8" id="98"/>
            <p:cNvGrpSpPr/>
            <p:nvPr/>
          </p:nvGrpSpPr>
          <p:grpSpPr>
            <a:xfrm rot="0">
              <a:off x="7184809" y="10363203"/>
              <a:ext cx="204559" cy="204559"/>
              <a:chOff x="0" y="0"/>
              <a:chExt cx="204559" cy="204559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01" id="101"/>
            <p:cNvGrpSpPr/>
            <p:nvPr/>
          </p:nvGrpSpPr>
          <p:grpSpPr>
            <a:xfrm rot="0">
              <a:off x="1290491" y="12448029"/>
              <a:ext cx="204559" cy="204559"/>
              <a:chOff x="0" y="0"/>
              <a:chExt cx="204559" cy="204559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2802299" y="12448029"/>
              <a:ext cx="204559" cy="204559"/>
              <a:chOff x="0" y="0"/>
              <a:chExt cx="204559" cy="204559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4314107" y="12448029"/>
              <a:ext cx="204559" cy="204559"/>
              <a:chOff x="0" y="0"/>
              <a:chExt cx="204559" cy="204559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5825915" y="12448029"/>
              <a:ext cx="204559" cy="204559"/>
              <a:chOff x="0" y="0"/>
              <a:chExt cx="204559" cy="204559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7210381" y="12448029"/>
              <a:ext cx="204559" cy="204559"/>
              <a:chOff x="0" y="0"/>
              <a:chExt cx="204559" cy="204559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DAHJ5oCpDjE</dc:identifier>
  <dcterms:modified xsi:type="dcterms:W3CDTF">2011-08-01T06:04:30Z</dcterms:modified>
  <cp:revision>1</cp:revision>
  <dc:title>bsse1439_SPL_3_Mid.pptx</dc:title>
</cp:coreProperties>
</file>