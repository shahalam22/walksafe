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Open Sans ExtraBold"/>
      <p:bold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hSnRGWwr/xGyb5mRPb1A6etsIl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6.xml"/><Relationship Id="rId33" Type="http://schemas.openxmlformats.org/officeDocument/2006/relationships/font" Target="fonts/OpenSansExtraBold-bold.fntdata"/><Relationship Id="rId10" Type="http://schemas.openxmlformats.org/officeDocument/2006/relationships/slide" Target="slides/slide5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OpenSans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a9aa8904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1a9aa8904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a9aa8904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1a9aa8904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a8c5dd33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1a8c5dd33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a9aa8904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1a9aa8904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a8c5dd33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1a8c5dd33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a8c5dd33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1a8c5dd33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a9aa8904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1a9aa8904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a8c5dd33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1a8c5dd33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a8c5dd33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1a8c5dd33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a9aa8904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1a9aa8904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a8c5dd33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1a8c5dd33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a8c5dd33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1a8c5dd33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a9aa890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1a9aa890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a9aa890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1a9aa890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0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8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3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6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4" name="Google Shape;44;p19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" name="Google Shape;45;p1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862000" y="918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3500">
                <a:solidFill>
                  <a:schemeClr val="accent1"/>
                </a:solidFill>
              </a:rPr>
              <a:t>RapidEye - A Neural Network Based System for Real Time Analysis of Video Footage</a:t>
            </a:r>
            <a:endParaRPr b="1" sz="3500">
              <a:solidFill>
                <a:schemeClr val="accent1"/>
              </a:solidFill>
            </a:endParaRPr>
          </a:p>
        </p:txBody>
      </p:sp>
      <p:sp>
        <p:nvSpPr>
          <p:cNvPr id="63" name="Google Shape;63;p2"/>
          <p:cNvSpPr txBox="1"/>
          <p:nvPr>
            <p:ph type="title"/>
          </p:nvPr>
        </p:nvSpPr>
        <p:spPr>
          <a:xfrm>
            <a:off x="862000" y="2340275"/>
            <a:ext cx="4000800" cy="22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Supervised By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i="1"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Dr. Ahmedul Kabir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200"/>
              <a:buNone/>
            </a:pPr>
            <a:r>
              <a:rPr i="1" lang="en" sz="1700">
                <a:latin typeface="Arial"/>
                <a:ea typeface="Arial"/>
                <a:cs typeface="Arial"/>
                <a:sym typeface="Arial"/>
              </a:rPr>
              <a:t>Associate Professor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i="1" lang="en" sz="1700">
                <a:latin typeface="Arial"/>
                <a:ea typeface="Arial"/>
                <a:cs typeface="Arial"/>
                <a:sym typeface="Arial"/>
              </a:rPr>
              <a:t>IIT, University of Dhaka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2"/>
          <p:cNvCxnSpPr/>
          <p:nvPr/>
        </p:nvCxnSpPr>
        <p:spPr>
          <a:xfrm flipH="1" rot="10800000">
            <a:off x="764950" y="1290200"/>
            <a:ext cx="779070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 txBox="1"/>
          <p:nvPr>
            <p:ph type="title"/>
          </p:nvPr>
        </p:nvSpPr>
        <p:spPr>
          <a:xfrm>
            <a:off x="4457800" y="2340275"/>
            <a:ext cx="4000800" cy="22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Presented By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i="1"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Mohammad Momenuzzaman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200"/>
              <a:buNone/>
            </a:pPr>
            <a:r>
              <a:rPr i="1" lang="en" sz="1700">
                <a:latin typeface="Arial"/>
                <a:ea typeface="Arial"/>
                <a:cs typeface="Arial"/>
                <a:sym typeface="Arial"/>
              </a:rPr>
              <a:t>BSSE 1227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i="1" lang="en" sz="1700">
                <a:latin typeface="Arial"/>
                <a:ea typeface="Arial"/>
                <a:cs typeface="Arial"/>
                <a:sym typeface="Arial"/>
              </a:rPr>
              <a:t>IIT, University of Dhaka</a:t>
            </a:r>
            <a:endParaRPr i="1"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236350" y="60600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lang="en" sz="3500">
                <a:solidFill>
                  <a:schemeClr val="accent1"/>
                </a:solidFill>
              </a:rPr>
              <a:t>RapidEye</a:t>
            </a:r>
            <a:endParaRPr sz="3180"/>
          </a:p>
        </p:txBody>
      </p:sp>
      <p:sp>
        <p:nvSpPr>
          <p:cNvPr id="71" name="Google Shape;71;p3"/>
          <p:cNvSpPr txBox="1"/>
          <p:nvPr>
            <p:ph idx="2" type="body"/>
          </p:nvPr>
        </p:nvSpPr>
        <p:spPr>
          <a:xfrm>
            <a:off x="4513100" y="724200"/>
            <a:ext cx="42795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Realtime video Analysis</a:t>
            </a:r>
            <a:br>
              <a:rPr lang="en" sz="2100"/>
            </a:br>
            <a:endParaRPr sz="2100"/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ML Powered Detection</a:t>
            </a:r>
            <a:br>
              <a:rPr lang="en" sz="2100"/>
            </a:br>
            <a:endParaRPr sz="2100"/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Intelligent Alerts</a:t>
            </a:r>
            <a:br>
              <a:rPr lang="en" sz="2100"/>
            </a:br>
            <a:endParaRPr sz="2100"/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Support for multiple video sources</a:t>
            </a:r>
            <a:endParaRPr sz="2100"/>
          </a:p>
        </p:txBody>
      </p:sp>
      <p:pic>
        <p:nvPicPr>
          <p:cNvPr id="72" name="Google Shape;7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550" y="2104725"/>
            <a:ext cx="25908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4"/>
          <p:cNvGrpSpPr/>
          <p:nvPr/>
        </p:nvGrpSpPr>
        <p:grpSpPr>
          <a:xfrm>
            <a:off x="6022975" y="1568589"/>
            <a:ext cx="2685450" cy="3086700"/>
            <a:chOff x="6022975" y="1568589"/>
            <a:chExt cx="2685450" cy="3086700"/>
          </a:xfrm>
        </p:grpSpPr>
        <p:sp>
          <p:nvSpPr>
            <p:cNvPr id="78" name="Google Shape;78;p4"/>
            <p:cNvSpPr/>
            <p:nvPr/>
          </p:nvSpPr>
          <p:spPr>
            <a:xfrm>
              <a:off x="6022975" y="1568589"/>
              <a:ext cx="2683200" cy="3086700"/>
            </a:xfrm>
            <a:prstGeom prst="rect">
              <a:avLst/>
            </a:prstGeom>
            <a:noFill/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 txBox="1"/>
            <p:nvPr/>
          </p:nvSpPr>
          <p:spPr>
            <a:xfrm>
              <a:off x="6025225" y="1568600"/>
              <a:ext cx="2683200" cy="411900"/>
            </a:xfrm>
            <a:prstGeom prst="rect">
              <a:avLst/>
            </a:prstGeom>
            <a:solidFill>
              <a:srgbClr val="CCA6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4"/>
          <p:cNvSpPr txBox="1"/>
          <p:nvPr/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Motivation</a:t>
            </a:r>
            <a:endParaRPr b="0" i="0" sz="4200" u="none" cap="none" strike="noStrik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4364550" y="1242375"/>
            <a:ext cx="414900" cy="0"/>
          </a:xfrm>
          <a:prstGeom prst="straightConnector1">
            <a:avLst/>
          </a:prstGeom>
          <a:noFill/>
          <a:ln cap="flat" cmpd="sng" w="2857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" name="Google Shape;82;p4"/>
          <p:cNvGrpSpPr/>
          <p:nvPr/>
        </p:nvGrpSpPr>
        <p:grpSpPr>
          <a:xfrm>
            <a:off x="437825" y="1568589"/>
            <a:ext cx="2685450" cy="3086700"/>
            <a:chOff x="437825" y="1568589"/>
            <a:chExt cx="2685450" cy="3086700"/>
          </a:xfrm>
        </p:grpSpPr>
        <p:sp>
          <p:nvSpPr>
            <p:cNvPr id="83" name="Google Shape;83;p4"/>
            <p:cNvSpPr/>
            <p:nvPr/>
          </p:nvSpPr>
          <p:spPr>
            <a:xfrm>
              <a:off x="440075" y="1568589"/>
              <a:ext cx="2683200" cy="3086700"/>
            </a:xfrm>
            <a:prstGeom prst="rect">
              <a:avLst/>
            </a:prstGeom>
            <a:noFill/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 txBox="1"/>
            <p:nvPr/>
          </p:nvSpPr>
          <p:spPr>
            <a:xfrm>
              <a:off x="437825" y="1568589"/>
              <a:ext cx="2683200" cy="411900"/>
            </a:xfrm>
            <a:prstGeom prst="rect">
              <a:avLst/>
            </a:prstGeom>
            <a:solidFill>
              <a:srgbClr val="CCA6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4"/>
          <p:cNvSpPr txBox="1"/>
          <p:nvPr/>
        </p:nvSpPr>
        <p:spPr>
          <a:xfrm>
            <a:off x="518000" y="2091275"/>
            <a:ext cx="2494500" cy="25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Manual System Limitations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Traditional monitoring systems struggle with the increasing volume and complexity of video data, leading to missed incidents and delayed responses.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6" name="Google Shape;86;p4"/>
          <p:cNvGrpSpPr/>
          <p:nvPr/>
        </p:nvGrpSpPr>
        <p:grpSpPr>
          <a:xfrm>
            <a:off x="3230400" y="1568589"/>
            <a:ext cx="2683200" cy="3086700"/>
            <a:chOff x="3230400" y="1568589"/>
            <a:chExt cx="2683200" cy="3086700"/>
          </a:xfrm>
        </p:grpSpPr>
        <p:sp>
          <p:nvSpPr>
            <p:cNvPr id="87" name="Google Shape;87;p4"/>
            <p:cNvSpPr/>
            <p:nvPr/>
          </p:nvSpPr>
          <p:spPr>
            <a:xfrm>
              <a:off x="3230400" y="1568589"/>
              <a:ext cx="2683200" cy="3086700"/>
            </a:xfrm>
            <a:prstGeom prst="rect">
              <a:avLst/>
            </a:prstGeom>
            <a:noFill/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 txBox="1"/>
            <p:nvPr/>
          </p:nvSpPr>
          <p:spPr>
            <a:xfrm>
              <a:off x="3230400" y="1568600"/>
              <a:ext cx="2683200" cy="411900"/>
            </a:xfrm>
            <a:prstGeom prst="rect">
              <a:avLst/>
            </a:prstGeom>
            <a:solidFill>
              <a:srgbClr val="CCA6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4"/>
          <p:cNvSpPr txBox="1"/>
          <p:nvPr/>
        </p:nvSpPr>
        <p:spPr>
          <a:xfrm>
            <a:off x="6070675" y="2091277"/>
            <a:ext cx="2484300" cy="25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Enhanced Decision Making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analysis and alerts enable faster, more informed decisions in emergency response and security operations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270488" y="2091277"/>
            <a:ext cx="2494500" cy="25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Need for real-time detection</a:t>
            </a:r>
            <a:endParaRPr b="1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Critical events require immediate detection and response, which human operators cannot consistently provide across multiple video streams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116475" y="929275"/>
            <a:ext cx="41943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3200"/>
              <a:t>Quality Function Deployment</a:t>
            </a:r>
            <a:endParaRPr b="1" sz="3200"/>
          </a:p>
        </p:txBody>
      </p:sp>
      <p:sp>
        <p:nvSpPr>
          <p:cNvPr id="96" name="Google Shape;96;p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588"/>
              <a:buNone/>
            </a:pPr>
            <a:r>
              <a:rPr b="1" lang="en" sz="2550">
                <a:solidFill>
                  <a:schemeClr val="dk1"/>
                </a:solidFill>
              </a:rPr>
              <a:t>Normal Requirements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319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Video Processing: Process real-time and recorded video streams</a:t>
            </a:r>
            <a:endParaRPr sz="2100"/>
          </a:p>
          <a:p>
            <a:pPr indent="-3319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Movement Detection: Track and analyze human movements</a:t>
            </a:r>
            <a:endParaRPr sz="2100"/>
          </a:p>
          <a:p>
            <a:pPr indent="-3319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Multiple Person Tracking: Track multiple individuals simultaneously</a:t>
            </a:r>
            <a:endParaRPr sz="2100"/>
          </a:p>
          <a:p>
            <a:pPr indent="-3319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Alert Generation: Real-time alerts for suspicious movements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a9aa8904e_0_11"/>
          <p:cNvSpPr txBox="1"/>
          <p:nvPr>
            <p:ph type="title"/>
          </p:nvPr>
        </p:nvSpPr>
        <p:spPr>
          <a:xfrm>
            <a:off x="143125" y="929275"/>
            <a:ext cx="41676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3200"/>
              <a:t>Quality Function Deployment</a:t>
            </a:r>
            <a:endParaRPr b="1" sz="3200"/>
          </a:p>
        </p:txBody>
      </p:sp>
      <p:sp>
        <p:nvSpPr>
          <p:cNvPr id="102" name="Google Shape;102;g31a9aa8904e_0_11"/>
          <p:cNvSpPr txBox="1"/>
          <p:nvPr>
            <p:ph idx="2" type="body"/>
          </p:nvPr>
        </p:nvSpPr>
        <p:spPr>
          <a:xfrm>
            <a:off x="4789550" y="198775"/>
            <a:ext cx="3797100" cy="4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Expected Requirements</a:t>
            </a:r>
            <a:endParaRPr b="1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Detection Accuracy: High accuracy in detecting and analyzing movements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Performance Optimization: Efficient operation on standard hardware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Robust Tracking: Maintain tracking through occlusions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143125" y="929275"/>
            <a:ext cx="41676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3200"/>
              <a:t>Quality Function Deployment</a:t>
            </a:r>
            <a:endParaRPr b="1" sz="3200"/>
          </a:p>
        </p:txBody>
      </p:sp>
      <p:sp>
        <p:nvSpPr>
          <p:cNvPr id="108" name="Google Shape;108;p7"/>
          <p:cNvSpPr txBox="1"/>
          <p:nvPr>
            <p:ph idx="2" type="body"/>
          </p:nvPr>
        </p:nvSpPr>
        <p:spPr>
          <a:xfrm>
            <a:off x="4780225" y="984900"/>
            <a:ext cx="3797100" cy="28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Exciting Requirements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Interaction Analysis: Detect and assess potential threats from interactions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Recording: Automatic recording of detected events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Customizable Sensitivity: Adjustable detection thresholds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Scenario Based Modelling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70475" y="1671625"/>
            <a:ext cx="3451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actors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/>
              <a:t>Operator,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actors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/>
              <a:t>ML Model, Cameras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in context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Module wise view of </a:t>
            </a:r>
            <a:r>
              <a:rPr lang="en"/>
              <a:t>RapidEye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5258050" y="4584525"/>
            <a:ext cx="2301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Case Le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-1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12072" l="0" r="0" t="0"/>
          <a:stretch/>
        </p:blipFill>
        <p:spPr>
          <a:xfrm>
            <a:off x="4181075" y="1066800"/>
            <a:ext cx="47625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Class Based Modelling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480700" y="1085750"/>
            <a:ext cx="7000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Analysis Classes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75" y="1583150"/>
            <a:ext cx="40290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25" y="1583150"/>
            <a:ext cx="402907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a9aa8904e_0_23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1a9aa8904e_0_23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Class Based Modelling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" name="Google Shape;133;g31a9aa8904e_0_23"/>
          <p:cNvSpPr txBox="1"/>
          <p:nvPr/>
        </p:nvSpPr>
        <p:spPr>
          <a:xfrm>
            <a:off x="480700" y="1085750"/>
            <a:ext cx="7000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Analysis Classes - K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ey Class Relationships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g31a9aa8904e_0_23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642727" y="1583150"/>
            <a:ext cx="40290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1a9aa8904e_0_23"/>
          <p:cNvPicPr preferRelativeResize="0"/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4803225" y="1583150"/>
            <a:ext cx="4029075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1a9aa8904e_0_23"/>
          <p:cNvSpPr txBox="1"/>
          <p:nvPr/>
        </p:nvSpPr>
        <p:spPr>
          <a:xfrm>
            <a:off x="642725" y="1967025"/>
            <a:ext cx="7000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03071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Video interacts with Movement for detection</a:t>
            </a:r>
            <a:endParaRPr sz="2000">
              <a:solidFill>
                <a:srgbClr val="03071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03071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Movement triggers Alerts based on analysis</a:t>
            </a:r>
            <a:endParaRPr sz="2000">
              <a:solidFill>
                <a:srgbClr val="03071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03071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Zone defines areas for Movement monitoring</a:t>
            </a:r>
            <a:endParaRPr sz="2000">
              <a:solidFill>
                <a:srgbClr val="03071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03071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Operator manages Zones and receives Alerts</a:t>
            </a:r>
            <a:endParaRPr sz="2000">
              <a:solidFill>
                <a:srgbClr val="03071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03071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Settings configure behavior of all components</a:t>
            </a:r>
            <a:endParaRPr sz="2000">
              <a:solidFill>
                <a:srgbClr val="03071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a8c5dd339_0_66"/>
          <p:cNvSpPr/>
          <p:nvPr/>
        </p:nvSpPr>
        <p:spPr>
          <a:xfrm>
            <a:off x="4028650" y="185525"/>
            <a:ext cx="5049000" cy="479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g31a8c5dd339_0_66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a8c5dd339_0_66"/>
          <p:cNvSpPr txBox="1"/>
          <p:nvPr/>
        </p:nvSpPr>
        <p:spPr>
          <a:xfrm>
            <a:off x="59900" y="1989250"/>
            <a:ext cx="39819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Class Based Modelling</a:t>
            </a:r>
            <a:endParaRPr b="0" i="0" sz="4200" u="none" cap="none" strike="noStrik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" name="Google Shape;144;g31a8c5dd339_0_66"/>
          <p:cNvSpPr txBox="1"/>
          <p:nvPr/>
        </p:nvSpPr>
        <p:spPr>
          <a:xfrm>
            <a:off x="4958975" y="4766825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Responsibility &amp; Collaboration Diagram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1a8c5dd339_0_66"/>
          <p:cNvPicPr preferRelativeResize="0"/>
          <p:nvPr/>
        </p:nvPicPr>
        <p:blipFill rotWithShape="1">
          <a:blip r:embed="rId3">
            <a:alphaModFix/>
          </a:blip>
          <a:srcRect b="-918" l="0" r="0" t="0"/>
          <a:stretch/>
        </p:blipFill>
        <p:spPr>
          <a:xfrm>
            <a:off x="4183338" y="257175"/>
            <a:ext cx="4752975" cy="4629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a9aa8904e_0_39"/>
          <p:cNvSpPr/>
          <p:nvPr/>
        </p:nvSpPr>
        <p:spPr>
          <a:xfrm>
            <a:off x="2047450" y="185525"/>
            <a:ext cx="5049000" cy="479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g31a9aa8904e_0_39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1a9aa8904e_0_39"/>
          <p:cNvSpPr txBox="1"/>
          <p:nvPr/>
        </p:nvSpPr>
        <p:spPr>
          <a:xfrm>
            <a:off x="2697075" y="269600"/>
            <a:ext cx="39819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Class Based Modelling</a:t>
            </a:r>
            <a:endParaRPr b="0" i="0" sz="4200" u="none" cap="none" strike="noStrik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3" name="Google Shape;153;g31a9aa8904e_0_39"/>
          <p:cNvSpPr txBox="1"/>
          <p:nvPr/>
        </p:nvSpPr>
        <p:spPr>
          <a:xfrm>
            <a:off x="4958975" y="4766825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Responsibility &amp; Collaboration Diagram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1a9aa8904e_0_39"/>
          <p:cNvPicPr preferRelativeResize="0"/>
          <p:nvPr/>
        </p:nvPicPr>
        <p:blipFill rotWithShape="1">
          <a:blip r:embed="rId3">
            <a:alphaModFix amt="13000"/>
          </a:blip>
          <a:srcRect b="-918" l="0" r="0" t="0"/>
          <a:stretch/>
        </p:blipFill>
        <p:spPr>
          <a:xfrm>
            <a:off x="2204050" y="269600"/>
            <a:ext cx="4752975" cy="4629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5" name="Google Shape;155;g31a9aa8904e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050" y="1431225"/>
            <a:ext cx="6981001" cy="25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3349550" y="586775"/>
            <a:ext cx="5256600" cy="398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4100" y="-7050"/>
            <a:ext cx="3076800" cy="51435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Architectural Context Diagram</a:t>
            </a:r>
            <a:endParaRPr b="0" i="0" sz="20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4691425" y="3733000"/>
            <a:ext cx="2300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150" y="857650"/>
            <a:ext cx="4815468" cy="342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a8c5dd339_0_84"/>
          <p:cNvSpPr/>
          <p:nvPr/>
        </p:nvSpPr>
        <p:spPr>
          <a:xfrm>
            <a:off x="3233000" y="579175"/>
            <a:ext cx="5666700" cy="398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g31a8c5dd339_0_84"/>
          <p:cNvSpPr/>
          <p:nvPr/>
        </p:nvSpPr>
        <p:spPr>
          <a:xfrm>
            <a:off x="14100" y="-7050"/>
            <a:ext cx="3076800" cy="51435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Top Level Components</a:t>
            </a:r>
            <a:endParaRPr b="0" i="0" sz="20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70" name="Google Shape;170;g31a8c5dd339_0_84"/>
          <p:cNvSpPr txBox="1"/>
          <p:nvPr/>
        </p:nvSpPr>
        <p:spPr>
          <a:xfrm>
            <a:off x="4691425" y="3733000"/>
            <a:ext cx="2300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g31a8c5dd339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000" y="1204913"/>
            <a:ext cx="577215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a8c5dd339_0_98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1a8c5dd339_0_98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" sz="39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Patterns</a:t>
            </a:r>
            <a:endParaRPr b="0" i="0" sz="39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8" name="Google Shape;178;g31a8c5dd339_0_98"/>
          <p:cNvSpPr txBox="1"/>
          <p:nvPr/>
        </p:nvSpPr>
        <p:spPr>
          <a:xfrm>
            <a:off x="2867850" y="3572700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1a8c5dd339_0_98"/>
          <p:cNvSpPr txBox="1"/>
          <p:nvPr/>
        </p:nvSpPr>
        <p:spPr>
          <a:xfrm>
            <a:off x="454050" y="1014675"/>
            <a:ext cx="49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Pattern</a:t>
            </a: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Pipe and Filter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g31a8c5dd339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50" y="2260625"/>
            <a:ext cx="8839204" cy="131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a9aa8904e_0_62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1a9aa8904e_0_62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" sz="39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Patterns</a:t>
            </a:r>
            <a:endParaRPr b="0" i="0" sz="39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7" name="Google Shape;187;g31a9aa8904e_0_62"/>
          <p:cNvSpPr txBox="1"/>
          <p:nvPr/>
        </p:nvSpPr>
        <p:spPr>
          <a:xfrm>
            <a:off x="2867850" y="3572700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1a9aa8904e_0_62"/>
          <p:cNvSpPr txBox="1"/>
          <p:nvPr/>
        </p:nvSpPr>
        <p:spPr>
          <a:xfrm>
            <a:off x="454050" y="1014675"/>
            <a:ext cx="49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Pattern</a:t>
            </a: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Layered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Pattern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9" name="Google Shape;189;g31a9aa8904e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963" y="1566750"/>
            <a:ext cx="5593175" cy="331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a8c5dd339_0_107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1a8c5dd339_0_107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Preliminary Test Plan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6" name="Google Shape;196;g31a8c5dd339_0_107"/>
          <p:cNvSpPr txBox="1"/>
          <p:nvPr/>
        </p:nvSpPr>
        <p:spPr>
          <a:xfrm>
            <a:off x="2867850" y="3572700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1a8c5dd339_0_107"/>
          <p:cNvSpPr txBox="1"/>
          <p:nvPr/>
        </p:nvSpPr>
        <p:spPr>
          <a:xfrm>
            <a:off x="381000" y="1295400"/>
            <a:ext cx="79428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testing goals for this tool are: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demonstrate that the system meets its requirements.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verify that the dynamic logs are extracted accurately from executable files.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validate the normalization functionality correctly.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validate the tokenization functionality correctly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ensure the Transformer-based architecture classifies executables accurately.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test the detailed report generation for predictions.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validate system performance with varying workloads.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Validate the user experience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1a8c5dd339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25" y="1411563"/>
            <a:ext cx="817245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a8c5dd339_0_117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a8c5dd339_0_117"/>
          <p:cNvSpPr txBox="1"/>
          <p:nvPr/>
        </p:nvSpPr>
        <p:spPr>
          <a:xfrm>
            <a:off x="-10599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Example Test Case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5" name="Google Shape;205;g31a8c5dd339_0_117"/>
          <p:cNvSpPr txBox="1"/>
          <p:nvPr/>
        </p:nvSpPr>
        <p:spPr>
          <a:xfrm>
            <a:off x="2867850" y="3572700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1a8c5dd339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00" y="801300"/>
            <a:ext cx="33318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1a8c5dd339_0_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9725" y="31625"/>
            <a:ext cx="3321950" cy="513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a9aa8904e_0_74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1a9aa8904e_0_74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Example Test Case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g31a9aa8904e_0_74"/>
          <p:cNvSpPr txBox="1"/>
          <p:nvPr/>
        </p:nvSpPr>
        <p:spPr>
          <a:xfrm>
            <a:off x="2867850" y="3572700"/>
            <a:ext cx="34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1a9aa8904e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3240775" cy="403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1a9aa8904e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300" y="954025"/>
            <a:ext cx="3226003" cy="403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a8c5dd339_0_133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1a8c5dd339_0_133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Work Progress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3" name="Google Shape;223;g31a8c5dd339_0_133"/>
          <p:cNvSpPr txBox="1"/>
          <p:nvPr/>
        </p:nvSpPr>
        <p:spPr>
          <a:xfrm>
            <a:off x="711650" y="1085750"/>
            <a:ext cx="70980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g31a8c5dd339_0_133"/>
          <p:cNvSpPr txBox="1"/>
          <p:nvPr/>
        </p:nvSpPr>
        <p:spPr>
          <a:xfrm>
            <a:off x="382975" y="916975"/>
            <a:ext cx="81105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93C47D"/>
                </a:solidFill>
                <a:latin typeface="Open Sans"/>
                <a:ea typeface="Open Sans"/>
                <a:cs typeface="Open Sans"/>
                <a:sym typeface="Open Sans"/>
              </a:rPr>
              <a:t>Done					  </a:t>
            </a:r>
            <a:r>
              <a:rPr b="1" i="0" lang="en" sz="1800" u="none" cap="none" strike="noStrike">
                <a:solidFill>
                  <a:srgbClr val="FFE599"/>
                </a:solidFill>
                <a:latin typeface="Open Sans"/>
                <a:ea typeface="Open Sans"/>
                <a:cs typeface="Open Sans"/>
                <a:sym typeface="Open Sans"/>
              </a:rPr>
              <a:t>In Progress					</a:t>
            </a:r>
            <a:r>
              <a:rPr b="1" lang="en" sz="18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To Be Done</a:t>
            </a:r>
            <a:endParaRPr b="1" i="0" sz="1800" u="none" cap="none" strike="noStrike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5" name="Google Shape;225;g31a8c5dd339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3350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1a8c5dd339_0_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75" y="2484425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1a8c5dd339_0_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466675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1a8c5dd339_0_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8250" y="1714075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1a8c5dd339_0_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2050" y="2847550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1a8c5dd339_0_1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8300" y="3466675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1a8c5dd339_0_1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55800" y="2571738"/>
            <a:ext cx="27241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1a8c5dd339_0_1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38300" y="1735163"/>
            <a:ext cx="2697650" cy="797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a8c5dd339_0_152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1a8c5dd339_0_152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Future Work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9" name="Google Shape;239;g31a8c5dd339_0_152"/>
          <p:cNvSpPr txBox="1"/>
          <p:nvPr/>
        </p:nvSpPr>
        <p:spPr>
          <a:xfrm>
            <a:off x="382975" y="1174575"/>
            <a:ext cx="77907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ML Model Implementation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Alert System Development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Multi-Camera Integration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Performance Optimization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Testing and Validation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System Integration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Documentation</a:t>
            </a:r>
            <a:endParaRPr sz="1600">
              <a:solidFill>
                <a:srgbClr val="0307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Char char="●"/>
            </a:pPr>
            <a:r>
              <a:rPr lang="en" sz="1800">
                <a:solidFill>
                  <a:srgbClr val="030712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a9aa8904e_0_102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1a9aa8904e_0_102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Challenges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6" name="Google Shape;246;g31a9aa8904e_0_102"/>
          <p:cNvSpPr txBox="1"/>
          <p:nvPr/>
        </p:nvSpPr>
        <p:spPr>
          <a:xfrm>
            <a:off x="535375" y="1174575"/>
            <a:ext cx="77907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7" name="Google Shape;247;g31a9aa8904e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99" y="876299"/>
            <a:ext cx="376807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1a9aa8904e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238" y="876300"/>
            <a:ext cx="3765042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a9aa8904e_0_111"/>
          <p:cNvSpPr/>
          <p:nvPr/>
        </p:nvSpPr>
        <p:spPr>
          <a:xfrm>
            <a:off x="0" y="0"/>
            <a:ext cx="9161100" cy="8013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1a9aa8904e_0_111"/>
          <p:cNvSpPr txBox="1"/>
          <p:nvPr/>
        </p:nvSpPr>
        <p:spPr>
          <a:xfrm>
            <a:off x="311700" y="677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Challenges</a:t>
            </a:r>
            <a:endParaRPr b="0" i="0" sz="4200" u="none" cap="none" strike="noStrike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5" name="Google Shape;255;g31a9aa8904e_0_111"/>
          <p:cNvSpPr txBox="1"/>
          <p:nvPr/>
        </p:nvSpPr>
        <p:spPr>
          <a:xfrm>
            <a:off x="611575" y="1174575"/>
            <a:ext cx="77907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6" name="Google Shape;256;g31a9aa8904e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13" y="884488"/>
            <a:ext cx="376504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1a9aa8904e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338" y="889863"/>
            <a:ext cx="3765042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type="title"/>
          </p:nvPr>
        </p:nvSpPr>
        <p:spPr>
          <a:xfrm>
            <a:off x="681525" y="1806450"/>
            <a:ext cx="78789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